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77" r:id="rId7"/>
  </p:sldMasterIdLst>
  <p:notesMasterIdLst>
    <p:notesMasterId r:id="rId76"/>
  </p:notesMasterIdLst>
  <p:handoutMasterIdLst>
    <p:handoutMasterId r:id="rId77"/>
  </p:handoutMasterIdLst>
  <p:sldIdLst>
    <p:sldId id="462" r:id="rId8"/>
    <p:sldId id="463" r:id="rId9"/>
    <p:sldId id="539" r:id="rId10"/>
    <p:sldId id="604" r:id="rId11"/>
    <p:sldId id="605" r:id="rId12"/>
    <p:sldId id="607" r:id="rId13"/>
    <p:sldId id="608" r:id="rId14"/>
    <p:sldId id="609" r:id="rId15"/>
    <p:sldId id="610" r:id="rId16"/>
    <p:sldId id="550" r:id="rId17"/>
    <p:sldId id="509" r:id="rId18"/>
    <p:sldId id="606" r:id="rId19"/>
    <p:sldId id="611" r:id="rId20"/>
    <p:sldId id="614" r:id="rId21"/>
    <p:sldId id="612" r:id="rId22"/>
    <p:sldId id="615" r:id="rId23"/>
    <p:sldId id="616" r:id="rId24"/>
    <p:sldId id="617" r:id="rId25"/>
    <p:sldId id="469" r:id="rId26"/>
    <p:sldId id="618" r:id="rId27"/>
    <p:sldId id="619" r:id="rId28"/>
    <p:sldId id="493" r:id="rId29"/>
    <p:sldId id="620" r:id="rId30"/>
    <p:sldId id="496" r:id="rId31"/>
    <p:sldId id="622" r:id="rId32"/>
    <p:sldId id="621" r:id="rId33"/>
    <p:sldId id="498" r:id="rId34"/>
    <p:sldId id="623" r:id="rId35"/>
    <p:sldId id="497" r:id="rId36"/>
    <p:sldId id="644" r:id="rId37"/>
    <p:sldId id="533" r:id="rId38"/>
    <p:sldId id="646" r:id="rId39"/>
    <p:sldId id="461" r:id="rId40"/>
    <p:sldId id="534" r:id="rId41"/>
    <p:sldId id="650" r:id="rId42"/>
    <p:sldId id="627" r:id="rId43"/>
    <p:sldId id="561" r:id="rId44"/>
    <p:sldId id="545" r:id="rId45"/>
    <p:sldId id="546" r:id="rId46"/>
    <p:sldId id="628" r:id="rId47"/>
    <p:sldId id="547" r:id="rId48"/>
    <p:sldId id="548" r:id="rId49"/>
    <p:sldId id="651" r:id="rId50"/>
    <p:sldId id="629" r:id="rId51"/>
    <p:sldId id="647" r:id="rId52"/>
    <p:sldId id="551" r:id="rId53"/>
    <p:sldId id="451" r:id="rId54"/>
    <p:sldId id="630" r:id="rId55"/>
    <p:sldId id="613" r:id="rId56"/>
    <p:sldId id="635" r:id="rId57"/>
    <p:sldId id="637" r:id="rId58"/>
    <p:sldId id="579" r:id="rId59"/>
    <p:sldId id="583" r:id="rId60"/>
    <p:sldId id="582" r:id="rId61"/>
    <p:sldId id="652" r:id="rId62"/>
    <p:sldId id="584" r:id="rId63"/>
    <p:sldId id="638" r:id="rId64"/>
    <p:sldId id="589" r:id="rId65"/>
    <p:sldId id="653" r:id="rId66"/>
    <p:sldId id="640" r:id="rId67"/>
    <p:sldId id="649" r:id="rId68"/>
    <p:sldId id="648" r:id="rId69"/>
    <p:sldId id="588" r:id="rId70"/>
    <p:sldId id="639" r:id="rId71"/>
    <p:sldId id="594" r:id="rId72"/>
    <p:sldId id="595" r:id="rId73"/>
    <p:sldId id="596" r:id="rId74"/>
    <p:sldId id="264" r:id="rId75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EB"/>
    <a:srgbClr val="2C6AB6"/>
    <a:srgbClr val="545454"/>
    <a:srgbClr val="464646"/>
    <a:srgbClr val="363636"/>
    <a:srgbClr val="6B9EDB"/>
    <a:srgbClr val="3C7FD0"/>
    <a:srgbClr val="3278CC"/>
    <a:srgbClr val="2963A9"/>
    <a:srgbClr val="1D4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5" autoAdjust="0"/>
    <p:restoredTop sz="95244" autoAdjust="0"/>
  </p:normalViewPr>
  <p:slideViewPr>
    <p:cSldViewPr snapToGrid="0">
      <p:cViewPr varScale="1">
        <p:scale>
          <a:sx n="87" d="100"/>
          <a:sy n="87" d="100"/>
        </p:scale>
        <p:origin x="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56"/>
    </p:cViewPr>
  </p:sorter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2023/1/4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2023/1/4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docker run \</a:t>
            </a:r>
          </a:p>
          <a:p>
            <a:r>
              <a:rPr lang="en-US" altLang="zh-CN"/>
              <a:t>--name mn \</a:t>
            </a:r>
          </a:p>
          <a:p>
            <a:r>
              <a:rPr lang="en-US" altLang="zh-CN"/>
              <a:t>-p 80:80 \</a:t>
            </a:r>
          </a:p>
          <a:p>
            <a:r>
              <a:rPr lang="en-US" altLang="zh-CN"/>
              <a:t>-v html:/usr/share/nginx/html \</a:t>
            </a:r>
          </a:p>
          <a:p>
            <a:r>
              <a:rPr lang="en-US" altLang="zh-CN"/>
              <a:t>-v $PWD/nginx.conf:/etc/nginx/nginx.conf \</a:t>
            </a:r>
          </a:p>
          <a:p>
            <a:r>
              <a:rPr lang="en-US" altLang="zh-CN"/>
              <a:t>--privileged \</a:t>
            </a:r>
          </a:p>
          <a:p>
            <a:r>
              <a:rPr lang="en-US" altLang="zh-CN"/>
              <a:t>-d \</a:t>
            </a:r>
          </a:p>
          <a:p>
            <a:r>
              <a:rPr lang="en-US" altLang="zh-CN"/>
              <a:t>nginx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>
                <a:solidFill>
                  <a:srgbClr val="0000FF"/>
                </a:solidFill>
                <a:effectLst/>
              </a:rPr>
              <a:t>FROM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ubuntu:16.04</a:t>
            </a:r>
          </a:p>
          <a:p>
            <a:br>
              <a:rPr lang="en-US" altLang="zh-CN" sz="1200" b="0">
                <a:solidFill>
                  <a:srgbClr val="000000"/>
                </a:solidFill>
                <a:effectLst/>
              </a:rPr>
            </a:br>
            <a:r>
              <a:rPr lang="en-US" altLang="zh-CN" sz="1200" b="0">
                <a:solidFill>
                  <a:srgbClr val="0000FF"/>
                </a:solidFill>
                <a:effectLst/>
              </a:rPr>
              <a:t>ENV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JAVA_DIR /usr</a:t>
            </a:r>
            <a:br>
              <a:rPr lang="en-US" altLang="zh-CN" sz="1200" b="0">
                <a:solidFill>
                  <a:srgbClr val="000000"/>
                </a:solidFill>
                <a:effectLst/>
              </a:rPr>
            </a:br>
            <a:r>
              <a:rPr lang="en-US" altLang="zh-CN" sz="1200" b="0">
                <a:solidFill>
                  <a:srgbClr val="0000FF"/>
                </a:solidFill>
                <a:effectLst/>
              </a:rPr>
              <a:t>COPY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./docker-demo.jar /tmp/app.jar</a:t>
            </a:r>
          </a:p>
          <a:p>
            <a:r>
              <a:rPr lang="en-US" altLang="zh-CN" sz="1200" b="0">
                <a:solidFill>
                  <a:srgbClr val="0000FF"/>
                </a:solidFill>
                <a:effectLst/>
              </a:rPr>
              <a:t>COPY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./jdk8.tar.gz $JAVA_DIR</a:t>
            </a:r>
          </a:p>
          <a:p>
            <a:br>
              <a:rPr lang="en-US" altLang="zh-CN" sz="1200" b="0">
                <a:solidFill>
                  <a:srgbClr val="000000"/>
                </a:solidFill>
                <a:effectLst/>
              </a:rPr>
            </a:br>
            <a:r>
              <a:rPr lang="en-US" altLang="zh-CN" sz="1200" b="0">
                <a:solidFill>
                  <a:srgbClr val="0000FF"/>
                </a:solidFill>
                <a:effectLst/>
              </a:rPr>
              <a:t>RUN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cd $JAVA_DIR \</a:t>
            </a:r>
          </a:p>
          <a:p>
            <a:r>
              <a:rPr lang="en-US" altLang="zh-CN" sz="1200" b="0">
                <a:solidFill>
                  <a:srgbClr val="000000"/>
                </a:solidFill>
                <a:effectLst/>
              </a:rPr>
              <a:t>  &amp;&amp; tar -xf ./jdk8.tar.gz \</a:t>
            </a:r>
          </a:p>
          <a:p>
            <a:r>
              <a:rPr lang="en-US" altLang="zh-CN" sz="1200" b="0">
                <a:solidFill>
                  <a:srgbClr val="000000"/>
                </a:solidFill>
                <a:effectLst/>
              </a:rPr>
              <a:t>  &amp;&amp; rm -rf ./jdk8.tar.gz \</a:t>
            </a:r>
          </a:p>
          <a:p>
            <a:r>
              <a:rPr lang="en-US" altLang="zh-CN" sz="1200" b="0">
                <a:solidFill>
                  <a:srgbClr val="000000"/>
                </a:solidFill>
                <a:effectLst/>
              </a:rPr>
              <a:t>  &amp;&amp; mv ./jdk1.8.0_144 ./java8</a:t>
            </a:r>
          </a:p>
          <a:p>
            <a:br>
              <a:rPr lang="en-US" altLang="zh-CN" sz="1200" b="0">
                <a:solidFill>
                  <a:srgbClr val="000000"/>
                </a:solidFill>
                <a:effectLst/>
              </a:rPr>
            </a:br>
            <a:r>
              <a:rPr lang="en-US" altLang="zh-CN" sz="1200" b="0">
                <a:solidFill>
                  <a:srgbClr val="0000FF"/>
                </a:solidFill>
                <a:effectLst/>
              </a:rPr>
              <a:t>ENV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JAVA_HOME $JAVA_DIR/java8</a:t>
            </a:r>
          </a:p>
          <a:p>
            <a:r>
              <a:rPr lang="en-US" altLang="zh-CN" sz="1200" b="0">
                <a:solidFill>
                  <a:srgbClr val="0000FF"/>
                </a:solidFill>
                <a:effectLst/>
              </a:rPr>
              <a:t>ENV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PATH $PATH:$JAVA_HOME/bin</a:t>
            </a:r>
          </a:p>
          <a:p>
            <a:br>
              <a:rPr lang="en-US" altLang="zh-CN" sz="1200" b="0">
                <a:solidFill>
                  <a:srgbClr val="000000"/>
                </a:solidFill>
                <a:effectLst/>
              </a:rPr>
            </a:br>
            <a:r>
              <a:rPr lang="en-US" altLang="zh-CN" sz="1200" b="0">
                <a:solidFill>
                  <a:srgbClr val="0000FF"/>
                </a:solidFill>
                <a:effectLst/>
              </a:rPr>
              <a:t>EXPOSE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8090</a:t>
            </a:r>
          </a:p>
          <a:p>
            <a:r>
              <a:rPr lang="en-US" altLang="zh-CN" sz="1200" b="0">
                <a:solidFill>
                  <a:srgbClr val="0000FF"/>
                </a:solidFill>
                <a:effectLst/>
              </a:rPr>
              <a:t>ENTRYPOINT</a:t>
            </a:r>
            <a:r>
              <a:rPr lang="en-US" altLang="zh-CN" sz="1200" b="0">
                <a:solidFill>
                  <a:srgbClr val="000000"/>
                </a:solidFill>
                <a:effectLst/>
              </a:rPr>
              <a:t>  java -jar /tmp/app.jar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>
                <a:solidFill>
                  <a:srgbClr val="808080"/>
                </a:solidFill>
                <a:effectLst/>
              </a:rPr>
              <a:t># </a:t>
            </a:r>
            <a: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设置</a:t>
            </a:r>
            <a:r>
              <a:rPr lang="en-US" altLang="zh-CN" i="1">
                <a:solidFill>
                  <a:srgbClr val="808080"/>
                </a:solidFill>
                <a:effectLst/>
              </a:rPr>
              <a:t>JAVA</a:t>
            </a:r>
            <a: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版本</a:t>
            </a:r>
            <a:b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b="1">
                <a:solidFill>
                  <a:srgbClr val="000080"/>
                </a:solidFill>
                <a:effectLst/>
              </a:rPr>
              <a:t>FROM </a:t>
            </a:r>
            <a:r>
              <a:rPr lang="en-US" altLang="zh-CN"/>
              <a:t>java:8-alpine</a:t>
            </a:r>
            <a:br>
              <a:rPr lang="en-US" altLang="zh-CN"/>
            </a:br>
            <a:r>
              <a:rPr lang="en-US" altLang="zh-CN" b="1">
                <a:solidFill>
                  <a:srgbClr val="000080"/>
                </a:solidFill>
                <a:effectLst/>
              </a:rPr>
              <a:t>COPY ./</a:t>
            </a:r>
            <a:r>
              <a:rPr lang="en-US" altLang="zh-CN"/>
              <a:t>docker-demo.jar </a:t>
            </a:r>
            <a:r>
              <a:rPr lang="en-US" altLang="zh-CN" b="1">
                <a:solidFill>
                  <a:srgbClr val="000080"/>
                </a:solidFill>
                <a:effectLst/>
              </a:rPr>
              <a:t>/</a:t>
            </a:r>
            <a:r>
              <a:rPr lang="en-US" altLang="zh-CN"/>
              <a:t>tmp</a:t>
            </a:r>
            <a:r>
              <a:rPr lang="en-US" altLang="zh-CN" b="1">
                <a:solidFill>
                  <a:srgbClr val="000080"/>
                </a:solidFill>
                <a:effectLst/>
              </a:rPr>
              <a:t>/</a:t>
            </a:r>
            <a:r>
              <a:rPr lang="en-US" altLang="zh-CN"/>
              <a:t>app.jar</a:t>
            </a:r>
            <a:b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b="1">
                <a:solidFill>
                  <a:srgbClr val="000080"/>
                </a:solidFill>
                <a:effectLst/>
              </a:rPr>
              <a:t>ENTRYPOINT </a:t>
            </a:r>
            <a:r>
              <a:rPr lang="en-US" altLang="zh-CN"/>
              <a:t> java -jar /tmp/app.jar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>
                <a:solidFill>
                  <a:srgbClr val="808080"/>
                </a:solidFill>
                <a:effectLst/>
              </a:rPr>
              <a:t># </a:t>
            </a:r>
            <a: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设置</a:t>
            </a:r>
            <a:r>
              <a:rPr lang="en-US" altLang="zh-CN" i="1">
                <a:solidFill>
                  <a:srgbClr val="808080"/>
                </a:solidFill>
                <a:effectLst/>
              </a:rPr>
              <a:t>JAVA</a:t>
            </a:r>
            <a: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版本</a:t>
            </a:r>
            <a:b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b="1">
                <a:solidFill>
                  <a:srgbClr val="000080"/>
                </a:solidFill>
                <a:effectLst/>
              </a:rPr>
              <a:t>FROM </a:t>
            </a:r>
            <a:r>
              <a:rPr lang="en-US" altLang="zh-CN"/>
              <a:t>java:8-alpine</a:t>
            </a:r>
            <a:br>
              <a:rPr lang="en-US" altLang="zh-CN"/>
            </a:br>
            <a:r>
              <a:rPr lang="en-US" altLang="zh-CN" b="1">
                <a:solidFill>
                  <a:srgbClr val="000080"/>
                </a:solidFill>
                <a:effectLst/>
              </a:rPr>
              <a:t>COPY ./</a:t>
            </a:r>
            <a:r>
              <a:rPr lang="en-US" altLang="zh-CN"/>
              <a:t>docker-demo.jar </a:t>
            </a:r>
            <a:r>
              <a:rPr lang="en-US" altLang="zh-CN" b="1">
                <a:solidFill>
                  <a:srgbClr val="000080"/>
                </a:solidFill>
                <a:effectLst/>
              </a:rPr>
              <a:t>/</a:t>
            </a:r>
            <a:r>
              <a:rPr lang="en-US" altLang="zh-CN"/>
              <a:t>tmp</a:t>
            </a:r>
            <a:r>
              <a:rPr lang="en-US" altLang="zh-CN" b="1">
                <a:solidFill>
                  <a:srgbClr val="000080"/>
                </a:solidFill>
                <a:effectLst/>
              </a:rPr>
              <a:t>/</a:t>
            </a:r>
            <a:r>
              <a:rPr lang="en-US" altLang="zh-CN"/>
              <a:t>app.jar</a:t>
            </a:r>
            <a:br>
              <a:rPr lang="zh-CN" altLang="en-US" i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b="1">
                <a:solidFill>
                  <a:srgbClr val="000080"/>
                </a:solidFill>
                <a:effectLst/>
              </a:rPr>
              <a:t>ENTRYPOINT </a:t>
            </a:r>
            <a:r>
              <a:rPr lang="en-US" altLang="zh-CN"/>
              <a:t> java -jar /tmp/app.jar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88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气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257542" y="1875357"/>
            <a:ext cx="9418061" cy="4266922"/>
            <a:chOff x="824838" y="1091932"/>
            <a:chExt cx="11095918" cy="503458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824838" y="6014906"/>
              <a:ext cx="11095918" cy="0"/>
            </a:xfrm>
            <a:prstGeom prst="line">
              <a:avLst/>
            </a:prstGeom>
            <a:ln w="57150">
              <a:solidFill>
                <a:schemeClr val="bg2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2158068" y="5937762"/>
              <a:ext cx="188752" cy="18875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3942278" y="5920451"/>
              <a:ext cx="188752" cy="188752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6011764" y="5909517"/>
              <a:ext cx="188752" cy="18875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8324697" y="5920451"/>
              <a:ext cx="188752" cy="188752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10325930" y="5909213"/>
              <a:ext cx="188752" cy="18875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0800000">
              <a:off x="2206153" y="4323999"/>
              <a:ext cx="109757" cy="156579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209415" y="2435742"/>
              <a:ext cx="2086059" cy="208605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806678" y="4084037"/>
              <a:ext cx="875395" cy="875395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0800000">
              <a:off x="3981777" y="3543267"/>
              <a:ext cx="109756" cy="242441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3056896" y="1091932"/>
              <a:ext cx="2086059" cy="2086059"/>
            </a:xfrm>
            <a:prstGeom prst="ellipse">
              <a:avLst/>
            </a:prstGeom>
            <a:noFill/>
            <a:ln w="28575"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3594010" y="2874083"/>
              <a:ext cx="875395" cy="875395"/>
            </a:xfrm>
            <a:prstGeom prst="ellipse">
              <a:avLst/>
            </a:prstGeom>
            <a:solidFill>
              <a:srgbClr val="40404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10800000">
              <a:off x="6051049" y="3888447"/>
              <a:ext cx="109756" cy="1986395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5028874" y="1938585"/>
              <a:ext cx="2086059" cy="208605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5622309" y="3741169"/>
              <a:ext cx="875395" cy="875395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0800000">
              <a:off x="8353328" y="3458623"/>
              <a:ext cx="109756" cy="241323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7342433" y="1213162"/>
              <a:ext cx="2086059" cy="2086059"/>
            </a:xfrm>
            <a:prstGeom prst="ellipse">
              <a:avLst/>
            </a:prstGeom>
            <a:noFill/>
            <a:ln w="28575">
              <a:solidFill>
                <a:srgbClr val="404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7982095" y="2975682"/>
              <a:ext cx="875395" cy="875395"/>
            </a:xfrm>
            <a:prstGeom prst="ellipse">
              <a:avLst/>
            </a:prstGeom>
            <a:solidFill>
              <a:srgbClr val="40404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10800000">
              <a:off x="10364794" y="4521733"/>
              <a:ext cx="109756" cy="1385066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9359059" y="2465121"/>
              <a:ext cx="2086059" cy="208605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9964392" y="4323831"/>
              <a:ext cx="875395" cy="875395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874592" y="4300458"/>
              <a:ext cx="755701" cy="492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>
                <a:defRPr sz="2000">
                  <a:solidFill>
                    <a:schemeClr val="accent1"/>
                  </a:solidFill>
                  <a:latin typeface="+mj-ea"/>
                  <a:ea typeface="+mj-ea"/>
                </a:defRPr>
              </a:lvl1pPr>
              <a:lvl2pPr marL="742950" indent="-285750" eaLnBrk="1" hangingPunct="1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+mn-lt"/>
                  <a:ea typeface="仿宋_GB2312" pitchFamily="49" charset="-122"/>
                </a:defRPr>
              </a:lvl2pPr>
              <a:lvl3pPr marL="1143000" indent="-228600" eaLnBrk="1" hangingPunct="1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1" hangingPunct="1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1" hangingPunct="1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ctr"/>
              <a:r>
                <a:rPr lang="en-US" altLang="zh-CN" sz="2400" b="1" noProof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01</a:t>
              </a:r>
              <a:endParaRPr lang="zh-CN" altLang="en-US" sz="2400" b="1" noProof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653856" y="3109196"/>
              <a:ext cx="755702" cy="492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>
                <a:defRPr sz="2000">
                  <a:solidFill>
                    <a:schemeClr val="accent1"/>
                  </a:solidFill>
                  <a:latin typeface="+mj-ea"/>
                  <a:ea typeface="+mj-ea"/>
                </a:defRPr>
              </a:lvl1pPr>
              <a:lvl2pPr marL="742950" indent="-285750" eaLnBrk="1" hangingPunct="1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+mn-lt"/>
                  <a:ea typeface="仿宋_GB2312" pitchFamily="49" charset="-122"/>
                </a:defRPr>
              </a:lvl2pPr>
              <a:lvl3pPr marL="1143000" indent="-228600" eaLnBrk="1" hangingPunct="1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1" hangingPunct="1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1" hangingPunct="1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ctr"/>
              <a:r>
                <a:rPr lang="en-US" altLang="zh-CN" sz="2400" b="1" noProof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02</a:t>
              </a:r>
              <a:endParaRPr lang="zh-CN" altLang="en-US" sz="2800" b="1" noProof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682155" y="3934498"/>
              <a:ext cx="755701" cy="492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>
                <a:defRPr sz="2000">
                  <a:solidFill>
                    <a:schemeClr val="accent1"/>
                  </a:solidFill>
                  <a:latin typeface="+mj-ea"/>
                  <a:ea typeface="+mj-ea"/>
                </a:defRPr>
              </a:lvl1pPr>
              <a:lvl2pPr marL="742950" indent="-285750" eaLnBrk="1" hangingPunct="1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+mn-lt"/>
                  <a:ea typeface="仿宋_GB2312" pitchFamily="49" charset="-122"/>
                </a:defRPr>
              </a:lvl2pPr>
              <a:lvl3pPr marL="1143000" indent="-228600" eaLnBrk="1" hangingPunct="1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1" hangingPunct="1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1" hangingPunct="1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ctr"/>
              <a:r>
                <a:rPr lang="en-US" altLang="zh-CN" sz="2400" b="1" noProof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03</a:t>
              </a:r>
              <a:endParaRPr lang="zh-CN" altLang="en-US" sz="2400" b="1" noProof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041222" y="3188264"/>
              <a:ext cx="755701" cy="492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>
                <a:defRPr sz="2000">
                  <a:solidFill>
                    <a:schemeClr val="accent1"/>
                  </a:solidFill>
                  <a:latin typeface="+mj-ea"/>
                  <a:ea typeface="+mj-ea"/>
                </a:defRPr>
              </a:lvl1pPr>
              <a:lvl2pPr marL="742950" indent="-285750" eaLnBrk="1" hangingPunct="1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+mn-lt"/>
                  <a:ea typeface="仿宋_GB2312" pitchFamily="49" charset="-122"/>
                </a:defRPr>
              </a:lvl2pPr>
              <a:lvl3pPr marL="1143000" indent="-228600" eaLnBrk="1" hangingPunct="1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1" hangingPunct="1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1" hangingPunct="1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ctr"/>
              <a:r>
                <a:rPr lang="en-US" altLang="zh-CN" sz="2400" b="1" noProof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04</a:t>
              </a:r>
              <a:endParaRPr lang="zh-CN" altLang="en-US" sz="2400" b="1" noProof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024237" y="4527655"/>
              <a:ext cx="755701" cy="492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just">
                <a:defRPr sz="2000">
                  <a:solidFill>
                    <a:schemeClr val="accent1"/>
                  </a:solidFill>
                  <a:latin typeface="+mj-ea"/>
                  <a:ea typeface="+mj-ea"/>
                </a:defRPr>
              </a:lvl1pPr>
              <a:lvl2pPr marL="742950" indent="-285750" eaLnBrk="1" hangingPunct="1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+mn-lt"/>
                  <a:ea typeface="仿宋_GB2312" pitchFamily="49" charset="-122"/>
                </a:defRPr>
              </a:lvl2pPr>
              <a:lvl3pPr marL="1143000" indent="-228600" eaLnBrk="1" hangingPunct="1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1" hangingPunct="1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1" hangingPunct="1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algn="ctr"/>
              <a:r>
                <a:rPr lang="en-US" altLang="zh-CN" sz="2400" b="1" noProof="1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05</a:t>
              </a:r>
              <a:endParaRPr lang="zh-CN" altLang="en-US" sz="2800" b="1" noProof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0" name="文本占位符 9"/>
          <p:cNvSpPr txBox="1"/>
          <p:nvPr userDrawn="1"/>
        </p:nvSpPr>
        <p:spPr>
          <a:xfrm>
            <a:off x="1724472" y="3423971"/>
            <a:ext cx="1463267" cy="789399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请输入文字，请输入文字，请输入文字</a:t>
            </a:r>
          </a:p>
        </p:txBody>
      </p:sp>
      <p:sp>
        <p:nvSpPr>
          <p:cNvPr id="31" name="文本占位符 9"/>
          <p:cNvSpPr txBox="1"/>
          <p:nvPr userDrawn="1"/>
        </p:nvSpPr>
        <p:spPr>
          <a:xfrm>
            <a:off x="3310178" y="2348366"/>
            <a:ext cx="1463267" cy="789399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请输入文字，请输入文字，请输入文字</a:t>
            </a:r>
            <a:endParaRPr lang="zh-CN" altLang="en-US" dirty="0"/>
          </a:p>
        </p:txBody>
      </p:sp>
      <p:sp>
        <p:nvSpPr>
          <p:cNvPr id="32" name="文本占位符 9"/>
          <p:cNvSpPr txBox="1"/>
          <p:nvPr userDrawn="1"/>
        </p:nvSpPr>
        <p:spPr>
          <a:xfrm>
            <a:off x="4979544" y="3080384"/>
            <a:ext cx="1463267" cy="789399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请输入文字，请输入文字，请输入文字</a:t>
            </a:r>
            <a:endParaRPr lang="zh-CN" altLang="en-US" dirty="0"/>
          </a:p>
        </p:txBody>
      </p:sp>
      <p:sp>
        <p:nvSpPr>
          <p:cNvPr id="33" name="文本占位符 9"/>
          <p:cNvSpPr txBox="1"/>
          <p:nvPr userDrawn="1"/>
        </p:nvSpPr>
        <p:spPr>
          <a:xfrm>
            <a:off x="6937616" y="2422064"/>
            <a:ext cx="1463267" cy="789399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请输入文字，请输入文字，请输入文字</a:t>
            </a:r>
            <a:endParaRPr lang="zh-CN" altLang="en-US" dirty="0"/>
          </a:p>
        </p:txBody>
      </p:sp>
      <p:sp>
        <p:nvSpPr>
          <p:cNvPr id="34" name="文本占位符 9"/>
          <p:cNvSpPr txBox="1"/>
          <p:nvPr userDrawn="1"/>
        </p:nvSpPr>
        <p:spPr>
          <a:xfrm>
            <a:off x="8671964" y="3503557"/>
            <a:ext cx="1463267" cy="789399"/>
          </a:xfrm>
          <a:prstGeom prst="rect">
            <a:avLst/>
          </a:prstGeom>
        </p:spPr>
        <p:txBody>
          <a:bodyPr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 kern="12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请输入文字，请输入文字，请输入文字</a:t>
            </a:r>
            <a:endParaRPr lang="zh-CN" altLang="en-US" dirty="0"/>
          </a:p>
        </p:txBody>
      </p:sp>
      <p:sp>
        <p:nvSpPr>
          <p:cNvPr id="3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，4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839644" y="2420300"/>
            <a:ext cx="2623274" cy="2624725"/>
            <a:chOff x="5790691" y="1195100"/>
            <a:chExt cx="2623274" cy="2624725"/>
          </a:xfrm>
        </p:grpSpPr>
        <p:cxnSp>
          <p:nvCxnSpPr>
            <p:cNvPr id="4" name="直接连接符 26"/>
            <p:cNvCxnSpPr/>
            <p:nvPr/>
          </p:nvCxnSpPr>
          <p:spPr>
            <a:xfrm flipV="1">
              <a:off x="7602913" y="2511925"/>
              <a:ext cx="16373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28"/>
            <p:cNvCxnSpPr/>
            <p:nvPr/>
          </p:nvCxnSpPr>
          <p:spPr>
            <a:xfrm flipH="1" flipV="1">
              <a:off x="6424444" y="2511925"/>
              <a:ext cx="18995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5790691" y="1195100"/>
              <a:ext cx="2623274" cy="2624725"/>
              <a:chOff x="5790691" y="1195100"/>
              <a:chExt cx="2623274" cy="262472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5790691" y="1195100"/>
                <a:ext cx="2623274" cy="2624725"/>
                <a:chOff x="4784363" y="2555512"/>
                <a:chExt cx="2623274" cy="2624725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4784363" y="2555512"/>
                  <a:ext cx="2623274" cy="2624725"/>
                  <a:chOff x="4784363" y="2555512"/>
                  <a:chExt cx="2623274" cy="2624725"/>
                </a:xfrm>
              </p:grpSpPr>
              <p:sp>
                <p:nvSpPr>
                  <p:cNvPr id="15" name="îSḻïḍê"/>
                  <p:cNvSpPr/>
                  <p:nvPr/>
                </p:nvSpPr>
                <p:spPr>
                  <a:xfrm>
                    <a:off x="5589511" y="3359935"/>
                    <a:ext cx="1018789" cy="1018789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outerShdw blurRad="101600" dist="76200" dir="2700000" algn="tl" rotWithShape="0">
                      <a:prstClr val="black">
                        <a:alpha val="3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en-US"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  <p:sp>
                <p:nvSpPr>
                  <p:cNvPr id="16" name="iSľiḑé"/>
                  <p:cNvSpPr/>
                  <p:nvPr/>
                </p:nvSpPr>
                <p:spPr>
                  <a:xfrm>
                    <a:off x="5831252" y="3591444"/>
                    <a:ext cx="535308" cy="555772"/>
                  </a:xfrm>
                  <a:custGeom>
                    <a:avLst/>
                    <a:gdLst>
                      <a:gd name="connsiteX0" fmla="*/ 332623 w 583294"/>
                      <a:gd name="connsiteY0" fmla="*/ 296967 h 605593"/>
                      <a:gd name="connsiteX1" fmla="*/ 316983 w 583294"/>
                      <a:gd name="connsiteY1" fmla="*/ 302537 h 605593"/>
                      <a:gd name="connsiteX2" fmla="*/ 311624 w 583294"/>
                      <a:gd name="connsiteY2" fmla="*/ 308872 h 605593"/>
                      <a:gd name="connsiteX3" fmla="*/ 311624 w 583294"/>
                      <a:gd name="connsiteY3" fmla="*/ 325036 h 605593"/>
                      <a:gd name="connsiteX4" fmla="*/ 309108 w 583294"/>
                      <a:gd name="connsiteY4" fmla="*/ 326784 h 605593"/>
                      <a:gd name="connsiteX5" fmla="*/ 307467 w 583294"/>
                      <a:gd name="connsiteY5" fmla="*/ 331698 h 605593"/>
                      <a:gd name="connsiteX6" fmla="*/ 311077 w 583294"/>
                      <a:gd name="connsiteY6" fmla="*/ 366102 h 605593"/>
                      <a:gd name="connsiteX7" fmla="*/ 315780 w 583294"/>
                      <a:gd name="connsiteY7" fmla="*/ 371673 h 605593"/>
                      <a:gd name="connsiteX8" fmla="*/ 317530 w 583294"/>
                      <a:gd name="connsiteY8" fmla="*/ 371891 h 605593"/>
                      <a:gd name="connsiteX9" fmla="*/ 322670 w 583294"/>
                      <a:gd name="connsiteY9" fmla="*/ 369379 h 605593"/>
                      <a:gd name="connsiteX10" fmla="*/ 340826 w 583294"/>
                      <a:gd name="connsiteY10" fmla="*/ 345242 h 605593"/>
                      <a:gd name="connsiteX11" fmla="*/ 342139 w 583294"/>
                      <a:gd name="connsiteY11" fmla="*/ 341310 h 605593"/>
                      <a:gd name="connsiteX12" fmla="*/ 342139 w 583294"/>
                      <a:gd name="connsiteY12" fmla="*/ 302646 h 605593"/>
                      <a:gd name="connsiteX13" fmla="*/ 339076 w 583294"/>
                      <a:gd name="connsiteY13" fmla="*/ 297076 h 605593"/>
                      <a:gd name="connsiteX14" fmla="*/ 332623 w 583294"/>
                      <a:gd name="connsiteY14" fmla="*/ 296967 h 605593"/>
                      <a:gd name="connsiteX15" fmla="*/ 250702 w 583294"/>
                      <a:gd name="connsiteY15" fmla="*/ 296967 h 605593"/>
                      <a:gd name="connsiteX16" fmla="*/ 244249 w 583294"/>
                      <a:gd name="connsiteY16" fmla="*/ 297076 h 605593"/>
                      <a:gd name="connsiteX17" fmla="*/ 241187 w 583294"/>
                      <a:gd name="connsiteY17" fmla="*/ 302646 h 605593"/>
                      <a:gd name="connsiteX18" fmla="*/ 241077 w 583294"/>
                      <a:gd name="connsiteY18" fmla="*/ 341310 h 605593"/>
                      <a:gd name="connsiteX19" fmla="*/ 242390 w 583294"/>
                      <a:gd name="connsiteY19" fmla="*/ 345242 h 605593"/>
                      <a:gd name="connsiteX20" fmla="*/ 260655 w 583294"/>
                      <a:gd name="connsiteY20" fmla="*/ 369379 h 605593"/>
                      <a:gd name="connsiteX21" fmla="*/ 265796 w 583294"/>
                      <a:gd name="connsiteY21" fmla="*/ 371891 h 605593"/>
                      <a:gd name="connsiteX22" fmla="*/ 267546 w 583294"/>
                      <a:gd name="connsiteY22" fmla="*/ 371673 h 605593"/>
                      <a:gd name="connsiteX23" fmla="*/ 272249 w 583294"/>
                      <a:gd name="connsiteY23" fmla="*/ 366102 h 605593"/>
                      <a:gd name="connsiteX24" fmla="*/ 275858 w 583294"/>
                      <a:gd name="connsiteY24" fmla="*/ 331698 h 605593"/>
                      <a:gd name="connsiteX25" fmla="*/ 274218 w 583294"/>
                      <a:gd name="connsiteY25" fmla="*/ 326674 h 605593"/>
                      <a:gd name="connsiteX26" fmla="*/ 271702 w 583294"/>
                      <a:gd name="connsiteY26" fmla="*/ 325036 h 605593"/>
                      <a:gd name="connsiteX27" fmla="*/ 271702 w 583294"/>
                      <a:gd name="connsiteY27" fmla="*/ 308872 h 605593"/>
                      <a:gd name="connsiteX28" fmla="*/ 266343 w 583294"/>
                      <a:gd name="connsiteY28" fmla="*/ 302537 h 605593"/>
                      <a:gd name="connsiteX29" fmla="*/ 250702 w 583294"/>
                      <a:gd name="connsiteY29" fmla="*/ 296967 h 605593"/>
                      <a:gd name="connsiteX30" fmla="*/ 30625 w 583294"/>
                      <a:gd name="connsiteY30" fmla="*/ 270619 h 605593"/>
                      <a:gd name="connsiteX31" fmla="*/ 94718 w 583294"/>
                      <a:gd name="connsiteY31" fmla="*/ 270619 h 605593"/>
                      <a:gd name="connsiteX32" fmla="*/ 125343 w 583294"/>
                      <a:gd name="connsiteY32" fmla="*/ 301200 h 605593"/>
                      <a:gd name="connsiteX33" fmla="*/ 293999 w 583294"/>
                      <a:gd name="connsiteY33" fmla="*/ 469616 h 605593"/>
                      <a:gd name="connsiteX34" fmla="*/ 462654 w 583294"/>
                      <a:gd name="connsiteY34" fmla="*/ 301200 h 605593"/>
                      <a:gd name="connsiteX35" fmla="*/ 493279 w 583294"/>
                      <a:gd name="connsiteY35" fmla="*/ 270619 h 605593"/>
                      <a:gd name="connsiteX36" fmla="*/ 552669 w 583294"/>
                      <a:gd name="connsiteY36" fmla="*/ 270619 h 605593"/>
                      <a:gd name="connsiteX37" fmla="*/ 583294 w 583294"/>
                      <a:gd name="connsiteY37" fmla="*/ 301200 h 605593"/>
                      <a:gd name="connsiteX38" fmla="*/ 552669 w 583294"/>
                      <a:gd name="connsiteY38" fmla="*/ 331782 h 605593"/>
                      <a:gd name="connsiteX39" fmla="*/ 521935 w 583294"/>
                      <a:gd name="connsiteY39" fmla="*/ 331782 h 605593"/>
                      <a:gd name="connsiteX40" fmla="*/ 478513 w 583294"/>
                      <a:gd name="connsiteY40" fmla="*/ 438052 h 605593"/>
                      <a:gd name="connsiteX41" fmla="*/ 504982 w 583294"/>
                      <a:gd name="connsiteY41" fmla="*/ 464592 h 605593"/>
                      <a:gd name="connsiteX42" fmla="*/ 504982 w 583294"/>
                      <a:gd name="connsiteY42" fmla="*/ 507842 h 605593"/>
                      <a:gd name="connsiteX43" fmla="*/ 483326 w 583294"/>
                      <a:gd name="connsiteY43" fmla="*/ 516798 h 605593"/>
                      <a:gd name="connsiteX44" fmla="*/ 461670 w 583294"/>
                      <a:gd name="connsiteY44" fmla="*/ 507842 h 605593"/>
                      <a:gd name="connsiteX45" fmla="*/ 435638 w 583294"/>
                      <a:gd name="connsiteY45" fmla="*/ 481957 h 605593"/>
                      <a:gd name="connsiteX46" fmla="*/ 322327 w 583294"/>
                      <a:gd name="connsiteY46" fmla="*/ 529140 h 605593"/>
                      <a:gd name="connsiteX47" fmla="*/ 322327 w 583294"/>
                      <a:gd name="connsiteY47" fmla="*/ 575012 h 605593"/>
                      <a:gd name="connsiteX48" fmla="*/ 291592 w 583294"/>
                      <a:gd name="connsiteY48" fmla="*/ 605593 h 605593"/>
                      <a:gd name="connsiteX49" fmla="*/ 260967 w 583294"/>
                      <a:gd name="connsiteY49" fmla="*/ 575012 h 605593"/>
                      <a:gd name="connsiteX50" fmla="*/ 260967 w 583294"/>
                      <a:gd name="connsiteY50" fmla="*/ 528485 h 605593"/>
                      <a:gd name="connsiteX51" fmla="*/ 149624 w 583294"/>
                      <a:gd name="connsiteY51" fmla="*/ 479882 h 605593"/>
                      <a:gd name="connsiteX52" fmla="*/ 121624 w 583294"/>
                      <a:gd name="connsiteY52" fmla="*/ 507842 h 605593"/>
                      <a:gd name="connsiteX53" fmla="*/ 99968 w 583294"/>
                      <a:gd name="connsiteY53" fmla="*/ 516798 h 605593"/>
                      <a:gd name="connsiteX54" fmla="*/ 78312 w 583294"/>
                      <a:gd name="connsiteY54" fmla="*/ 507842 h 605593"/>
                      <a:gd name="connsiteX55" fmla="*/ 78312 w 583294"/>
                      <a:gd name="connsiteY55" fmla="*/ 464592 h 605593"/>
                      <a:gd name="connsiteX56" fmla="*/ 107515 w 583294"/>
                      <a:gd name="connsiteY56" fmla="*/ 435430 h 605593"/>
                      <a:gd name="connsiteX57" fmla="*/ 66062 w 583294"/>
                      <a:gd name="connsiteY57" fmla="*/ 331782 h 605593"/>
                      <a:gd name="connsiteX58" fmla="*/ 30625 w 583294"/>
                      <a:gd name="connsiteY58" fmla="*/ 331782 h 605593"/>
                      <a:gd name="connsiteX59" fmla="*/ 0 w 583294"/>
                      <a:gd name="connsiteY59" fmla="*/ 301200 h 605593"/>
                      <a:gd name="connsiteX60" fmla="*/ 30625 w 583294"/>
                      <a:gd name="connsiteY60" fmla="*/ 270619 h 605593"/>
                      <a:gd name="connsiteX61" fmla="*/ 260655 w 583294"/>
                      <a:gd name="connsiteY61" fmla="*/ 122871 h 605593"/>
                      <a:gd name="connsiteX62" fmla="*/ 215703 w 583294"/>
                      <a:gd name="connsiteY62" fmla="*/ 134776 h 605593"/>
                      <a:gd name="connsiteX63" fmla="*/ 212093 w 583294"/>
                      <a:gd name="connsiteY63" fmla="*/ 140565 h 605593"/>
                      <a:gd name="connsiteX64" fmla="*/ 212093 w 583294"/>
                      <a:gd name="connsiteY64" fmla="*/ 152142 h 605593"/>
                      <a:gd name="connsiteX65" fmla="*/ 209468 w 583294"/>
                      <a:gd name="connsiteY65" fmla="*/ 152142 h 605593"/>
                      <a:gd name="connsiteX66" fmla="*/ 203015 w 583294"/>
                      <a:gd name="connsiteY66" fmla="*/ 158586 h 605593"/>
                      <a:gd name="connsiteX67" fmla="*/ 203015 w 583294"/>
                      <a:gd name="connsiteY67" fmla="*/ 169289 h 605593"/>
                      <a:gd name="connsiteX68" fmla="*/ 205969 w 583294"/>
                      <a:gd name="connsiteY68" fmla="*/ 174641 h 605593"/>
                      <a:gd name="connsiteX69" fmla="*/ 212203 w 583294"/>
                      <a:gd name="connsiteY69" fmla="*/ 178791 h 605593"/>
                      <a:gd name="connsiteX70" fmla="*/ 212640 w 583294"/>
                      <a:gd name="connsiteY70" fmla="*/ 181413 h 605593"/>
                      <a:gd name="connsiteX71" fmla="*/ 235828 w 583294"/>
                      <a:gd name="connsiteY71" fmla="*/ 235039 h 605593"/>
                      <a:gd name="connsiteX72" fmla="*/ 274218 w 583294"/>
                      <a:gd name="connsiteY72" fmla="*/ 268242 h 605593"/>
                      <a:gd name="connsiteX73" fmla="*/ 309108 w 583294"/>
                      <a:gd name="connsiteY73" fmla="*/ 268242 h 605593"/>
                      <a:gd name="connsiteX74" fmla="*/ 347498 w 583294"/>
                      <a:gd name="connsiteY74" fmla="*/ 235039 h 605593"/>
                      <a:gd name="connsiteX75" fmla="*/ 370685 w 583294"/>
                      <a:gd name="connsiteY75" fmla="*/ 181413 h 605593"/>
                      <a:gd name="connsiteX76" fmla="*/ 371123 w 583294"/>
                      <a:gd name="connsiteY76" fmla="*/ 178791 h 605593"/>
                      <a:gd name="connsiteX77" fmla="*/ 377357 w 583294"/>
                      <a:gd name="connsiteY77" fmla="*/ 174641 h 605593"/>
                      <a:gd name="connsiteX78" fmla="*/ 380310 w 583294"/>
                      <a:gd name="connsiteY78" fmla="*/ 169289 h 605593"/>
                      <a:gd name="connsiteX79" fmla="*/ 380310 w 583294"/>
                      <a:gd name="connsiteY79" fmla="*/ 158586 h 605593"/>
                      <a:gd name="connsiteX80" fmla="*/ 373857 w 583294"/>
                      <a:gd name="connsiteY80" fmla="*/ 152142 h 605593"/>
                      <a:gd name="connsiteX81" fmla="*/ 370248 w 583294"/>
                      <a:gd name="connsiteY81" fmla="*/ 152142 h 605593"/>
                      <a:gd name="connsiteX82" fmla="*/ 368279 w 583294"/>
                      <a:gd name="connsiteY82" fmla="*/ 149958 h 605593"/>
                      <a:gd name="connsiteX83" fmla="*/ 362045 w 583294"/>
                      <a:gd name="connsiteY83" fmla="*/ 149521 h 605593"/>
                      <a:gd name="connsiteX84" fmla="*/ 336451 w 583294"/>
                      <a:gd name="connsiteY84" fmla="*/ 155309 h 605593"/>
                      <a:gd name="connsiteX85" fmla="*/ 296749 w 583294"/>
                      <a:gd name="connsiteY85" fmla="*/ 137288 h 605593"/>
                      <a:gd name="connsiteX86" fmla="*/ 260655 w 583294"/>
                      <a:gd name="connsiteY86" fmla="*/ 122871 h 605593"/>
                      <a:gd name="connsiteX87" fmla="*/ 275311 w 583294"/>
                      <a:gd name="connsiteY87" fmla="*/ 0 h 605593"/>
                      <a:gd name="connsiteX88" fmla="*/ 308014 w 583294"/>
                      <a:gd name="connsiteY88" fmla="*/ 0 h 605593"/>
                      <a:gd name="connsiteX89" fmla="*/ 409185 w 583294"/>
                      <a:gd name="connsiteY89" fmla="*/ 101027 h 605593"/>
                      <a:gd name="connsiteX90" fmla="*/ 409185 w 583294"/>
                      <a:gd name="connsiteY90" fmla="*/ 132701 h 605593"/>
                      <a:gd name="connsiteX91" fmla="*/ 414982 w 583294"/>
                      <a:gd name="connsiteY91" fmla="*/ 150722 h 605593"/>
                      <a:gd name="connsiteX92" fmla="*/ 414982 w 583294"/>
                      <a:gd name="connsiteY92" fmla="*/ 173331 h 605593"/>
                      <a:gd name="connsiteX93" fmla="*/ 403826 w 583294"/>
                      <a:gd name="connsiteY93" fmla="*/ 197140 h 605593"/>
                      <a:gd name="connsiteX94" fmla="*/ 397263 w 583294"/>
                      <a:gd name="connsiteY94" fmla="*/ 214288 h 605593"/>
                      <a:gd name="connsiteX95" fmla="*/ 375498 w 583294"/>
                      <a:gd name="connsiteY95" fmla="*/ 255136 h 605593"/>
                      <a:gd name="connsiteX96" fmla="*/ 360732 w 583294"/>
                      <a:gd name="connsiteY96" fmla="*/ 273922 h 605593"/>
                      <a:gd name="connsiteX97" fmla="*/ 371670 w 583294"/>
                      <a:gd name="connsiteY97" fmla="*/ 287574 h 605593"/>
                      <a:gd name="connsiteX98" fmla="*/ 432919 w 583294"/>
                      <a:gd name="connsiteY98" fmla="*/ 306141 h 605593"/>
                      <a:gd name="connsiteX99" fmla="*/ 294014 w 583294"/>
                      <a:gd name="connsiteY99" fmla="*/ 433272 h 605593"/>
                      <a:gd name="connsiteX100" fmla="*/ 154891 w 583294"/>
                      <a:gd name="connsiteY100" fmla="*/ 304721 h 605593"/>
                      <a:gd name="connsiteX101" fmla="*/ 211656 w 583294"/>
                      <a:gd name="connsiteY101" fmla="*/ 287574 h 605593"/>
                      <a:gd name="connsiteX102" fmla="*/ 222593 w 583294"/>
                      <a:gd name="connsiteY102" fmla="*/ 273922 h 605593"/>
                      <a:gd name="connsiteX103" fmla="*/ 207828 w 583294"/>
                      <a:gd name="connsiteY103" fmla="*/ 255136 h 605593"/>
                      <a:gd name="connsiteX104" fmla="*/ 186063 w 583294"/>
                      <a:gd name="connsiteY104" fmla="*/ 214288 h 605593"/>
                      <a:gd name="connsiteX105" fmla="*/ 179500 w 583294"/>
                      <a:gd name="connsiteY105" fmla="*/ 197140 h 605593"/>
                      <a:gd name="connsiteX106" fmla="*/ 168344 w 583294"/>
                      <a:gd name="connsiteY106" fmla="*/ 173331 h 605593"/>
                      <a:gd name="connsiteX107" fmla="*/ 168344 w 583294"/>
                      <a:gd name="connsiteY107" fmla="*/ 150722 h 605593"/>
                      <a:gd name="connsiteX108" fmla="*/ 174141 w 583294"/>
                      <a:gd name="connsiteY108" fmla="*/ 132701 h 605593"/>
                      <a:gd name="connsiteX109" fmla="*/ 174141 w 583294"/>
                      <a:gd name="connsiteY109" fmla="*/ 101027 h 605593"/>
                      <a:gd name="connsiteX110" fmla="*/ 275311 w 583294"/>
                      <a:gd name="connsiteY110" fmla="*/ 0 h 605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</a:cxnLst>
                    <a:rect l="l" t="t" r="r" b="b"/>
                    <a:pathLst>
                      <a:path w="583294" h="605593">
                        <a:moveTo>
                          <a:pt x="332623" y="296967"/>
                        </a:moveTo>
                        <a:cubicBezTo>
                          <a:pt x="327373" y="299697"/>
                          <a:pt x="322123" y="301663"/>
                          <a:pt x="316983" y="302537"/>
                        </a:cubicBezTo>
                        <a:cubicBezTo>
                          <a:pt x="313811" y="303083"/>
                          <a:pt x="311624" y="305814"/>
                          <a:pt x="311624" y="308872"/>
                        </a:cubicBezTo>
                        <a:lnTo>
                          <a:pt x="311624" y="325036"/>
                        </a:lnTo>
                        <a:cubicBezTo>
                          <a:pt x="310639" y="325364"/>
                          <a:pt x="309874" y="326019"/>
                          <a:pt x="309108" y="326784"/>
                        </a:cubicBezTo>
                        <a:cubicBezTo>
                          <a:pt x="307905" y="328094"/>
                          <a:pt x="307358" y="329951"/>
                          <a:pt x="307467" y="331698"/>
                        </a:cubicBezTo>
                        <a:lnTo>
                          <a:pt x="311077" y="366102"/>
                        </a:lnTo>
                        <a:cubicBezTo>
                          <a:pt x="311295" y="368724"/>
                          <a:pt x="313155" y="371017"/>
                          <a:pt x="315780" y="371673"/>
                        </a:cubicBezTo>
                        <a:cubicBezTo>
                          <a:pt x="316327" y="371891"/>
                          <a:pt x="316983" y="371891"/>
                          <a:pt x="317530" y="371891"/>
                        </a:cubicBezTo>
                        <a:cubicBezTo>
                          <a:pt x="319498" y="371891"/>
                          <a:pt x="321467" y="371017"/>
                          <a:pt x="322670" y="369379"/>
                        </a:cubicBezTo>
                        <a:lnTo>
                          <a:pt x="340826" y="345242"/>
                        </a:lnTo>
                        <a:cubicBezTo>
                          <a:pt x="341701" y="344149"/>
                          <a:pt x="342139" y="342730"/>
                          <a:pt x="342139" y="341310"/>
                        </a:cubicBezTo>
                        <a:lnTo>
                          <a:pt x="342139" y="302646"/>
                        </a:lnTo>
                        <a:cubicBezTo>
                          <a:pt x="342139" y="300353"/>
                          <a:pt x="340936" y="298277"/>
                          <a:pt x="339076" y="297076"/>
                        </a:cubicBezTo>
                        <a:cubicBezTo>
                          <a:pt x="337108" y="295984"/>
                          <a:pt x="334701" y="295875"/>
                          <a:pt x="332623" y="296967"/>
                        </a:cubicBezTo>
                        <a:close/>
                        <a:moveTo>
                          <a:pt x="250702" y="296967"/>
                        </a:moveTo>
                        <a:cubicBezTo>
                          <a:pt x="248624" y="295875"/>
                          <a:pt x="246218" y="295984"/>
                          <a:pt x="244249" y="297076"/>
                        </a:cubicBezTo>
                        <a:cubicBezTo>
                          <a:pt x="242281" y="298277"/>
                          <a:pt x="241187" y="300353"/>
                          <a:pt x="241187" y="302646"/>
                        </a:cubicBezTo>
                        <a:lnTo>
                          <a:pt x="241077" y="341310"/>
                        </a:lnTo>
                        <a:cubicBezTo>
                          <a:pt x="241077" y="342730"/>
                          <a:pt x="241624" y="344149"/>
                          <a:pt x="242390" y="345242"/>
                        </a:cubicBezTo>
                        <a:lnTo>
                          <a:pt x="260655" y="369379"/>
                        </a:lnTo>
                        <a:cubicBezTo>
                          <a:pt x="261859" y="371017"/>
                          <a:pt x="263827" y="371891"/>
                          <a:pt x="265796" y="371891"/>
                        </a:cubicBezTo>
                        <a:cubicBezTo>
                          <a:pt x="266343" y="371891"/>
                          <a:pt x="266999" y="371891"/>
                          <a:pt x="267546" y="371673"/>
                        </a:cubicBezTo>
                        <a:cubicBezTo>
                          <a:pt x="270171" y="371017"/>
                          <a:pt x="272030" y="368833"/>
                          <a:pt x="272249" y="366102"/>
                        </a:cubicBezTo>
                        <a:lnTo>
                          <a:pt x="275858" y="331698"/>
                        </a:lnTo>
                        <a:cubicBezTo>
                          <a:pt x="275968" y="329951"/>
                          <a:pt x="275421" y="328094"/>
                          <a:pt x="274218" y="326674"/>
                        </a:cubicBezTo>
                        <a:cubicBezTo>
                          <a:pt x="273452" y="326019"/>
                          <a:pt x="272687" y="325364"/>
                          <a:pt x="271702" y="325036"/>
                        </a:cubicBezTo>
                        <a:lnTo>
                          <a:pt x="271702" y="308872"/>
                        </a:lnTo>
                        <a:cubicBezTo>
                          <a:pt x="271702" y="305814"/>
                          <a:pt x="269515" y="303083"/>
                          <a:pt x="266343" y="302537"/>
                        </a:cubicBezTo>
                        <a:cubicBezTo>
                          <a:pt x="261202" y="301663"/>
                          <a:pt x="255952" y="299697"/>
                          <a:pt x="250702" y="296967"/>
                        </a:cubicBezTo>
                        <a:close/>
                        <a:moveTo>
                          <a:pt x="30625" y="270619"/>
                        </a:moveTo>
                        <a:lnTo>
                          <a:pt x="94718" y="270619"/>
                        </a:lnTo>
                        <a:cubicBezTo>
                          <a:pt x="111562" y="270619"/>
                          <a:pt x="125343" y="284271"/>
                          <a:pt x="125343" y="301200"/>
                        </a:cubicBezTo>
                        <a:cubicBezTo>
                          <a:pt x="125343" y="394036"/>
                          <a:pt x="201030" y="469616"/>
                          <a:pt x="293999" y="469616"/>
                        </a:cubicBezTo>
                        <a:cubicBezTo>
                          <a:pt x="386967" y="469616"/>
                          <a:pt x="462654" y="394036"/>
                          <a:pt x="462654" y="301200"/>
                        </a:cubicBezTo>
                        <a:cubicBezTo>
                          <a:pt x="462654" y="284271"/>
                          <a:pt x="476326" y="270619"/>
                          <a:pt x="493279" y="270619"/>
                        </a:cubicBezTo>
                        <a:lnTo>
                          <a:pt x="552669" y="270619"/>
                        </a:lnTo>
                        <a:cubicBezTo>
                          <a:pt x="569622" y="270619"/>
                          <a:pt x="583294" y="284271"/>
                          <a:pt x="583294" y="301200"/>
                        </a:cubicBezTo>
                        <a:cubicBezTo>
                          <a:pt x="583294" y="318129"/>
                          <a:pt x="569622" y="331782"/>
                          <a:pt x="552669" y="331782"/>
                        </a:cubicBezTo>
                        <a:lnTo>
                          <a:pt x="521935" y="331782"/>
                        </a:lnTo>
                        <a:cubicBezTo>
                          <a:pt x="516576" y="371319"/>
                          <a:pt x="501263" y="407579"/>
                          <a:pt x="478513" y="438052"/>
                        </a:cubicBezTo>
                        <a:lnTo>
                          <a:pt x="504982" y="464592"/>
                        </a:lnTo>
                        <a:cubicBezTo>
                          <a:pt x="516904" y="476497"/>
                          <a:pt x="516904" y="495937"/>
                          <a:pt x="504982" y="507842"/>
                        </a:cubicBezTo>
                        <a:cubicBezTo>
                          <a:pt x="498966" y="513849"/>
                          <a:pt x="491091" y="516798"/>
                          <a:pt x="483326" y="516798"/>
                        </a:cubicBezTo>
                        <a:cubicBezTo>
                          <a:pt x="475451" y="516798"/>
                          <a:pt x="467576" y="513849"/>
                          <a:pt x="461670" y="507842"/>
                        </a:cubicBezTo>
                        <a:lnTo>
                          <a:pt x="435638" y="481957"/>
                        </a:lnTo>
                        <a:cubicBezTo>
                          <a:pt x="403592" y="507078"/>
                          <a:pt x="364764" y="523897"/>
                          <a:pt x="322327" y="529140"/>
                        </a:cubicBezTo>
                        <a:lnTo>
                          <a:pt x="322327" y="575012"/>
                        </a:lnTo>
                        <a:cubicBezTo>
                          <a:pt x="322327" y="591832"/>
                          <a:pt x="308545" y="605593"/>
                          <a:pt x="291592" y="605593"/>
                        </a:cubicBezTo>
                        <a:cubicBezTo>
                          <a:pt x="274749" y="605593"/>
                          <a:pt x="260967" y="591832"/>
                          <a:pt x="260967" y="575012"/>
                        </a:cubicBezTo>
                        <a:lnTo>
                          <a:pt x="260967" y="528485"/>
                        </a:lnTo>
                        <a:cubicBezTo>
                          <a:pt x="219186" y="522478"/>
                          <a:pt x="181015" y="505221"/>
                          <a:pt x="149624" y="479882"/>
                        </a:cubicBezTo>
                        <a:lnTo>
                          <a:pt x="121624" y="507842"/>
                        </a:lnTo>
                        <a:cubicBezTo>
                          <a:pt x="115718" y="513849"/>
                          <a:pt x="107843" y="516798"/>
                          <a:pt x="99968" y="516798"/>
                        </a:cubicBezTo>
                        <a:cubicBezTo>
                          <a:pt x="92093" y="516798"/>
                          <a:pt x="84328" y="513849"/>
                          <a:pt x="78312" y="507842"/>
                        </a:cubicBezTo>
                        <a:cubicBezTo>
                          <a:pt x="66281" y="495937"/>
                          <a:pt x="66281" y="476497"/>
                          <a:pt x="78312" y="464592"/>
                        </a:cubicBezTo>
                        <a:lnTo>
                          <a:pt x="107515" y="435430"/>
                        </a:lnTo>
                        <a:cubicBezTo>
                          <a:pt x="85859" y="405504"/>
                          <a:pt x="71203" y="370117"/>
                          <a:pt x="66062" y="331782"/>
                        </a:cubicBezTo>
                        <a:lnTo>
                          <a:pt x="30625" y="331782"/>
                        </a:lnTo>
                        <a:cubicBezTo>
                          <a:pt x="13672" y="331782"/>
                          <a:pt x="0" y="318129"/>
                          <a:pt x="0" y="301200"/>
                        </a:cubicBezTo>
                        <a:cubicBezTo>
                          <a:pt x="0" y="284271"/>
                          <a:pt x="13672" y="270619"/>
                          <a:pt x="30625" y="270619"/>
                        </a:cubicBezTo>
                        <a:close/>
                        <a:moveTo>
                          <a:pt x="260655" y="122871"/>
                        </a:moveTo>
                        <a:cubicBezTo>
                          <a:pt x="242390" y="122871"/>
                          <a:pt x="224671" y="130298"/>
                          <a:pt x="215703" y="134776"/>
                        </a:cubicBezTo>
                        <a:cubicBezTo>
                          <a:pt x="213515" y="135868"/>
                          <a:pt x="212093" y="138162"/>
                          <a:pt x="212093" y="140565"/>
                        </a:cubicBezTo>
                        <a:lnTo>
                          <a:pt x="212093" y="152142"/>
                        </a:lnTo>
                        <a:lnTo>
                          <a:pt x="209468" y="152142"/>
                        </a:lnTo>
                        <a:cubicBezTo>
                          <a:pt x="205859" y="152142"/>
                          <a:pt x="203015" y="154982"/>
                          <a:pt x="203015" y="158586"/>
                        </a:cubicBezTo>
                        <a:lnTo>
                          <a:pt x="203015" y="169289"/>
                        </a:lnTo>
                        <a:cubicBezTo>
                          <a:pt x="203015" y="171474"/>
                          <a:pt x="204109" y="173440"/>
                          <a:pt x="205969" y="174641"/>
                        </a:cubicBezTo>
                        <a:lnTo>
                          <a:pt x="212203" y="178791"/>
                        </a:lnTo>
                        <a:lnTo>
                          <a:pt x="212640" y="181413"/>
                        </a:lnTo>
                        <a:cubicBezTo>
                          <a:pt x="214609" y="196922"/>
                          <a:pt x="223359" y="216909"/>
                          <a:pt x="235828" y="235039"/>
                        </a:cubicBezTo>
                        <a:cubicBezTo>
                          <a:pt x="251687" y="257975"/>
                          <a:pt x="266562" y="268242"/>
                          <a:pt x="274218" y="268242"/>
                        </a:cubicBezTo>
                        <a:lnTo>
                          <a:pt x="309108" y="268242"/>
                        </a:lnTo>
                        <a:cubicBezTo>
                          <a:pt x="316764" y="268242"/>
                          <a:pt x="331639" y="257975"/>
                          <a:pt x="347498" y="235039"/>
                        </a:cubicBezTo>
                        <a:cubicBezTo>
                          <a:pt x="359967" y="216909"/>
                          <a:pt x="368717" y="196922"/>
                          <a:pt x="370685" y="181413"/>
                        </a:cubicBezTo>
                        <a:lnTo>
                          <a:pt x="371123" y="178791"/>
                        </a:lnTo>
                        <a:lnTo>
                          <a:pt x="377357" y="174641"/>
                        </a:lnTo>
                        <a:cubicBezTo>
                          <a:pt x="379217" y="173440"/>
                          <a:pt x="380310" y="171474"/>
                          <a:pt x="380310" y="169289"/>
                        </a:cubicBezTo>
                        <a:lnTo>
                          <a:pt x="380310" y="158586"/>
                        </a:lnTo>
                        <a:cubicBezTo>
                          <a:pt x="380310" y="154982"/>
                          <a:pt x="377357" y="152142"/>
                          <a:pt x="373857" y="152142"/>
                        </a:cubicBezTo>
                        <a:lnTo>
                          <a:pt x="370248" y="152142"/>
                        </a:lnTo>
                        <a:cubicBezTo>
                          <a:pt x="369810" y="151268"/>
                          <a:pt x="369045" y="150504"/>
                          <a:pt x="368279" y="149958"/>
                        </a:cubicBezTo>
                        <a:cubicBezTo>
                          <a:pt x="366420" y="148756"/>
                          <a:pt x="364014" y="148538"/>
                          <a:pt x="362045" y="149521"/>
                        </a:cubicBezTo>
                        <a:cubicBezTo>
                          <a:pt x="353404" y="153343"/>
                          <a:pt x="344764" y="155309"/>
                          <a:pt x="336451" y="155309"/>
                        </a:cubicBezTo>
                        <a:cubicBezTo>
                          <a:pt x="321686" y="155309"/>
                          <a:pt x="308342" y="149302"/>
                          <a:pt x="296749" y="137288"/>
                        </a:cubicBezTo>
                        <a:cubicBezTo>
                          <a:pt x="287452" y="127786"/>
                          <a:pt x="275311" y="122871"/>
                          <a:pt x="260655" y="122871"/>
                        </a:cubicBezTo>
                        <a:close/>
                        <a:moveTo>
                          <a:pt x="275311" y="0"/>
                        </a:moveTo>
                        <a:lnTo>
                          <a:pt x="308014" y="0"/>
                        </a:lnTo>
                        <a:cubicBezTo>
                          <a:pt x="363795" y="0"/>
                          <a:pt x="409185" y="45326"/>
                          <a:pt x="409185" y="101027"/>
                        </a:cubicBezTo>
                        <a:lnTo>
                          <a:pt x="409185" y="132701"/>
                        </a:lnTo>
                        <a:cubicBezTo>
                          <a:pt x="412904" y="137944"/>
                          <a:pt x="414982" y="144278"/>
                          <a:pt x="414982" y="150722"/>
                        </a:cubicBezTo>
                        <a:lnTo>
                          <a:pt x="414982" y="173331"/>
                        </a:lnTo>
                        <a:cubicBezTo>
                          <a:pt x="414982" y="182505"/>
                          <a:pt x="410826" y="191352"/>
                          <a:pt x="403826" y="197140"/>
                        </a:cubicBezTo>
                        <a:cubicBezTo>
                          <a:pt x="402076" y="202820"/>
                          <a:pt x="399888" y="208608"/>
                          <a:pt x="397263" y="214288"/>
                        </a:cubicBezTo>
                        <a:cubicBezTo>
                          <a:pt x="392013" y="227940"/>
                          <a:pt x="384576" y="242029"/>
                          <a:pt x="375498" y="255136"/>
                        </a:cubicBezTo>
                        <a:cubicBezTo>
                          <a:pt x="371670" y="260706"/>
                          <a:pt x="366639" y="267368"/>
                          <a:pt x="360732" y="273922"/>
                        </a:cubicBezTo>
                        <a:cubicBezTo>
                          <a:pt x="366092" y="277853"/>
                          <a:pt x="370029" y="282331"/>
                          <a:pt x="371670" y="287574"/>
                        </a:cubicBezTo>
                        <a:lnTo>
                          <a:pt x="432919" y="306141"/>
                        </a:lnTo>
                        <a:cubicBezTo>
                          <a:pt x="426685" y="377243"/>
                          <a:pt x="366748" y="433272"/>
                          <a:pt x="294014" y="433272"/>
                        </a:cubicBezTo>
                        <a:cubicBezTo>
                          <a:pt x="220734" y="433272"/>
                          <a:pt x="160469" y="376478"/>
                          <a:pt x="154891" y="304721"/>
                        </a:cubicBezTo>
                        <a:lnTo>
                          <a:pt x="211656" y="287574"/>
                        </a:lnTo>
                        <a:cubicBezTo>
                          <a:pt x="213297" y="282331"/>
                          <a:pt x="217234" y="277853"/>
                          <a:pt x="222593" y="273922"/>
                        </a:cubicBezTo>
                        <a:cubicBezTo>
                          <a:pt x="216687" y="267368"/>
                          <a:pt x="211656" y="260706"/>
                          <a:pt x="207828" y="255136"/>
                        </a:cubicBezTo>
                        <a:cubicBezTo>
                          <a:pt x="198750" y="242029"/>
                          <a:pt x="191312" y="227940"/>
                          <a:pt x="186063" y="214288"/>
                        </a:cubicBezTo>
                        <a:cubicBezTo>
                          <a:pt x="183438" y="208608"/>
                          <a:pt x="181250" y="202820"/>
                          <a:pt x="179500" y="197140"/>
                        </a:cubicBezTo>
                        <a:cubicBezTo>
                          <a:pt x="172500" y="191242"/>
                          <a:pt x="168344" y="182505"/>
                          <a:pt x="168344" y="173331"/>
                        </a:cubicBezTo>
                        <a:lnTo>
                          <a:pt x="168344" y="150722"/>
                        </a:lnTo>
                        <a:cubicBezTo>
                          <a:pt x="168344" y="144278"/>
                          <a:pt x="170422" y="137944"/>
                          <a:pt x="174141" y="132701"/>
                        </a:cubicBezTo>
                        <a:lnTo>
                          <a:pt x="174141" y="101027"/>
                        </a:lnTo>
                        <a:cubicBezTo>
                          <a:pt x="174141" y="45326"/>
                          <a:pt x="219531" y="0"/>
                          <a:pt x="275311" y="0"/>
                        </a:cubicBezTo>
                        <a:close/>
                      </a:path>
                    </a:pathLst>
                  </a:custGeom>
                  <a:solidFill>
                    <a:srgbClr val="C00000"/>
                  </a:solidFill>
                  <a:ln w="3175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400"/>
                    <a:endParaRPr lang="zh-CN" altLang="en-US" sz="2000" b="1" i="1">
                      <a:solidFill>
                        <a:schemeClr val="tx1"/>
                      </a:solidFill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  <p:sp>
                <p:nvSpPr>
                  <p:cNvPr id="17" name="iṥ1îḓe"/>
                  <p:cNvSpPr/>
                  <p:nvPr/>
                </p:nvSpPr>
                <p:spPr bwMode="auto">
                  <a:xfrm>
                    <a:off x="5646919" y="4497169"/>
                    <a:ext cx="898162" cy="683068"/>
                  </a:xfrm>
                  <a:custGeom>
                    <a:avLst/>
                    <a:gdLst>
                      <a:gd name="T0" fmla="*/ 647 w 647"/>
                      <a:gd name="T1" fmla="*/ 413 h 492"/>
                      <a:gd name="T2" fmla="*/ 647 w 647"/>
                      <a:gd name="T3" fmla="*/ 413 h 492"/>
                      <a:gd name="T4" fmla="*/ 0 w 647"/>
                      <a:gd name="T5" fmla="*/ 415 h 492"/>
                      <a:gd name="T6" fmla="*/ 153 w 647"/>
                      <a:gd name="T7" fmla="*/ 1 h 492"/>
                      <a:gd name="T8" fmla="*/ 492 w 647"/>
                      <a:gd name="T9" fmla="*/ 0 h 492"/>
                      <a:gd name="T10" fmla="*/ 492 w 647"/>
                      <a:gd name="T11" fmla="*/ 0 h 492"/>
                      <a:gd name="T12" fmla="*/ 647 w 647"/>
                      <a:gd name="T13" fmla="*/ 413 h 4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47" h="492">
                        <a:moveTo>
                          <a:pt x="647" y="413"/>
                        </a:moveTo>
                        <a:cubicBezTo>
                          <a:pt x="647" y="413"/>
                          <a:pt x="647" y="413"/>
                          <a:pt x="647" y="413"/>
                        </a:cubicBezTo>
                        <a:cubicBezTo>
                          <a:pt x="439" y="491"/>
                          <a:pt x="209" y="492"/>
                          <a:pt x="0" y="415"/>
                        </a:cubicBezTo>
                        <a:cubicBezTo>
                          <a:pt x="153" y="1"/>
                          <a:pt x="153" y="1"/>
                          <a:pt x="153" y="1"/>
                        </a:cubicBezTo>
                        <a:cubicBezTo>
                          <a:pt x="263" y="41"/>
                          <a:pt x="383" y="41"/>
                          <a:pt x="492" y="0"/>
                        </a:cubicBezTo>
                        <a:cubicBezTo>
                          <a:pt x="492" y="0"/>
                          <a:pt x="492" y="0"/>
                          <a:pt x="492" y="0"/>
                        </a:cubicBezTo>
                        <a:cubicBezTo>
                          <a:pt x="647" y="413"/>
                          <a:pt x="647" y="413"/>
                          <a:pt x="647" y="413"/>
                        </a:cubicBezTo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  <p:sp>
                <p:nvSpPr>
                  <p:cNvPr id="18" name="iŝḷïḓê"/>
                  <p:cNvSpPr/>
                  <p:nvPr/>
                </p:nvSpPr>
                <p:spPr bwMode="auto">
                  <a:xfrm>
                    <a:off x="5647646" y="2555512"/>
                    <a:ext cx="896709" cy="683068"/>
                  </a:xfrm>
                  <a:custGeom>
                    <a:avLst/>
                    <a:gdLst>
                      <a:gd name="T0" fmla="*/ 494 w 647"/>
                      <a:gd name="T1" fmla="*/ 491 h 492"/>
                      <a:gd name="T2" fmla="*/ 156 w 647"/>
                      <a:gd name="T3" fmla="*/ 492 h 492"/>
                      <a:gd name="T4" fmla="*/ 155 w 647"/>
                      <a:gd name="T5" fmla="*/ 492 h 492"/>
                      <a:gd name="T6" fmla="*/ 0 w 647"/>
                      <a:gd name="T7" fmla="*/ 79 h 492"/>
                      <a:gd name="T8" fmla="*/ 1 w 647"/>
                      <a:gd name="T9" fmla="*/ 79 h 492"/>
                      <a:gd name="T10" fmla="*/ 647 w 647"/>
                      <a:gd name="T11" fmla="*/ 77 h 492"/>
                      <a:gd name="T12" fmla="*/ 494 w 647"/>
                      <a:gd name="T13" fmla="*/ 491 h 4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47" h="492">
                        <a:moveTo>
                          <a:pt x="494" y="491"/>
                        </a:moveTo>
                        <a:cubicBezTo>
                          <a:pt x="385" y="450"/>
                          <a:pt x="265" y="451"/>
                          <a:pt x="156" y="492"/>
                        </a:cubicBezTo>
                        <a:cubicBezTo>
                          <a:pt x="155" y="492"/>
                          <a:pt x="155" y="492"/>
                          <a:pt x="155" y="492"/>
                        </a:cubicBezTo>
                        <a:cubicBezTo>
                          <a:pt x="0" y="79"/>
                          <a:pt x="0" y="79"/>
                          <a:pt x="0" y="79"/>
                        </a:cubicBezTo>
                        <a:cubicBezTo>
                          <a:pt x="1" y="79"/>
                          <a:pt x="1" y="79"/>
                          <a:pt x="1" y="79"/>
                        </a:cubicBezTo>
                        <a:cubicBezTo>
                          <a:pt x="209" y="1"/>
                          <a:pt x="439" y="0"/>
                          <a:pt x="647" y="77"/>
                        </a:cubicBezTo>
                        <a:cubicBezTo>
                          <a:pt x="494" y="491"/>
                          <a:pt x="494" y="491"/>
                          <a:pt x="494" y="491"/>
                        </a:cubicBezTo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  <p:sp>
                <p:nvSpPr>
                  <p:cNvPr id="19" name="îşlíḑé"/>
                  <p:cNvSpPr/>
                  <p:nvPr/>
                </p:nvSpPr>
                <p:spPr bwMode="auto">
                  <a:xfrm>
                    <a:off x="6724569" y="3419522"/>
                    <a:ext cx="683068" cy="899615"/>
                  </a:xfrm>
                  <a:custGeom>
                    <a:avLst/>
                    <a:gdLst>
                      <a:gd name="T0" fmla="*/ 415 w 493"/>
                      <a:gd name="T1" fmla="*/ 649 h 649"/>
                      <a:gd name="T2" fmla="*/ 2 w 493"/>
                      <a:gd name="T3" fmla="*/ 495 h 649"/>
                      <a:gd name="T4" fmla="*/ 1 w 493"/>
                      <a:gd name="T5" fmla="*/ 156 h 649"/>
                      <a:gd name="T6" fmla="*/ 0 w 493"/>
                      <a:gd name="T7" fmla="*/ 155 h 649"/>
                      <a:gd name="T8" fmla="*/ 413 w 493"/>
                      <a:gd name="T9" fmla="*/ 0 h 649"/>
                      <a:gd name="T10" fmla="*/ 414 w 493"/>
                      <a:gd name="T11" fmla="*/ 1 h 649"/>
                      <a:gd name="T12" fmla="*/ 415 w 493"/>
                      <a:gd name="T13" fmla="*/ 649 h 6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93" h="649">
                        <a:moveTo>
                          <a:pt x="415" y="649"/>
                        </a:moveTo>
                        <a:cubicBezTo>
                          <a:pt x="2" y="495"/>
                          <a:pt x="2" y="495"/>
                          <a:pt x="2" y="495"/>
                        </a:cubicBezTo>
                        <a:cubicBezTo>
                          <a:pt x="42" y="386"/>
                          <a:pt x="42" y="266"/>
                          <a:pt x="1" y="156"/>
                        </a:cubicBezTo>
                        <a:cubicBezTo>
                          <a:pt x="0" y="155"/>
                          <a:pt x="0" y="155"/>
                          <a:pt x="0" y="155"/>
                        </a:cubicBezTo>
                        <a:cubicBezTo>
                          <a:pt x="413" y="0"/>
                          <a:pt x="413" y="0"/>
                          <a:pt x="413" y="0"/>
                        </a:cubicBezTo>
                        <a:cubicBezTo>
                          <a:pt x="414" y="1"/>
                          <a:pt x="414" y="1"/>
                          <a:pt x="414" y="1"/>
                        </a:cubicBezTo>
                        <a:cubicBezTo>
                          <a:pt x="492" y="210"/>
                          <a:pt x="493" y="440"/>
                          <a:pt x="415" y="649"/>
                        </a:cubicBezTo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  <p:sp>
                <p:nvSpPr>
                  <p:cNvPr id="20" name="íSlíḓè"/>
                  <p:cNvSpPr/>
                  <p:nvPr/>
                </p:nvSpPr>
                <p:spPr bwMode="auto">
                  <a:xfrm>
                    <a:off x="4784363" y="3420975"/>
                    <a:ext cx="681615" cy="896709"/>
                  </a:xfrm>
                  <a:custGeom>
                    <a:avLst/>
                    <a:gdLst>
                      <a:gd name="T0" fmla="*/ 492 w 492"/>
                      <a:gd name="T1" fmla="*/ 492 h 647"/>
                      <a:gd name="T2" fmla="*/ 79 w 492"/>
                      <a:gd name="T3" fmla="*/ 647 h 647"/>
                      <a:gd name="T4" fmla="*/ 78 w 492"/>
                      <a:gd name="T5" fmla="*/ 646 h 647"/>
                      <a:gd name="T6" fmla="*/ 77 w 492"/>
                      <a:gd name="T7" fmla="*/ 0 h 647"/>
                      <a:gd name="T8" fmla="*/ 491 w 492"/>
                      <a:gd name="T9" fmla="*/ 153 h 647"/>
                      <a:gd name="T10" fmla="*/ 491 w 492"/>
                      <a:gd name="T11" fmla="*/ 491 h 647"/>
                      <a:gd name="T12" fmla="*/ 492 w 492"/>
                      <a:gd name="T13" fmla="*/ 492 h 6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92" h="647">
                        <a:moveTo>
                          <a:pt x="492" y="492"/>
                        </a:moveTo>
                        <a:cubicBezTo>
                          <a:pt x="79" y="647"/>
                          <a:pt x="79" y="647"/>
                          <a:pt x="79" y="647"/>
                        </a:cubicBezTo>
                        <a:cubicBezTo>
                          <a:pt x="78" y="646"/>
                          <a:pt x="78" y="646"/>
                          <a:pt x="78" y="646"/>
                        </a:cubicBezTo>
                        <a:cubicBezTo>
                          <a:pt x="0" y="438"/>
                          <a:pt x="0" y="208"/>
                          <a:pt x="77" y="0"/>
                        </a:cubicBezTo>
                        <a:cubicBezTo>
                          <a:pt x="491" y="153"/>
                          <a:pt x="491" y="153"/>
                          <a:pt x="491" y="153"/>
                        </a:cubicBezTo>
                        <a:cubicBezTo>
                          <a:pt x="450" y="262"/>
                          <a:pt x="451" y="382"/>
                          <a:pt x="491" y="491"/>
                        </a:cubicBezTo>
                        <a:cubicBezTo>
                          <a:pt x="492" y="492"/>
                          <a:pt x="492" y="492"/>
                          <a:pt x="492" y="492"/>
                        </a:cubicBezTo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>
                      <a:latin typeface="阿里巴巴普惠体" panose="00020600040101010101" pitchFamily="18" charset="-122"/>
                      <a:ea typeface="阿里巴巴普惠体" panose="00020600040101010101" pitchFamily="18" charset="-122"/>
                      <a:cs typeface="阿里巴巴普惠体" panose="00020600040101010101" pitchFamily="18" charset="-122"/>
                    </a:endParaRPr>
                  </a:p>
                </p:txBody>
              </p:sp>
            </p:grpSp>
            <p:sp>
              <p:nvSpPr>
                <p:cNvPr id="11" name="iŝ1íḋè"/>
                <p:cNvSpPr/>
                <p:nvPr/>
              </p:nvSpPr>
              <p:spPr>
                <a:xfrm>
                  <a:off x="5966157" y="2782751"/>
                  <a:ext cx="259688" cy="228590"/>
                </a:xfrm>
                <a:custGeom>
                  <a:avLst/>
                  <a:gdLst>
                    <a:gd name="connsiteX0" fmla="*/ 18335 w 604256"/>
                    <a:gd name="connsiteY0" fmla="*/ 334272 h 531895"/>
                    <a:gd name="connsiteX1" fmla="*/ 37988 w 604256"/>
                    <a:gd name="connsiteY1" fmla="*/ 336249 h 531895"/>
                    <a:gd name="connsiteX2" fmla="*/ 302130 w 604256"/>
                    <a:gd name="connsiteY2" fmla="*/ 476833 h 531895"/>
                    <a:gd name="connsiteX3" fmla="*/ 566126 w 604256"/>
                    <a:gd name="connsiteY3" fmla="*/ 336249 h 531895"/>
                    <a:gd name="connsiteX4" fmla="*/ 601178 w 604256"/>
                    <a:gd name="connsiteY4" fmla="*/ 346793 h 531895"/>
                    <a:gd name="connsiteX5" fmla="*/ 590619 w 604256"/>
                    <a:gd name="connsiteY5" fmla="*/ 381793 h 531895"/>
                    <a:gd name="connsiteX6" fmla="*/ 314303 w 604256"/>
                    <a:gd name="connsiteY6" fmla="*/ 528820 h 531895"/>
                    <a:gd name="connsiteX7" fmla="*/ 302130 w 604256"/>
                    <a:gd name="connsiteY7" fmla="*/ 531895 h 531895"/>
                    <a:gd name="connsiteX8" fmla="*/ 289957 w 604256"/>
                    <a:gd name="connsiteY8" fmla="*/ 528820 h 531895"/>
                    <a:gd name="connsiteX9" fmla="*/ 13641 w 604256"/>
                    <a:gd name="connsiteY9" fmla="*/ 381793 h 531895"/>
                    <a:gd name="connsiteX10" fmla="*/ 3082 w 604256"/>
                    <a:gd name="connsiteY10" fmla="*/ 346793 h 531895"/>
                    <a:gd name="connsiteX11" fmla="*/ 18335 w 604256"/>
                    <a:gd name="connsiteY11" fmla="*/ 334272 h 531895"/>
                    <a:gd name="connsiteX12" fmla="*/ 18335 w 604256"/>
                    <a:gd name="connsiteY12" fmla="*/ 233364 h 531895"/>
                    <a:gd name="connsiteX13" fmla="*/ 37988 w 604256"/>
                    <a:gd name="connsiteY13" fmla="*/ 235341 h 531895"/>
                    <a:gd name="connsiteX14" fmla="*/ 302130 w 604256"/>
                    <a:gd name="connsiteY14" fmla="*/ 375925 h 531895"/>
                    <a:gd name="connsiteX15" fmla="*/ 566126 w 604256"/>
                    <a:gd name="connsiteY15" fmla="*/ 235341 h 531895"/>
                    <a:gd name="connsiteX16" fmla="*/ 601178 w 604256"/>
                    <a:gd name="connsiteY16" fmla="*/ 245885 h 531895"/>
                    <a:gd name="connsiteX17" fmla="*/ 590619 w 604256"/>
                    <a:gd name="connsiteY17" fmla="*/ 280885 h 531895"/>
                    <a:gd name="connsiteX18" fmla="*/ 314303 w 604256"/>
                    <a:gd name="connsiteY18" fmla="*/ 428058 h 531895"/>
                    <a:gd name="connsiteX19" fmla="*/ 302130 w 604256"/>
                    <a:gd name="connsiteY19" fmla="*/ 430987 h 531895"/>
                    <a:gd name="connsiteX20" fmla="*/ 289957 w 604256"/>
                    <a:gd name="connsiteY20" fmla="*/ 428058 h 531895"/>
                    <a:gd name="connsiteX21" fmla="*/ 13641 w 604256"/>
                    <a:gd name="connsiteY21" fmla="*/ 280885 h 531895"/>
                    <a:gd name="connsiteX22" fmla="*/ 3082 w 604256"/>
                    <a:gd name="connsiteY22" fmla="*/ 245885 h 531895"/>
                    <a:gd name="connsiteX23" fmla="*/ 18335 w 604256"/>
                    <a:gd name="connsiteY23" fmla="*/ 233364 h 531895"/>
                    <a:gd name="connsiteX24" fmla="*/ 291571 w 604256"/>
                    <a:gd name="connsiteY24" fmla="*/ 2196 h 531895"/>
                    <a:gd name="connsiteX25" fmla="*/ 312689 w 604256"/>
                    <a:gd name="connsiteY25" fmla="*/ 2196 h 531895"/>
                    <a:gd name="connsiteX26" fmla="*/ 588846 w 604256"/>
                    <a:gd name="connsiteY26" fmla="*/ 125214 h 531895"/>
                    <a:gd name="connsiteX27" fmla="*/ 604245 w 604256"/>
                    <a:gd name="connsiteY27" fmla="*/ 147914 h 531895"/>
                    <a:gd name="connsiteX28" fmla="*/ 590605 w 604256"/>
                    <a:gd name="connsiteY28" fmla="*/ 171639 h 531895"/>
                    <a:gd name="connsiteX29" fmla="*/ 314303 w 604256"/>
                    <a:gd name="connsiteY29" fmla="*/ 318676 h 531895"/>
                    <a:gd name="connsiteX30" fmla="*/ 302130 w 604256"/>
                    <a:gd name="connsiteY30" fmla="*/ 321751 h 531895"/>
                    <a:gd name="connsiteX31" fmla="*/ 289957 w 604256"/>
                    <a:gd name="connsiteY31" fmla="*/ 318676 h 531895"/>
                    <a:gd name="connsiteX32" fmla="*/ 13654 w 604256"/>
                    <a:gd name="connsiteY32" fmla="*/ 171639 h 531895"/>
                    <a:gd name="connsiteX33" fmla="*/ 15 w 604256"/>
                    <a:gd name="connsiteY33" fmla="*/ 147914 h 531895"/>
                    <a:gd name="connsiteX34" fmla="*/ 15414 w 604256"/>
                    <a:gd name="connsiteY34" fmla="*/ 125214 h 531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604256" h="531895">
                      <a:moveTo>
                        <a:pt x="18335" y="334272"/>
                      </a:moveTo>
                      <a:cubicBezTo>
                        <a:pt x="24642" y="332369"/>
                        <a:pt x="31682" y="332881"/>
                        <a:pt x="37988" y="336249"/>
                      </a:cubicBezTo>
                      <a:lnTo>
                        <a:pt x="302130" y="476833"/>
                      </a:lnTo>
                      <a:lnTo>
                        <a:pt x="566126" y="336249"/>
                      </a:lnTo>
                      <a:cubicBezTo>
                        <a:pt x="578739" y="329513"/>
                        <a:pt x="594432" y="334199"/>
                        <a:pt x="601178" y="346793"/>
                      </a:cubicBezTo>
                      <a:cubicBezTo>
                        <a:pt x="607925" y="359387"/>
                        <a:pt x="603085" y="375056"/>
                        <a:pt x="590619" y="381793"/>
                      </a:cubicBezTo>
                      <a:lnTo>
                        <a:pt x="314303" y="528820"/>
                      </a:lnTo>
                      <a:cubicBezTo>
                        <a:pt x="310490" y="530870"/>
                        <a:pt x="306383" y="531895"/>
                        <a:pt x="302130" y="531895"/>
                      </a:cubicBezTo>
                      <a:cubicBezTo>
                        <a:pt x="297877" y="531895"/>
                        <a:pt x="293770" y="530870"/>
                        <a:pt x="289957" y="528820"/>
                      </a:cubicBezTo>
                      <a:lnTo>
                        <a:pt x="13641" y="381793"/>
                      </a:lnTo>
                      <a:cubicBezTo>
                        <a:pt x="1028" y="375056"/>
                        <a:pt x="-3665" y="359387"/>
                        <a:pt x="3082" y="346793"/>
                      </a:cubicBezTo>
                      <a:cubicBezTo>
                        <a:pt x="6455" y="340496"/>
                        <a:pt x="12028" y="336176"/>
                        <a:pt x="18335" y="334272"/>
                      </a:cubicBezTo>
                      <a:close/>
                      <a:moveTo>
                        <a:pt x="18335" y="233364"/>
                      </a:moveTo>
                      <a:cubicBezTo>
                        <a:pt x="24642" y="231461"/>
                        <a:pt x="31682" y="231973"/>
                        <a:pt x="37988" y="235341"/>
                      </a:cubicBezTo>
                      <a:lnTo>
                        <a:pt x="302130" y="375925"/>
                      </a:lnTo>
                      <a:lnTo>
                        <a:pt x="566126" y="235341"/>
                      </a:lnTo>
                      <a:cubicBezTo>
                        <a:pt x="578739" y="228605"/>
                        <a:pt x="594432" y="233291"/>
                        <a:pt x="601178" y="245885"/>
                      </a:cubicBezTo>
                      <a:cubicBezTo>
                        <a:pt x="607925" y="258479"/>
                        <a:pt x="603085" y="274148"/>
                        <a:pt x="590619" y="280885"/>
                      </a:cubicBezTo>
                      <a:lnTo>
                        <a:pt x="314303" y="428058"/>
                      </a:lnTo>
                      <a:cubicBezTo>
                        <a:pt x="310490" y="430108"/>
                        <a:pt x="306383" y="430987"/>
                        <a:pt x="302130" y="430987"/>
                      </a:cubicBezTo>
                      <a:cubicBezTo>
                        <a:pt x="297877" y="430987"/>
                        <a:pt x="293770" y="430108"/>
                        <a:pt x="289957" y="428058"/>
                      </a:cubicBezTo>
                      <a:lnTo>
                        <a:pt x="13641" y="280885"/>
                      </a:lnTo>
                      <a:cubicBezTo>
                        <a:pt x="1028" y="274148"/>
                        <a:pt x="-3665" y="258479"/>
                        <a:pt x="3082" y="245885"/>
                      </a:cubicBezTo>
                      <a:cubicBezTo>
                        <a:pt x="6455" y="239588"/>
                        <a:pt x="12028" y="235268"/>
                        <a:pt x="18335" y="233364"/>
                      </a:cubicBezTo>
                      <a:close/>
                      <a:moveTo>
                        <a:pt x="291571" y="2196"/>
                      </a:moveTo>
                      <a:cubicBezTo>
                        <a:pt x="298317" y="-733"/>
                        <a:pt x="305943" y="-733"/>
                        <a:pt x="312689" y="2196"/>
                      </a:cubicBezTo>
                      <a:lnTo>
                        <a:pt x="588846" y="125214"/>
                      </a:lnTo>
                      <a:cubicBezTo>
                        <a:pt x="597938" y="129315"/>
                        <a:pt x="603805" y="138102"/>
                        <a:pt x="604245" y="147914"/>
                      </a:cubicBezTo>
                      <a:cubicBezTo>
                        <a:pt x="604538" y="157726"/>
                        <a:pt x="599258" y="166953"/>
                        <a:pt x="590605" y="171639"/>
                      </a:cubicBezTo>
                      <a:lnTo>
                        <a:pt x="314303" y="318676"/>
                      </a:lnTo>
                      <a:cubicBezTo>
                        <a:pt x="310489" y="320726"/>
                        <a:pt x="306383" y="321751"/>
                        <a:pt x="302130" y="321751"/>
                      </a:cubicBezTo>
                      <a:cubicBezTo>
                        <a:pt x="297877" y="321751"/>
                        <a:pt x="293771" y="320726"/>
                        <a:pt x="289957" y="318676"/>
                      </a:cubicBezTo>
                      <a:lnTo>
                        <a:pt x="13654" y="171639"/>
                      </a:lnTo>
                      <a:cubicBezTo>
                        <a:pt x="5002" y="166953"/>
                        <a:pt x="-278" y="157726"/>
                        <a:pt x="15" y="147914"/>
                      </a:cubicBezTo>
                      <a:cubicBezTo>
                        <a:pt x="309" y="138102"/>
                        <a:pt x="6322" y="129315"/>
                        <a:pt x="15414" y="125214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i="1">
                    <a:solidFill>
                      <a:schemeClr val="tx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endParaRPr>
                </a:p>
              </p:txBody>
            </p:sp>
            <p:sp>
              <p:nvSpPr>
                <p:cNvPr id="12" name="iṡlïdè"/>
                <p:cNvSpPr/>
                <p:nvPr/>
              </p:nvSpPr>
              <p:spPr>
                <a:xfrm>
                  <a:off x="6936260" y="3755034"/>
                  <a:ext cx="259688" cy="228590"/>
                </a:xfrm>
                <a:custGeom>
                  <a:avLst/>
                  <a:gdLst>
                    <a:gd name="connsiteX0" fmla="*/ 18335 w 604256"/>
                    <a:gd name="connsiteY0" fmla="*/ 334272 h 531895"/>
                    <a:gd name="connsiteX1" fmla="*/ 37988 w 604256"/>
                    <a:gd name="connsiteY1" fmla="*/ 336249 h 531895"/>
                    <a:gd name="connsiteX2" fmla="*/ 302130 w 604256"/>
                    <a:gd name="connsiteY2" fmla="*/ 476833 h 531895"/>
                    <a:gd name="connsiteX3" fmla="*/ 566126 w 604256"/>
                    <a:gd name="connsiteY3" fmla="*/ 336249 h 531895"/>
                    <a:gd name="connsiteX4" fmla="*/ 601178 w 604256"/>
                    <a:gd name="connsiteY4" fmla="*/ 346793 h 531895"/>
                    <a:gd name="connsiteX5" fmla="*/ 590619 w 604256"/>
                    <a:gd name="connsiteY5" fmla="*/ 381793 h 531895"/>
                    <a:gd name="connsiteX6" fmla="*/ 314303 w 604256"/>
                    <a:gd name="connsiteY6" fmla="*/ 528820 h 531895"/>
                    <a:gd name="connsiteX7" fmla="*/ 302130 w 604256"/>
                    <a:gd name="connsiteY7" fmla="*/ 531895 h 531895"/>
                    <a:gd name="connsiteX8" fmla="*/ 289957 w 604256"/>
                    <a:gd name="connsiteY8" fmla="*/ 528820 h 531895"/>
                    <a:gd name="connsiteX9" fmla="*/ 13641 w 604256"/>
                    <a:gd name="connsiteY9" fmla="*/ 381793 h 531895"/>
                    <a:gd name="connsiteX10" fmla="*/ 3082 w 604256"/>
                    <a:gd name="connsiteY10" fmla="*/ 346793 h 531895"/>
                    <a:gd name="connsiteX11" fmla="*/ 18335 w 604256"/>
                    <a:gd name="connsiteY11" fmla="*/ 334272 h 531895"/>
                    <a:gd name="connsiteX12" fmla="*/ 18335 w 604256"/>
                    <a:gd name="connsiteY12" fmla="*/ 233364 h 531895"/>
                    <a:gd name="connsiteX13" fmla="*/ 37988 w 604256"/>
                    <a:gd name="connsiteY13" fmla="*/ 235341 h 531895"/>
                    <a:gd name="connsiteX14" fmla="*/ 302130 w 604256"/>
                    <a:gd name="connsiteY14" fmla="*/ 375925 h 531895"/>
                    <a:gd name="connsiteX15" fmla="*/ 566126 w 604256"/>
                    <a:gd name="connsiteY15" fmla="*/ 235341 h 531895"/>
                    <a:gd name="connsiteX16" fmla="*/ 601178 w 604256"/>
                    <a:gd name="connsiteY16" fmla="*/ 245885 h 531895"/>
                    <a:gd name="connsiteX17" fmla="*/ 590619 w 604256"/>
                    <a:gd name="connsiteY17" fmla="*/ 280885 h 531895"/>
                    <a:gd name="connsiteX18" fmla="*/ 314303 w 604256"/>
                    <a:gd name="connsiteY18" fmla="*/ 428058 h 531895"/>
                    <a:gd name="connsiteX19" fmla="*/ 302130 w 604256"/>
                    <a:gd name="connsiteY19" fmla="*/ 430987 h 531895"/>
                    <a:gd name="connsiteX20" fmla="*/ 289957 w 604256"/>
                    <a:gd name="connsiteY20" fmla="*/ 428058 h 531895"/>
                    <a:gd name="connsiteX21" fmla="*/ 13641 w 604256"/>
                    <a:gd name="connsiteY21" fmla="*/ 280885 h 531895"/>
                    <a:gd name="connsiteX22" fmla="*/ 3082 w 604256"/>
                    <a:gd name="connsiteY22" fmla="*/ 245885 h 531895"/>
                    <a:gd name="connsiteX23" fmla="*/ 18335 w 604256"/>
                    <a:gd name="connsiteY23" fmla="*/ 233364 h 531895"/>
                    <a:gd name="connsiteX24" fmla="*/ 291571 w 604256"/>
                    <a:gd name="connsiteY24" fmla="*/ 2196 h 531895"/>
                    <a:gd name="connsiteX25" fmla="*/ 312689 w 604256"/>
                    <a:gd name="connsiteY25" fmla="*/ 2196 h 531895"/>
                    <a:gd name="connsiteX26" fmla="*/ 588846 w 604256"/>
                    <a:gd name="connsiteY26" fmla="*/ 125214 h 531895"/>
                    <a:gd name="connsiteX27" fmla="*/ 604245 w 604256"/>
                    <a:gd name="connsiteY27" fmla="*/ 147914 h 531895"/>
                    <a:gd name="connsiteX28" fmla="*/ 590605 w 604256"/>
                    <a:gd name="connsiteY28" fmla="*/ 171639 h 531895"/>
                    <a:gd name="connsiteX29" fmla="*/ 314303 w 604256"/>
                    <a:gd name="connsiteY29" fmla="*/ 318676 h 531895"/>
                    <a:gd name="connsiteX30" fmla="*/ 302130 w 604256"/>
                    <a:gd name="connsiteY30" fmla="*/ 321751 h 531895"/>
                    <a:gd name="connsiteX31" fmla="*/ 289957 w 604256"/>
                    <a:gd name="connsiteY31" fmla="*/ 318676 h 531895"/>
                    <a:gd name="connsiteX32" fmla="*/ 13654 w 604256"/>
                    <a:gd name="connsiteY32" fmla="*/ 171639 h 531895"/>
                    <a:gd name="connsiteX33" fmla="*/ 15 w 604256"/>
                    <a:gd name="connsiteY33" fmla="*/ 147914 h 531895"/>
                    <a:gd name="connsiteX34" fmla="*/ 15414 w 604256"/>
                    <a:gd name="connsiteY34" fmla="*/ 125214 h 531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604256" h="531895">
                      <a:moveTo>
                        <a:pt x="18335" y="334272"/>
                      </a:moveTo>
                      <a:cubicBezTo>
                        <a:pt x="24642" y="332369"/>
                        <a:pt x="31682" y="332881"/>
                        <a:pt x="37988" y="336249"/>
                      </a:cubicBezTo>
                      <a:lnTo>
                        <a:pt x="302130" y="476833"/>
                      </a:lnTo>
                      <a:lnTo>
                        <a:pt x="566126" y="336249"/>
                      </a:lnTo>
                      <a:cubicBezTo>
                        <a:pt x="578739" y="329513"/>
                        <a:pt x="594432" y="334199"/>
                        <a:pt x="601178" y="346793"/>
                      </a:cubicBezTo>
                      <a:cubicBezTo>
                        <a:pt x="607925" y="359387"/>
                        <a:pt x="603085" y="375056"/>
                        <a:pt x="590619" y="381793"/>
                      </a:cubicBezTo>
                      <a:lnTo>
                        <a:pt x="314303" y="528820"/>
                      </a:lnTo>
                      <a:cubicBezTo>
                        <a:pt x="310490" y="530870"/>
                        <a:pt x="306383" y="531895"/>
                        <a:pt x="302130" y="531895"/>
                      </a:cubicBezTo>
                      <a:cubicBezTo>
                        <a:pt x="297877" y="531895"/>
                        <a:pt x="293770" y="530870"/>
                        <a:pt x="289957" y="528820"/>
                      </a:cubicBezTo>
                      <a:lnTo>
                        <a:pt x="13641" y="381793"/>
                      </a:lnTo>
                      <a:cubicBezTo>
                        <a:pt x="1028" y="375056"/>
                        <a:pt x="-3665" y="359387"/>
                        <a:pt x="3082" y="346793"/>
                      </a:cubicBezTo>
                      <a:cubicBezTo>
                        <a:pt x="6455" y="340496"/>
                        <a:pt x="12028" y="336176"/>
                        <a:pt x="18335" y="334272"/>
                      </a:cubicBezTo>
                      <a:close/>
                      <a:moveTo>
                        <a:pt x="18335" y="233364"/>
                      </a:moveTo>
                      <a:cubicBezTo>
                        <a:pt x="24642" y="231461"/>
                        <a:pt x="31682" y="231973"/>
                        <a:pt x="37988" y="235341"/>
                      </a:cubicBezTo>
                      <a:lnTo>
                        <a:pt x="302130" y="375925"/>
                      </a:lnTo>
                      <a:lnTo>
                        <a:pt x="566126" y="235341"/>
                      </a:lnTo>
                      <a:cubicBezTo>
                        <a:pt x="578739" y="228605"/>
                        <a:pt x="594432" y="233291"/>
                        <a:pt x="601178" y="245885"/>
                      </a:cubicBezTo>
                      <a:cubicBezTo>
                        <a:pt x="607925" y="258479"/>
                        <a:pt x="603085" y="274148"/>
                        <a:pt x="590619" y="280885"/>
                      </a:cubicBezTo>
                      <a:lnTo>
                        <a:pt x="314303" y="428058"/>
                      </a:lnTo>
                      <a:cubicBezTo>
                        <a:pt x="310490" y="430108"/>
                        <a:pt x="306383" y="430987"/>
                        <a:pt x="302130" y="430987"/>
                      </a:cubicBezTo>
                      <a:cubicBezTo>
                        <a:pt x="297877" y="430987"/>
                        <a:pt x="293770" y="430108"/>
                        <a:pt x="289957" y="428058"/>
                      </a:cubicBezTo>
                      <a:lnTo>
                        <a:pt x="13641" y="280885"/>
                      </a:lnTo>
                      <a:cubicBezTo>
                        <a:pt x="1028" y="274148"/>
                        <a:pt x="-3665" y="258479"/>
                        <a:pt x="3082" y="245885"/>
                      </a:cubicBezTo>
                      <a:cubicBezTo>
                        <a:pt x="6455" y="239588"/>
                        <a:pt x="12028" y="235268"/>
                        <a:pt x="18335" y="233364"/>
                      </a:cubicBezTo>
                      <a:close/>
                      <a:moveTo>
                        <a:pt x="291571" y="2196"/>
                      </a:moveTo>
                      <a:cubicBezTo>
                        <a:pt x="298317" y="-733"/>
                        <a:pt x="305943" y="-733"/>
                        <a:pt x="312689" y="2196"/>
                      </a:cubicBezTo>
                      <a:lnTo>
                        <a:pt x="588846" y="125214"/>
                      </a:lnTo>
                      <a:cubicBezTo>
                        <a:pt x="597938" y="129315"/>
                        <a:pt x="603805" y="138102"/>
                        <a:pt x="604245" y="147914"/>
                      </a:cubicBezTo>
                      <a:cubicBezTo>
                        <a:pt x="604538" y="157726"/>
                        <a:pt x="599258" y="166953"/>
                        <a:pt x="590605" y="171639"/>
                      </a:cubicBezTo>
                      <a:lnTo>
                        <a:pt x="314303" y="318676"/>
                      </a:lnTo>
                      <a:cubicBezTo>
                        <a:pt x="310489" y="320726"/>
                        <a:pt x="306383" y="321751"/>
                        <a:pt x="302130" y="321751"/>
                      </a:cubicBezTo>
                      <a:cubicBezTo>
                        <a:pt x="297877" y="321751"/>
                        <a:pt x="293771" y="320726"/>
                        <a:pt x="289957" y="318676"/>
                      </a:cubicBezTo>
                      <a:lnTo>
                        <a:pt x="13654" y="171639"/>
                      </a:lnTo>
                      <a:cubicBezTo>
                        <a:pt x="5002" y="166953"/>
                        <a:pt x="-278" y="157726"/>
                        <a:pt x="15" y="147914"/>
                      </a:cubicBezTo>
                      <a:cubicBezTo>
                        <a:pt x="309" y="138102"/>
                        <a:pt x="6322" y="129315"/>
                        <a:pt x="15414" y="125214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i="1">
                    <a:solidFill>
                      <a:schemeClr val="tx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endParaRPr>
                </a:p>
              </p:txBody>
            </p:sp>
            <p:sp>
              <p:nvSpPr>
                <p:cNvPr id="13" name="iṩḷíḑe"/>
                <p:cNvSpPr/>
                <p:nvPr/>
              </p:nvSpPr>
              <p:spPr>
                <a:xfrm>
                  <a:off x="5966157" y="4724409"/>
                  <a:ext cx="259688" cy="228590"/>
                </a:xfrm>
                <a:custGeom>
                  <a:avLst/>
                  <a:gdLst>
                    <a:gd name="connsiteX0" fmla="*/ 18335 w 604256"/>
                    <a:gd name="connsiteY0" fmla="*/ 334272 h 531895"/>
                    <a:gd name="connsiteX1" fmla="*/ 37988 w 604256"/>
                    <a:gd name="connsiteY1" fmla="*/ 336249 h 531895"/>
                    <a:gd name="connsiteX2" fmla="*/ 302130 w 604256"/>
                    <a:gd name="connsiteY2" fmla="*/ 476833 h 531895"/>
                    <a:gd name="connsiteX3" fmla="*/ 566126 w 604256"/>
                    <a:gd name="connsiteY3" fmla="*/ 336249 h 531895"/>
                    <a:gd name="connsiteX4" fmla="*/ 601178 w 604256"/>
                    <a:gd name="connsiteY4" fmla="*/ 346793 h 531895"/>
                    <a:gd name="connsiteX5" fmla="*/ 590619 w 604256"/>
                    <a:gd name="connsiteY5" fmla="*/ 381793 h 531895"/>
                    <a:gd name="connsiteX6" fmla="*/ 314303 w 604256"/>
                    <a:gd name="connsiteY6" fmla="*/ 528820 h 531895"/>
                    <a:gd name="connsiteX7" fmla="*/ 302130 w 604256"/>
                    <a:gd name="connsiteY7" fmla="*/ 531895 h 531895"/>
                    <a:gd name="connsiteX8" fmla="*/ 289957 w 604256"/>
                    <a:gd name="connsiteY8" fmla="*/ 528820 h 531895"/>
                    <a:gd name="connsiteX9" fmla="*/ 13641 w 604256"/>
                    <a:gd name="connsiteY9" fmla="*/ 381793 h 531895"/>
                    <a:gd name="connsiteX10" fmla="*/ 3082 w 604256"/>
                    <a:gd name="connsiteY10" fmla="*/ 346793 h 531895"/>
                    <a:gd name="connsiteX11" fmla="*/ 18335 w 604256"/>
                    <a:gd name="connsiteY11" fmla="*/ 334272 h 531895"/>
                    <a:gd name="connsiteX12" fmla="*/ 18335 w 604256"/>
                    <a:gd name="connsiteY12" fmla="*/ 233364 h 531895"/>
                    <a:gd name="connsiteX13" fmla="*/ 37988 w 604256"/>
                    <a:gd name="connsiteY13" fmla="*/ 235341 h 531895"/>
                    <a:gd name="connsiteX14" fmla="*/ 302130 w 604256"/>
                    <a:gd name="connsiteY14" fmla="*/ 375925 h 531895"/>
                    <a:gd name="connsiteX15" fmla="*/ 566126 w 604256"/>
                    <a:gd name="connsiteY15" fmla="*/ 235341 h 531895"/>
                    <a:gd name="connsiteX16" fmla="*/ 601178 w 604256"/>
                    <a:gd name="connsiteY16" fmla="*/ 245885 h 531895"/>
                    <a:gd name="connsiteX17" fmla="*/ 590619 w 604256"/>
                    <a:gd name="connsiteY17" fmla="*/ 280885 h 531895"/>
                    <a:gd name="connsiteX18" fmla="*/ 314303 w 604256"/>
                    <a:gd name="connsiteY18" fmla="*/ 428058 h 531895"/>
                    <a:gd name="connsiteX19" fmla="*/ 302130 w 604256"/>
                    <a:gd name="connsiteY19" fmla="*/ 430987 h 531895"/>
                    <a:gd name="connsiteX20" fmla="*/ 289957 w 604256"/>
                    <a:gd name="connsiteY20" fmla="*/ 428058 h 531895"/>
                    <a:gd name="connsiteX21" fmla="*/ 13641 w 604256"/>
                    <a:gd name="connsiteY21" fmla="*/ 280885 h 531895"/>
                    <a:gd name="connsiteX22" fmla="*/ 3082 w 604256"/>
                    <a:gd name="connsiteY22" fmla="*/ 245885 h 531895"/>
                    <a:gd name="connsiteX23" fmla="*/ 18335 w 604256"/>
                    <a:gd name="connsiteY23" fmla="*/ 233364 h 531895"/>
                    <a:gd name="connsiteX24" fmla="*/ 291571 w 604256"/>
                    <a:gd name="connsiteY24" fmla="*/ 2196 h 531895"/>
                    <a:gd name="connsiteX25" fmla="*/ 312689 w 604256"/>
                    <a:gd name="connsiteY25" fmla="*/ 2196 h 531895"/>
                    <a:gd name="connsiteX26" fmla="*/ 588846 w 604256"/>
                    <a:gd name="connsiteY26" fmla="*/ 125214 h 531895"/>
                    <a:gd name="connsiteX27" fmla="*/ 604245 w 604256"/>
                    <a:gd name="connsiteY27" fmla="*/ 147914 h 531895"/>
                    <a:gd name="connsiteX28" fmla="*/ 590605 w 604256"/>
                    <a:gd name="connsiteY28" fmla="*/ 171639 h 531895"/>
                    <a:gd name="connsiteX29" fmla="*/ 314303 w 604256"/>
                    <a:gd name="connsiteY29" fmla="*/ 318676 h 531895"/>
                    <a:gd name="connsiteX30" fmla="*/ 302130 w 604256"/>
                    <a:gd name="connsiteY30" fmla="*/ 321751 h 531895"/>
                    <a:gd name="connsiteX31" fmla="*/ 289957 w 604256"/>
                    <a:gd name="connsiteY31" fmla="*/ 318676 h 531895"/>
                    <a:gd name="connsiteX32" fmla="*/ 13654 w 604256"/>
                    <a:gd name="connsiteY32" fmla="*/ 171639 h 531895"/>
                    <a:gd name="connsiteX33" fmla="*/ 15 w 604256"/>
                    <a:gd name="connsiteY33" fmla="*/ 147914 h 531895"/>
                    <a:gd name="connsiteX34" fmla="*/ 15414 w 604256"/>
                    <a:gd name="connsiteY34" fmla="*/ 125214 h 531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604256" h="531895">
                      <a:moveTo>
                        <a:pt x="18335" y="334272"/>
                      </a:moveTo>
                      <a:cubicBezTo>
                        <a:pt x="24642" y="332369"/>
                        <a:pt x="31682" y="332881"/>
                        <a:pt x="37988" y="336249"/>
                      </a:cubicBezTo>
                      <a:lnTo>
                        <a:pt x="302130" y="476833"/>
                      </a:lnTo>
                      <a:lnTo>
                        <a:pt x="566126" y="336249"/>
                      </a:lnTo>
                      <a:cubicBezTo>
                        <a:pt x="578739" y="329513"/>
                        <a:pt x="594432" y="334199"/>
                        <a:pt x="601178" y="346793"/>
                      </a:cubicBezTo>
                      <a:cubicBezTo>
                        <a:pt x="607925" y="359387"/>
                        <a:pt x="603085" y="375056"/>
                        <a:pt x="590619" y="381793"/>
                      </a:cubicBezTo>
                      <a:lnTo>
                        <a:pt x="314303" y="528820"/>
                      </a:lnTo>
                      <a:cubicBezTo>
                        <a:pt x="310490" y="530870"/>
                        <a:pt x="306383" y="531895"/>
                        <a:pt x="302130" y="531895"/>
                      </a:cubicBezTo>
                      <a:cubicBezTo>
                        <a:pt x="297877" y="531895"/>
                        <a:pt x="293770" y="530870"/>
                        <a:pt x="289957" y="528820"/>
                      </a:cubicBezTo>
                      <a:lnTo>
                        <a:pt x="13641" y="381793"/>
                      </a:lnTo>
                      <a:cubicBezTo>
                        <a:pt x="1028" y="375056"/>
                        <a:pt x="-3665" y="359387"/>
                        <a:pt x="3082" y="346793"/>
                      </a:cubicBezTo>
                      <a:cubicBezTo>
                        <a:pt x="6455" y="340496"/>
                        <a:pt x="12028" y="336176"/>
                        <a:pt x="18335" y="334272"/>
                      </a:cubicBezTo>
                      <a:close/>
                      <a:moveTo>
                        <a:pt x="18335" y="233364"/>
                      </a:moveTo>
                      <a:cubicBezTo>
                        <a:pt x="24642" y="231461"/>
                        <a:pt x="31682" y="231973"/>
                        <a:pt x="37988" y="235341"/>
                      </a:cubicBezTo>
                      <a:lnTo>
                        <a:pt x="302130" y="375925"/>
                      </a:lnTo>
                      <a:lnTo>
                        <a:pt x="566126" y="235341"/>
                      </a:lnTo>
                      <a:cubicBezTo>
                        <a:pt x="578739" y="228605"/>
                        <a:pt x="594432" y="233291"/>
                        <a:pt x="601178" y="245885"/>
                      </a:cubicBezTo>
                      <a:cubicBezTo>
                        <a:pt x="607925" y="258479"/>
                        <a:pt x="603085" y="274148"/>
                        <a:pt x="590619" y="280885"/>
                      </a:cubicBezTo>
                      <a:lnTo>
                        <a:pt x="314303" y="428058"/>
                      </a:lnTo>
                      <a:cubicBezTo>
                        <a:pt x="310490" y="430108"/>
                        <a:pt x="306383" y="430987"/>
                        <a:pt x="302130" y="430987"/>
                      </a:cubicBezTo>
                      <a:cubicBezTo>
                        <a:pt x="297877" y="430987"/>
                        <a:pt x="293770" y="430108"/>
                        <a:pt x="289957" y="428058"/>
                      </a:cubicBezTo>
                      <a:lnTo>
                        <a:pt x="13641" y="280885"/>
                      </a:lnTo>
                      <a:cubicBezTo>
                        <a:pt x="1028" y="274148"/>
                        <a:pt x="-3665" y="258479"/>
                        <a:pt x="3082" y="245885"/>
                      </a:cubicBezTo>
                      <a:cubicBezTo>
                        <a:pt x="6455" y="239588"/>
                        <a:pt x="12028" y="235268"/>
                        <a:pt x="18335" y="233364"/>
                      </a:cubicBezTo>
                      <a:close/>
                      <a:moveTo>
                        <a:pt x="291571" y="2196"/>
                      </a:moveTo>
                      <a:cubicBezTo>
                        <a:pt x="298317" y="-733"/>
                        <a:pt x="305943" y="-733"/>
                        <a:pt x="312689" y="2196"/>
                      </a:cubicBezTo>
                      <a:lnTo>
                        <a:pt x="588846" y="125214"/>
                      </a:lnTo>
                      <a:cubicBezTo>
                        <a:pt x="597938" y="129315"/>
                        <a:pt x="603805" y="138102"/>
                        <a:pt x="604245" y="147914"/>
                      </a:cubicBezTo>
                      <a:cubicBezTo>
                        <a:pt x="604538" y="157726"/>
                        <a:pt x="599258" y="166953"/>
                        <a:pt x="590605" y="171639"/>
                      </a:cubicBezTo>
                      <a:lnTo>
                        <a:pt x="314303" y="318676"/>
                      </a:lnTo>
                      <a:cubicBezTo>
                        <a:pt x="310489" y="320726"/>
                        <a:pt x="306383" y="321751"/>
                        <a:pt x="302130" y="321751"/>
                      </a:cubicBezTo>
                      <a:cubicBezTo>
                        <a:pt x="297877" y="321751"/>
                        <a:pt x="293771" y="320726"/>
                        <a:pt x="289957" y="318676"/>
                      </a:cubicBezTo>
                      <a:lnTo>
                        <a:pt x="13654" y="171639"/>
                      </a:lnTo>
                      <a:cubicBezTo>
                        <a:pt x="5002" y="166953"/>
                        <a:pt x="-278" y="157726"/>
                        <a:pt x="15" y="147914"/>
                      </a:cubicBezTo>
                      <a:cubicBezTo>
                        <a:pt x="309" y="138102"/>
                        <a:pt x="6322" y="129315"/>
                        <a:pt x="15414" y="125214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i="1">
                    <a:solidFill>
                      <a:schemeClr val="tx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endParaRPr>
                </a:p>
              </p:txBody>
            </p:sp>
            <p:sp>
              <p:nvSpPr>
                <p:cNvPr id="14" name="ïṩľïďê"/>
                <p:cNvSpPr/>
                <p:nvPr/>
              </p:nvSpPr>
              <p:spPr>
                <a:xfrm>
                  <a:off x="4995327" y="3755034"/>
                  <a:ext cx="259688" cy="228590"/>
                </a:xfrm>
                <a:custGeom>
                  <a:avLst/>
                  <a:gdLst>
                    <a:gd name="connsiteX0" fmla="*/ 18335 w 604256"/>
                    <a:gd name="connsiteY0" fmla="*/ 334272 h 531895"/>
                    <a:gd name="connsiteX1" fmla="*/ 37988 w 604256"/>
                    <a:gd name="connsiteY1" fmla="*/ 336249 h 531895"/>
                    <a:gd name="connsiteX2" fmla="*/ 302130 w 604256"/>
                    <a:gd name="connsiteY2" fmla="*/ 476833 h 531895"/>
                    <a:gd name="connsiteX3" fmla="*/ 566126 w 604256"/>
                    <a:gd name="connsiteY3" fmla="*/ 336249 h 531895"/>
                    <a:gd name="connsiteX4" fmla="*/ 601178 w 604256"/>
                    <a:gd name="connsiteY4" fmla="*/ 346793 h 531895"/>
                    <a:gd name="connsiteX5" fmla="*/ 590619 w 604256"/>
                    <a:gd name="connsiteY5" fmla="*/ 381793 h 531895"/>
                    <a:gd name="connsiteX6" fmla="*/ 314303 w 604256"/>
                    <a:gd name="connsiteY6" fmla="*/ 528820 h 531895"/>
                    <a:gd name="connsiteX7" fmla="*/ 302130 w 604256"/>
                    <a:gd name="connsiteY7" fmla="*/ 531895 h 531895"/>
                    <a:gd name="connsiteX8" fmla="*/ 289957 w 604256"/>
                    <a:gd name="connsiteY8" fmla="*/ 528820 h 531895"/>
                    <a:gd name="connsiteX9" fmla="*/ 13641 w 604256"/>
                    <a:gd name="connsiteY9" fmla="*/ 381793 h 531895"/>
                    <a:gd name="connsiteX10" fmla="*/ 3082 w 604256"/>
                    <a:gd name="connsiteY10" fmla="*/ 346793 h 531895"/>
                    <a:gd name="connsiteX11" fmla="*/ 18335 w 604256"/>
                    <a:gd name="connsiteY11" fmla="*/ 334272 h 531895"/>
                    <a:gd name="connsiteX12" fmla="*/ 18335 w 604256"/>
                    <a:gd name="connsiteY12" fmla="*/ 233364 h 531895"/>
                    <a:gd name="connsiteX13" fmla="*/ 37988 w 604256"/>
                    <a:gd name="connsiteY13" fmla="*/ 235341 h 531895"/>
                    <a:gd name="connsiteX14" fmla="*/ 302130 w 604256"/>
                    <a:gd name="connsiteY14" fmla="*/ 375925 h 531895"/>
                    <a:gd name="connsiteX15" fmla="*/ 566126 w 604256"/>
                    <a:gd name="connsiteY15" fmla="*/ 235341 h 531895"/>
                    <a:gd name="connsiteX16" fmla="*/ 601178 w 604256"/>
                    <a:gd name="connsiteY16" fmla="*/ 245885 h 531895"/>
                    <a:gd name="connsiteX17" fmla="*/ 590619 w 604256"/>
                    <a:gd name="connsiteY17" fmla="*/ 280885 h 531895"/>
                    <a:gd name="connsiteX18" fmla="*/ 314303 w 604256"/>
                    <a:gd name="connsiteY18" fmla="*/ 428058 h 531895"/>
                    <a:gd name="connsiteX19" fmla="*/ 302130 w 604256"/>
                    <a:gd name="connsiteY19" fmla="*/ 430987 h 531895"/>
                    <a:gd name="connsiteX20" fmla="*/ 289957 w 604256"/>
                    <a:gd name="connsiteY20" fmla="*/ 428058 h 531895"/>
                    <a:gd name="connsiteX21" fmla="*/ 13641 w 604256"/>
                    <a:gd name="connsiteY21" fmla="*/ 280885 h 531895"/>
                    <a:gd name="connsiteX22" fmla="*/ 3082 w 604256"/>
                    <a:gd name="connsiteY22" fmla="*/ 245885 h 531895"/>
                    <a:gd name="connsiteX23" fmla="*/ 18335 w 604256"/>
                    <a:gd name="connsiteY23" fmla="*/ 233364 h 531895"/>
                    <a:gd name="connsiteX24" fmla="*/ 291571 w 604256"/>
                    <a:gd name="connsiteY24" fmla="*/ 2196 h 531895"/>
                    <a:gd name="connsiteX25" fmla="*/ 312689 w 604256"/>
                    <a:gd name="connsiteY25" fmla="*/ 2196 h 531895"/>
                    <a:gd name="connsiteX26" fmla="*/ 588846 w 604256"/>
                    <a:gd name="connsiteY26" fmla="*/ 125214 h 531895"/>
                    <a:gd name="connsiteX27" fmla="*/ 604245 w 604256"/>
                    <a:gd name="connsiteY27" fmla="*/ 147914 h 531895"/>
                    <a:gd name="connsiteX28" fmla="*/ 590605 w 604256"/>
                    <a:gd name="connsiteY28" fmla="*/ 171639 h 531895"/>
                    <a:gd name="connsiteX29" fmla="*/ 314303 w 604256"/>
                    <a:gd name="connsiteY29" fmla="*/ 318676 h 531895"/>
                    <a:gd name="connsiteX30" fmla="*/ 302130 w 604256"/>
                    <a:gd name="connsiteY30" fmla="*/ 321751 h 531895"/>
                    <a:gd name="connsiteX31" fmla="*/ 289957 w 604256"/>
                    <a:gd name="connsiteY31" fmla="*/ 318676 h 531895"/>
                    <a:gd name="connsiteX32" fmla="*/ 13654 w 604256"/>
                    <a:gd name="connsiteY32" fmla="*/ 171639 h 531895"/>
                    <a:gd name="connsiteX33" fmla="*/ 15 w 604256"/>
                    <a:gd name="connsiteY33" fmla="*/ 147914 h 531895"/>
                    <a:gd name="connsiteX34" fmla="*/ 15414 w 604256"/>
                    <a:gd name="connsiteY34" fmla="*/ 125214 h 531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604256" h="531895">
                      <a:moveTo>
                        <a:pt x="18335" y="334272"/>
                      </a:moveTo>
                      <a:cubicBezTo>
                        <a:pt x="24642" y="332369"/>
                        <a:pt x="31682" y="332881"/>
                        <a:pt x="37988" y="336249"/>
                      </a:cubicBezTo>
                      <a:lnTo>
                        <a:pt x="302130" y="476833"/>
                      </a:lnTo>
                      <a:lnTo>
                        <a:pt x="566126" y="336249"/>
                      </a:lnTo>
                      <a:cubicBezTo>
                        <a:pt x="578739" y="329513"/>
                        <a:pt x="594432" y="334199"/>
                        <a:pt x="601178" y="346793"/>
                      </a:cubicBezTo>
                      <a:cubicBezTo>
                        <a:pt x="607925" y="359387"/>
                        <a:pt x="603085" y="375056"/>
                        <a:pt x="590619" y="381793"/>
                      </a:cubicBezTo>
                      <a:lnTo>
                        <a:pt x="314303" y="528820"/>
                      </a:lnTo>
                      <a:cubicBezTo>
                        <a:pt x="310490" y="530870"/>
                        <a:pt x="306383" y="531895"/>
                        <a:pt x="302130" y="531895"/>
                      </a:cubicBezTo>
                      <a:cubicBezTo>
                        <a:pt x="297877" y="531895"/>
                        <a:pt x="293770" y="530870"/>
                        <a:pt x="289957" y="528820"/>
                      </a:cubicBezTo>
                      <a:lnTo>
                        <a:pt x="13641" y="381793"/>
                      </a:lnTo>
                      <a:cubicBezTo>
                        <a:pt x="1028" y="375056"/>
                        <a:pt x="-3665" y="359387"/>
                        <a:pt x="3082" y="346793"/>
                      </a:cubicBezTo>
                      <a:cubicBezTo>
                        <a:pt x="6455" y="340496"/>
                        <a:pt x="12028" y="336176"/>
                        <a:pt x="18335" y="334272"/>
                      </a:cubicBezTo>
                      <a:close/>
                      <a:moveTo>
                        <a:pt x="18335" y="233364"/>
                      </a:moveTo>
                      <a:cubicBezTo>
                        <a:pt x="24642" y="231461"/>
                        <a:pt x="31682" y="231973"/>
                        <a:pt x="37988" y="235341"/>
                      </a:cubicBezTo>
                      <a:lnTo>
                        <a:pt x="302130" y="375925"/>
                      </a:lnTo>
                      <a:lnTo>
                        <a:pt x="566126" y="235341"/>
                      </a:lnTo>
                      <a:cubicBezTo>
                        <a:pt x="578739" y="228605"/>
                        <a:pt x="594432" y="233291"/>
                        <a:pt x="601178" y="245885"/>
                      </a:cubicBezTo>
                      <a:cubicBezTo>
                        <a:pt x="607925" y="258479"/>
                        <a:pt x="603085" y="274148"/>
                        <a:pt x="590619" y="280885"/>
                      </a:cubicBezTo>
                      <a:lnTo>
                        <a:pt x="314303" y="428058"/>
                      </a:lnTo>
                      <a:cubicBezTo>
                        <a:pt x="310490" y="430108"/>
                        <a:pt x="306383" y="430987"/>
                        <a:pt x="302130" y="430987"/>
                      </a:cubicBezTo>
                      <a:cubicBezTo>
                        <a:pt x="297877" y="430987"/>
                        <a:pt x="293770" y="430108"/>
                        <a:pt x="289957" y="428058"/>
                      </a:cubicBezTo>
                      <a:lnTo>
                        <a:pt x="13641" y="280885"/>
                      </a:lnTo>
                      <a:cubicBezTo>
                        <a:pt x="1028" y="274148"/>
                        <a:pt x="-3665" y="258479"/>
                        <a:pt x="3082" y="245885"/>
                      </a:cubicBezTo>
                      <a:cubicBezTo>
                        <a:pt x="6455" y="239588"/>
                        <a:pt x="12028" y="235268"/>
                        <a:pt x="18335" y="233364"/>
                      </a:cubicBezTo>
                      <a:close/>
                      <a:moveTo>
                        <a:pt x="291571" y="2196"/>
                      </a:moveTo>
                      <a:cubicBezTo>
                        <a:pt x="298317" y="-733"/>
                        <a:pt x="305943" y="-733"/>
                        <a:pt x="312689" y="2196"/>
                      </a:cubicBezTo>
                      <a:lnTo>
                        <a:pt x="588846" y="125214"/>
                      </a:lnTo>
                      <a:cubicBezTo>
                        <a:pt x="597938" y="129315"/>
                        <a:pt x="603805" y="138102"/>
                        <a:pt x="604245" y="147914"/>
                      </a:cubicBezTo>
                      <a:cubicBezTo>
                        <a:pt x="604538" y="157726"/>
                        <a:pt x="599258" y="166953"/>
                        <a:pt x="590605" y="171639"/>
                      </a:cubicBezTo>
                      <a:lnTo>
                        <a:pt x="314303" y="318676"/>
                      </a:lnTo>
                      <a:cubicBezTo>
                        <a:pt x="310489" y="320726"/>
                        <a:pt x="306383" y="321751"/>
                        <a:pt x="302130" y="321751"/>
                      </a:cubicBezTo>
                      <a:cubicBezTo>
                        <a:pt x="297877" y="321751"/>
                        <a:pt x="293771" y="320726"/>
                        <a:pt x="289957" y="318676"/>
                      </a:cubicBezTo>
                      <a:lnTo>
                        <a:pt x="13654" y="171639"/>
                      </a:lnTo>
                      <a:cubicBezTo>
                        <a:pt x="5002" y="166953"/>
                        <a:pt x="-278" y="157726"/>
                        <a:pt x="15" y="147914"/>
                      </a:cubicBezTo>
                      <a:cubicBezTo>
                        <a:pt x="309" y="138102"/>
                        <a:pt x="6322" y="129315"/>
                        <a:pt x="15414" y="125214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3175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i="1">
                    <a:solidFill>
                      <a:schemeClr val="tx1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endParaRPr>
                </a:p>
              </p:txBody>
            </p:sp>
          </p:grpSp>
          <p:cxnSp>
            <p:nvCxnSpPr>
              <p:cNvPr id="8" name="直接连接符 29"/>
              <p:cNvCxnSpPr>
                <a:stCxn id="15" idx="0"/>
              </p:cNvCxnSpPr>
              <p:nvPr/>
            </p:nvCxnSpPr>
            <p:spPr>
              <a:xfrm flipH="1" flipV="1">
                <a:off x="7102328" y="1839656"/>
                <a:ext cx="0" cy="159867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30"/>
              <p:cNvCxnSpPr>
                <a:stCxn id="15" idx="4"/>
              </p:cNvCxnSpPr>
              <p:nvPr/>
            </p:nvCxnSpPr>
            <p:spPr>
              <a:xfrm flipH="1">
                <a:off x="7100876" y="3018312"/>
                <a:ext cx="0" cy="171493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prstDash val="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 userDrawn="1"/>
        </p:nvGrpSpPr>
        <p:grpSpPr>
          <a:xfrm>
            <a:off x="5545405" y="3116002"/>
            <a:ext cx="1369104" cy="1386099"/>
            <a:chOff x="6514383" y="4094314"/>
            <a:chExt cx="1369104" cy="1386099"/>
          </a:xfrm>
        </p:grpSpPr>
        <p:cxnSp>
          <p:nvCxnSpPr>
            <p:cNvPr id="22" name="直接连接符 24"/>
            <p:cNvCxnSpPr>
              <a:stCxn id="15" idx="5"/>
            </p:cNvCxnSpPr>
            <p:nvPr/>
          </p:nvCxnSpPr>
          <p:spPr>
            <a:xfrm>
              <a:off x="6514383" y="4094314"/>
              <a:ext cx="319602" cy="32069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ï$ļîḓé"/>
            <p:cNvSpPr/>
            <p:nvPr/>
          </p:nvSpPr>
          <p:spPr bwMode="auto">
            <a:xfrm>
              <a:off x="6544964" y="4141890"/>
              <a:ext cx="1338523" cy="1338523"/>
            </a:xfrm>
            <a:custGeom>
              <a:avLst/>
              <a:gdLst>
                <a:gd name="T0" fmla="*/ 277 w 966"/>
                <a:gd name="T1" fmla="*/ 966 h 966"/>
                <a:gd name="T2" fmla="*/ 0 w 966"/>
                <a:gd name="T3" fmla="*/ 362 h 966"/>
                <a:gd name="T4" fmla="*/ 360 w 966"/>
                <a:gd name="T5" fmla="*/ 0 h 966"/>
                <a:gd name="T6" fmla="*/ 966 w 966"/>
                <a:gd name="T7" fmla="*/ 275 h 966"/>
                <a:gd name="T8" fmla="*/ 277 w 966"/>
                <a:gd name="T9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6" h="966">
                  <a:moveTo>
                    <a:pt x="277" y="966"/>
                  </a:moveTo>
                  <a:cubicBezTo>
                    <a:pt x="0" y="362"/>
                    <a:pt x="0" y="362"/>
                    <a:pt x="0" y="362"/>
                  </a:cubicBezTo>
                  <a:cubicBezTo>
                    <a:pt x="160" y="289"/>
                    <a:pt x="287" y="160"/>
                    <a:pt x="360" y="0"/>
                  </a:cubicBezTo>
                  <a:cubicBezTo>
                    <a:pt x="966" y="275"/>
                    <a:pt x="966" y="275"/>
                    <a:pt x="966" y="275"/>
                  </a:cubicBezTo>
                  <a:cubicBezTo>
                    <a:pt x="827" y="581"/>
                    <a:pt x="582" y="826"/>
                    <a:pt x="277" y="966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3</a:t>
              </a:r>
              <a:endParaRPr lang="en-US" sz="3200" b="1" i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5592601" y="3118510"/>
            <a:ext cx="1398940" cy="1368340"/>
            <a:chOff x="6454143" y="2103525"/>
            <a:chExt cx="1398940" cy="1368340"/>
          </a:xfrm>
        </p:grpSpPr>
        <p:cxnSp>
          <p:nvCxnSpPr>
            <p:cNvPr id="25" name="直接连接符 25"/>
            <p:cNvCxnSpPr/>
            <p:nvPr/>
          </p:nvCxnSpPr>
          <p:spPr>
            <a:xfrm flipV="1">
              <a:off x="6454143" y="3100189"/>
              <a:ext cx="329414" cy="37167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ïsļîḍè"/>
            <p:cNvSpPr/>
            <p:nvPr/>
          </p:nvSpPr>
          <p:spPr bwMode="auto">
            <a:xfrm>
              <a:off x="6514560" y="2103525"/>
              <a:ext cx="1338523" cy="1338523"/>
            </a:xfrm>
            <a:custGeom>
              <a:avLst/>
              <a:gdLst>
                <a:gd name="T0" fmla="*/ 362 w 966"/>
                <a:gd name="T1" fmla="*/ 965 h 965"/>
                <a:gd name="T2" fmla="*/ 0 w 966"/>
                <a:gd name="T3" fmla="*/ 606 h 965"/>
                <a:gd name="T4" fmla="*/ 274 w 966"/>
                <a:gd name="T5" fmla="*/ 0 h 965"/>
                <a:gd name="T6" fmla="*/ 966 w 966"/>
                <a:gd name="T7" fmla="*/ 687 h 965"/>
                <a:gd name="T8" fmla="*/ 362 w 966"/>
                <a:gd name="T9" fmla="*/ 965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6" h="965">
                  <a:moveTo>
                    <a:pt x="362" y="965"/>
                  </a:moveTo>
                  <a:cubicBezTo>
                    <a:pt x="289" y="806"/>
                    <a:pt x="160" y="678"/>
                    <a:pt x="0" y="606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580" y="138"/>
                    <a:pt x="826" y="383"/>
                    <a:pt x="966" y="687"/>
                  </a:cubicBezTo>
                  <a:cubicBezTo>
                    <a:pt x="362" y="965"/>
                    <a:pt x="362" y="965"/>
                    <a:pt x="362" y="965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2</a:t>
              </a:r>
              <a:endParaRPr lang="en-US" sz="3200" b="1" i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5452486" y="3081808"/>
            <a:ext cx="1379658" cy="1382108"/>
            <a:chOff x="4409410" y="1883359"/>
            <a:chExt cx="1379658" cy="1382108"/>
          </a:xfrm>
        </p:grpSpPr>
        <p:cxnSp>
          <p:nvCxnSpPr>
            <p:cNvPr id="28" name="直接连接符 23"/>
            <p:cNvCxnSpPr/>
            <p:nvPr/>
          </p:nvCxnSpPr>
          <p:spPr>
            <a:xfrm flipH="1" flipV="1">
              <a:off x="5422598" y="2898997"/>
              <a:ext cx="366470" cy="36647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îṡ1íḍè"/>
            <p:cNvSpPr/>
            <p:nvPr/>
          </p:nvSpPr>
          <p:spPr bwMode="auto">
            <a:xfrm>
              <a:off x="4409410" y="1883359"/>
              <a:ext cx="1338523" cy="1338523"/>
            </a:xfrm>
            <a:custGeom>
              <a:avLst/>
              <a:gdLst>
                <a:gd name="T0" fmla="*/ 606 w 965"/>
                <a:gd name="T1" fmla="*/ 966 h 966"/>
                <a:gd name="T2" fmla="*/ 0 w 965"/>
                <a:gd name="T3" fmla="*/ 692 h 966"/>
                <a:gd name="T4" fmla="*/ 688 w 965"/>
                <a:gd name="T5" fmla="*/ 0 h 966"/>
                <a:gd name="T6" fmla="*/ 965 w 965"/>
                <a:gd name="T7" fmla="*/ 604 h 966"/>
                <a:gd name="T8" fmla="*/ 606 w 965"/>
                <a:gd name="T9" fmla="*/ 966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5" h="966">
                  <a:moveTo>
                    <a:pt x="606" y="966"/>
                  </a:moveTo>
                  <a:cubicBezTo>
                    <a:pt x="0" y="692"/>
                    <a:pt x="0" y="692"/>
                    <a:pt x="0" y="692"/>
                  </a:cubicBezTo>
                  <a:cubicBezTo>
                    <a:pt x="139" y="386"/>
                    <a:pt x="383" y="140"/>
                    <a:pt x="688" y="0"/>
                  </a:cubicBezTo>
                  <a:cubicBezTo>
                    <a:pt x="965" y="604"/>
                    <a:pt x="965" y="604"/>
                    <a:pt x="965" y="604"/>
                  </a:cubicBezTo>
                  <a:cubicBezTo>
                    <a:pt x="806" y="677"/>
                    <a:pt x="678" y="806"/>
                    <a:pt x="606" y="966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1</a:t>
              </a:r>
              <a:endParaRPr lang="en-US" sz="3200" b="1" i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8159120" y="2202412"/>
            <a:ext cx="639901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方便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矩形 47"/>
          <p:cNvSpPr>
            <a:spLocks noChangeArrowheads="1"/>
          </p:cNvSpPr>
          <p:nvPr userDrawn="1"/>
        </p:nvSpPr>
        <p:spPr bwMode="auto">
          <a:xfrm>
            <a:off x="8158582" y="2571736"/>
            <a:ext cx="3043118" cy="59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对数据卷做出的任何修改，会直接作用于容器，并且在容器内可见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3528821" y="2212731"/>
            <a:ext cx="63990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>
              <a:buFont typeface="Arial" panose="020B0604020202020204" pitchFamily="34" charset="0"/>
              <a:buNone/>
              <a:defRPr/>
            </a:pPr>
            <a:r>
              <a:rPr lang="zh-CN" altLang="en-US" b="1">
                <a:solidFill>
                  <a:srgbClr val="0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共享</a:t>
            </a:r>
            <a:endParaRPr lang="en-US" altLang="zh-CN" b="1" dirty="0">
              <a:solidFill>
                <a:srgbClr val="0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3" name="矩形 47"/>
          <p:cNvSpPr>
            <a:spLocks noChangeArrowheads="1"/>
          </p:cNvSpPr>
          <p:nvPr userDrawn="1"/>
        </p:nvSpPr>
        <p:spPr bwMode="auto">
          <a:xfrm>
            <a:off x="1042039" y="2580168"/>
            <a:ext cx="3126682" cy="307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buNone/>
            </a:pPr>
            <a:r>
              <a:rPr lang="zh-CN" altLang="en-US" sz="1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数据卷可以在多个容器间共享和复用</a:t>
            </a:r>
            <a:endParaRPr lang="zh-CN" altLang="en-US" sz="1400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8149972" y="4383231"/>
            <a:ext cx="639901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解耦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 47"/>
          <p:cNvSpPr>
            <a:spLocks noChangeArrowheads="1"/>
          </p:cNvSpPr>
          <p:nvPr userDrawn="1"/>
        </p:nvSpPr>
        <p:spPr bwMode="auto">
          <a:xfrm>
            <a:off x="8155776" y="4735137"/>
            <a:ext cx="3043118" cy="59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数据卷是挂载在容器外的目录，修改数据卷不会影响容器关联的镜像</a:t>
            </a:r>
          </a:p>
        </p:txBody>
      </p:sp>
      <p:sp>
        <p:nvSpPr>
          <p:cNvPr id="36" name="矩形 35"/>
          <p:cNvSpPr/>
          <p:nvPr userDrawn="1"/>
        </p:nvSpPr>
        <p:spPr>
          <a:xfrm>
            <a:off x="3051632" y="4379914"/>
            <a:ext cx="1095154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数据安全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矩形 47"/>
          <p:cNvSpPr>
            <a:spLocks noChangeArrowheads="1"/>
          </p:cNvSpPr>
          <p:nvPr userDrawn="1"/>
        </p:nvSpPr>
        <p:spPr bwMode="auto">
          <a:xfrm>
            <a:off x="1020104" y="4747351"/>
            <a:ext cx="3126682" cy="59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微软雅黑" panose="020B0503020204020204" pitchFamily="34" charset="-122"/>
              </a:rPr>
              <a:t>对数据卷的修改会报存在宿主机，不会随着容器的删除而删除</a:t>
            </a:r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5514236" y="3107716"/>
            <a:ext cx="1375787" cy="1437933"/>
            <a:chOff x="4338917" y="4192840"/>
            <a:chExt cx="1375787" cy="1437933"/>
          </a:xfrm>
        </p:grpSpPr>
        <p:cxnSp>
          <p:nvCxnSpPr>
            <p:cNvPr id="39" name="直接连接符 27"/>
            <p:cNvCxnSpPr/>
            <p:nvPr/>
          </p:nvCxnSpPr>
          <p:spPr>
            <a:xfrm flipH="1">
              <a:off x="5348234" y="4192840"/>
              <a:ext cx="366470" cy="36065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ísḷíďê"/>
            <p:cNvSpPr/>
            <p:nvPr/>
          </p:nvSpPr>
          <p:spPr bwMode="auto">
            <a:xfrm>
              <a:off x="4338917" y="4292250"/>
              <a:ext cx="1338523" cy="1338523"/>
            </a:xfrm>
            <a:custGeom>
              <a:avLst/>
              <a:gdLst>
                <a:gd name="T0" fmla="*/ 691 w 966"/>
                <a:gd name="T1" fmla="*/ 965 h 965"/>
                <a:gd name="T2" fmla="*/ 0 w 966"/>
                <a:gd name="T3" fmla="*/ 277 h 965"/>
                <a:gd name="T4" fmla="*/ 604 w 966"/>
                <a:gd name="T5" fmla="*/ 0 h 965"/>
                <a:gd name="T6" fmla="*/ 966 w 966"/>
                <a:gd name="T7" fmla="*/ 360 h 965"/>
                <a:gd name="T8" fmla="*/ 691 w 966"/>
                <a:gd name="T9" fmla="*/ 965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6" h="965">
                  <a:moveTo>
                    <a:pt x="691" y="965"/>
                  </a:moveTo>
                  <a:cubicBezTo>
                    <a:pt x="385" y="826"/>
                    <a:pt x="140" y="582"/>
                    <a:pt x="0" y="277"/>
                  </a:cubicBezTo>
                  <a:cubicBezTo>
                    <a:pt x="604" y="0"/>
                    <a:pt x="604" y="0"/>
                    <a:pt x="604" y="0"/>
                  </a:cubicBezTo>
                  <a:cubicBezTo>
                    <a:pt x="677" y="159"/>
                    <a:pt x="805" y="287"/>
                    <a:pt x="966" y="360"/>
                  </a:cubicBezTo>
                  <a:cubicBezTo>
                    <a:pt x="691" y="965"/>
                    <a:pt x="691" y="965"/>
                    <a:pt x="691" y="965"/>
                  </a:cubicBezTo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4</a:t>
              </a:r>
              <a:endParaRPr lang="en-US" sz="3200" b="1" i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42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 L -0.08881 -0.16389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40" y="-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0.0763 -0.17037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-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0.08359 0.14954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0" y="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7037E-7 L -0.09192 0.13958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96" y="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级文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40910" y="2444536"/>
            <a:ext cx="2296498" cy="2741239"/>
            <a:chOff x="1640910" y="2444536"/>
            <a:chExt cx="2296498" cy="2741239"/>
          </a:xfrm>
        </p:grpSpPr>
        <p:grpSp>
          <p:nvGrpSpPr>
            <p:cNvPr id="4" name="组合 3"/>
            <p:cNvGrpSpPr/>
            <p:nvPr/>
          </p:nvGrpSpPr>
          <p:grpSpPr>
            <a:xfrm>
              <a:off x="1640910" y="2450369"/>
              <a:ext cx="2296498" cy="2735406"/>
              <a:chOff x="1640910" y="2450369"/>
              <a:chExt cx="2296498" cy="2735406"/>
            </a:xfrm>
          </p:grpSpPr>
          <p:sp>
            <p:nvSpPr>
              <p:cNvPr id="6" name="矩形: 圆角 5"/>
              <p:cNvSpPr/>
              <p:nvPr/>
            </p:nvSpPr>
            <p:spPr>
              <a:xfrm>
                <a:off x="3569765" y="3963820"/>
                <a:ext cx="367643" cy="107754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127000" dist="88900" algn="l" rotWithShape="0">
                  <a:srgbClr val="00B0F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: 圆角 6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793631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00B0F0"/>
                    </a:solidFill>
                  </a:rPr>
                  <a:t>不便于修改</a:t>
                </a:r>
                <a:endParaRPr lang="zh-CN" altLang="en-US" sz="1600" dirty="0">
                  <a:solidFill>
                    <a:srgbClr val="00B0F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798000" y="4003203"/>
                <a:ext cx="1946031" cy="646331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当我们要修改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Nginx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的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html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内容时，需要进入容器内部修改，很不方便。</a:t>
                </a:r>
              </a:p>
            </p:txBody>
          </p:sp>
        </p:grpSp>
        <p:sp>
          <p:nvSpPr>
            <p:cNvPr id="5" name="任意多边形: 形状 4"/>
            <p:cNvSpPr/>
            <p:nvPr/>
          </p:nvSpPr>
          <p:spPr>
            <a:xfrm>
              <a:off x="1640910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01</a:t>
              </a:r>
              <a:endParaRPr lang="zh-CN" altLang="en-US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5022285" y="2444536"/>
            <a:ext cx="2306658" cy="2741239"/>
            <a:chOff x="5022285" y="2444536"/>
            <a:chExt cx="2306658" cy="2741239"/>
          </a:xfrm>
        </p:grpSpPr>
        <p:grpSp>
          <p:nvGrpSpPr>
            <p:cNvPr id="11" name="组合 10"/>
            <p:cNvGrpSpPr/>
            <p:nvPr/>
          </p:nvGrpSpPr>
          <p:grpSpPr>
            <a:xfrm>
              <a:off x="5022285" y="2450369"/>
              <a:ext cx="2306658" cy="2735406"/>
              <a:chOff x="1640910" y="2450369"/>
              <a:chExt cx="2306658" cy="2735406"/>
            </a:xfrm>
          </p:grpSpPr>
          <p:sp>
            <p:nvSpPr>
              <p:cNvPr id="13" name="矩形: 圆角 12"/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rgbClr val="E608B6"/>
              </a:solidFill>
              <a:ln>
                <a:noFill/>
              </a:ln>
              <a:effectLst>
                <a:outerShdw blurRad="127000" dist="88900" algn="l" rotWithShape="0">
                  <a:srgbClr val="E608B6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: 圆角 13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768608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E608B6"/>
                    </a:solidFill>
                    <a:latin typeface="+mn-lt"/>
                    <a:ea typeface="+mn-ea"/>
                  </a:rPr>
                  <a:t>数据不安全</a:t>
                </a:r>
                <a:endParaRPr lang="zh-CN" altLang="en-US" sz="1600" dirty="0">
                  <a:solidFill>
                    <a:srgbClr val="E608B6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791192" y="3938954"/>
                <a:ext cx="1946031" cy="1174424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对容器版本升级时，需要删除容器，那么之前容器记录的数据会随之删除，一切数据都丢失了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.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" name="任意多边形: 形状 11"/>
            <p:cNvSpPr/>
            <p:nvPr/>
          </p:nvSpPr>
          <p:spPr>
            <a:xfrm>
              <a:off x="5022285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E608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02</a:t>
              </a:r>
              <a:endParaRPr lang="zh-CN" altLang="en-US"/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8434078" y="2447405"/>
            <a:ext cx="2306658" cy="2738370"/>
            <a:chOff x="8434078" y="2447405"/>
            <a:chExt cx="2306658" cy="2738370"/>
          </a:xfrm>
        </p:grpSpPr>
        <p:grpSp>
          <p:nvGrpSpPr>
            <p:cNvPr id="18" name="组合 17"/>
            <p:cNvGrpSpPr/>
            <p:nvPr/>
          </p:nvGrpSpPr>
          <p:grpSpPr>
            <a:xfrm>
              <a:off x="8434078" y="2450369"/>
              <a:ext cx="2306658" cy="2735406"/>
              <a:chOff x="1640910" y="2450369"/>
              <a:chExt cx="2306658" cy="2735406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  <a:effectLst>
                <a:outerShdw blurRad="127000" dist="88900" algn="l" rotWithShape="0">
                  <a:srgbClr val="00B05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793631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00B050"/>
                    </a:solidFill>
                    <a:latin typeface="+mn-lt"/>
                    <a:ea typeface="+mn-ea"/>
                  </a:rPr>
                  <a:t>体积过大</a:t>
                </a:r>
                <a:endParaRPr lang="zh-CN" altLang="en-US" sz="1600" dirty="0">
                  <a:solidFill>
                    <a:srgbClr val="00B05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793631" y="4003203"/>
                <a:ext cx="1946031" cy="620426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随着容器内记录的数据越来越多，容器体积会越来越大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任意多边形: 形状 18"/>
            <p:cNvSpPr/>
            <p:nvPr/>
          </p:nvSpPr>
          <p:spPr>
            <a:xfrm>
              <a:off x="8434078" y="2447405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03</a:t>
              </a:r>
              <a:endParaRPr lang="zh-CN" altLang="en-US"/>
            </a:p>
          </p:txBody>
        </p:sp>
      </p:grpSp>
      <p:sp>
        <p:nvSpPr>
          <p:cNvPr id="2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eaLnBrk="1" fontAlgn="base" hangingPunct="1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20.png"/><Relationship Id="rId10" Type="http://schemas.openxmlformats.org/officeDocument/2006/relationships/image" Target="../media/image21.png"/><Relationship Id="rId4" Type="http://schemas.microsoft.com/office/2007/relationships/hdphoto" Target="../media/hdphoto2.wdp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c.163yun.com/hub#/home" TargetMode="Externa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4.png"/><Relationship Id="rId5" Type="http://schemas.openxmlformats.org/officeDocument/2006/relationships/image" Target="../media/image11.png"/><Relationship Id="rId4" Type="http://schemas.openxmlformats.org/officeDocument/2006/relationships/hyperlink" Target="https://cr.console.aliyun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reference/builder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50.101:8090/hello/cou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docs.docker.com/compose/compose-file/" TargetMode="Externa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c.163.com/hub#/m/library" TargetMode="External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.console.aliyun.com/" TargetMode="External"/><Relationship Id="rId4" Type="http://schemas.openxmlformats.org/officeDocument/2006/relationships/hyperlink" Target="https://hub.daocloud.io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Docker</a:t>
            </a:r>
            <a:endParaRPr kumimoji="1"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初识</a:t>
            </a:r>
            <a:r>
              <a:rPr lang="en-US" altLang="zh-CN"/>
              <a:t>Docker</a:t>
            </a:r>
          </a:p>
          <a:p>
            <a:r>
              <a:rPr lang="en-US" altLang="zh-CN"/>
              <a:t>Docker</a:t>
            </a:r>
            <a:r>
              <a:rPr lang="zh-CN" altLang="en-US"/>
              <a:t>的基本操作</a:t>
            </a:r>
            <a:endParaRPr lang="en-US" altLang="zh-CN"/>
          </a:p>
          <a:p>
            <a:r>
              <a:rPr kumimoji="1" lang="en-US" altLang="zh-CN"/>
              <a:t>Dockerfile</a:t>
            </a:r>
            <a:r>
              <a:rPr kumimoji="1" lang="zh-CN" altLang="en-US"/>
              <a:t>自定义镜像</a:t>
            </a:r>
            <a:endParaRPr kumimoji="1" lang="en-US" altLang="zh-CN"/>
          </a:p>
          <a:p>
            <a:r>
              <a:rPr kumimoji="1" lang="en-US" altLang="zh-CN"/>
              <a:t>Docker-Compose</a:t>
            </a:r>
          </a:p>
          <a:p>
            <a:r>
              <a:rPr kumimoji="1" lang="en-US" altLang="zh-CN"/>
              <a:t>Docker</a:t>
            </a:r>
            <a:r>
              <a:rPr kumimoji="1" lang="zh-CN" altLang="en-US"/>
              <a:t>镜像仓库</a:t>
            </a:r>
            <a:endParaRPr kumimoji="1" lang="en-US" altLang="zh-CN"/>
          </a:p>
          <a:p>
            <a:endParaRPr kumimoji="1"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Docker</a:t>
            </a:r>
          </a:p>
          <a:p>
            <a:r>
              <a:rPr lang="en-US" altLang="zh-CN"/>
              <a:t>Docker</a:t>
            </a:r>
            <a:r>
              <a:rPr lang="zh-CN" altLang="en-US"/>
              <a:t>和虚拟机的区别</a:t>
            </a:r>
            <a:endParaRPr lang="en-US" altLang="zh-CN"/>
          </a:p>
          <a:p>
            <a:r>
              <a:rPr lang="en-US" altLang="zh-CN"/>
              <a:t>Docker</a:t>
            </a:r>
            <a:r>
              <a:rPr lang="zh-CN" altLang="en-US"/>
              <a:t>架构</a:t>
            </a:r>
            <a:endParaRPr lang="en-US" altLang="zh-CN"/>
          </a:p>
          <a:p>
            <a:r>
              <a:rPr lang="zh-CN" altLang="en-US"/>
              <a:t>安装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hat is Fire? - How Fire Works | HowStuffWorks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45" b="98446" l="2759" r="95172">
                        <a14:foregroundMark x1="8621" y1="89119" x2="22069" y2="92746"/>
                        <a14:foregroundMark x1="22069" y1="92746" x2="48621" y2="91710"/>
                        <a14:foregroundMark x1="48621" y1="91710" x2="80345" y2="92746"/>
                        <a14:foregroundMark x1="90690" y1="51295" x2="89655" y2="69430"/>
                        <a14:foregroundMark x1="89655" y1="69430" x2="87586" y2="72021"/>
                        <a14:foregroundMark x1="2759" y1="98446" x2="5517" y2="91710"/>
                        <a14:foregroundMark x1="93793" y1="52332" x2="95172" y2="63731"/>
                        <a14:foregroundMark x1="50690" y1="59585" x2="50690" y2="59585"/>
                        <a14:foregroundMark x1="51724" y1="63731" x2="51724" y2="63731"/>
                        <a14:backgroundMark x1="46897" y1="69430" x2="47931" y2="75130"/>
                        <a14:backgroundMark x1="48276" y1="78238" x2="48276" y2="782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008" y="3247725"/>
            <a:ext cx="4456921" cy="187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项目部署的问题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2653205"/>
          </a:xfrm>
        </p:spPr>
        <p:txBody>
          <a:bodyPr/>
          <a:lstStyle/>
          <a:p>
            <a:r>
              <a:rPr lang="zh-CN" altLang="en-US"/>
              <a:t>大型项目组件较多，运行环境也较为复杂，部署时会碰到一些问题：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依赖关系复杂，容易出现兼容性问题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开发、测试、生产环境有差异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31" y="2371921"/>
            <a:ext cx="860680" cy="860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667" y="2371921"/>
            <a:ext cx="886500" cy="860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375" y="2371921"/>
            <a:ext cx="860680" cy="860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23" y="2371921"/>
            <a:ext cx="860680" cy="86068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5785724" y="5553820"/>
            <a:ext cx="5047333" cy="36454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Linux</a:t>
            </a:r>
            <a:r>
              <a:rPr lang="zh-CN" altLang="en-US" sz="1400"/>
              <a:t>操作系统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785722" y="6035273"/>
            <a:ext cx="5047333" cy="34348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342335" y="4426116"/>
            <a:ext cx="587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gcc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47619" y="4426116"/>
            <a:ext cx="73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epel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45639" y="4426116"/>
            <a:ext cx="73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scoat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49871" y="4426116"/>
            <a:ext cx="73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glibc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44376" y="4426116"/>
            <a:ext cx="12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libstdc++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104925" y="4426116"/>
            <a:ext cx="108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binutils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5785723" y="5046172"/>
            <a:ext cx="2406555" cy="3645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Libraries</a:t>
            </a:r>
            <a:endParaRPr lang="zh-CN" altLang="en-US" sz="1400"/>
          </a:p>
        </p:txBody>
      </p:sp>
      <p:sp>
        <p:nvSpPr>
          <p:cNvPr id="23" name="矩形: 圆角 22"/>
          <p:cNvSpPr/>
          <p:nvPr/>
        </p:nvSpPr>
        <p:spPr>
          <a:xfrm>
            <a:off x="8426500" y="5046172"/>
            <a:ext cx="2406555" cy="3645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Dependencies</a:t>
            </a:r>
            <a:endParaRPr lang="zh-CN" altLang="en-US" sz="1400"/>
          </a:p>
        </p:txBody>
      </p:sp>
      <p:cxnSp>
        <p:nvCxnSpPr>
          <p:cNvPr id="25" name="直接箭头连接符 24"/>
          <p:cNvCxnSpPr>
            <a:endCxn id="22" idx="0"/>
          </p:cNvCxnSpPr>
          <p:nvPr/>
        </p:nvCxnSpPr>
        <p:spPr>
          <a:xfrm>
            <a:off x="6222124" y="3232601"/>
            <a:ext cx="766877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23" idx="0"/>
          </p:cNvCxnSpPr>
          <p:nvPr/>
        </p:nvCxnSpPr>
        <p:spPr>
          <a:xfrm>
            <a:off x="6222124" y="3232601"/>
            <a:ext cx="3407654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8" idx="2"/>
            <a:endCxn id="22" idx="0"/>
          </p:cNvCxnSpPr>
          <p:nvPr/>
        </p:nvCxnSpPr>
        <p:spPr>
          <a:xfrm flipH="1">
            <a:off x="6989001" y="3232601"/>
            <a:ext cx="626916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6" idx="2"/>
            <a:endCxn id="22" idx="0"/>
          </p:cNvCxnSpPr>
          <p:nvPr/>
        </p:nvCxnSpPr>
        <p:spPr>
          <a:xfrm flipH="1">
            <a:off x="6989001" y="3232601"/>
            <a:ext cx="2026770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" idx="2"/>
            <a:endCxn id="22" idx="0"/>
          </p:cNvCxnSpPr>
          <p:nvPr/>
        </p:nvCxnSpPr>
        <p:spPr>
          <a:xfrm flipH="1">
            <a:off x="6989001" y="3232601"/>
            <a:ext cx="3413714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0" idx="2"/>
            <a:endCxn id="23" idx="0"/>
          </p:cNvCxnSpPr>
          <p:nvPr/>
        </p:nvCxnSpPr>
        <p:spPr>
          <a:xfrm flipH="1">
            <a:off x="9629778" y="3232601"/>
            <a:ext cx="772937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6" idx="2"/>
            <a:endCxn id="23" idx="0"/>
          </p:cNvCxnSpPr>
          <p:nvPr/>
        </p:nvCxnSpPr>
        <p:spPr>
          <a:xfrm>
            <a:off x="9015771" y="3232601"/>
            <a:ext cx="614007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8" idx="2"/>
            <a:endCxn id="23" idx="0"/>
          </p:cNvCxnSpPr>
          <p:nvPr/>
        </p:nvCxnSpPr>
        <p:spPr>
          <a:xfrm>
            <a:off x="7615917" y="3232601"/>
            <a:ext cx="2013861" cy="181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2" idx="2"/>
            <a:endCxn id="14" idx="0"/>
          </p:cNvCxnSpPr>
          <p:nvPr/>
        </p:nvCxnSpPr>
        <p:spPr>
          <a:xfrm>
            <a:off x="6216063" y="3232601"/>
            <a:ext cx="2093328" cy="232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8" idx="2"/>
            <a:endCxn id="14" idx="0"/>
          </p:cNvCxnSpPr>
          <p:nvPr/>
        </p:nvCxnSpPr>
        <p:spPr>
          <a:xfrm>
            <a:off x="7615917" y="3232601"/>
            <a:ext cx="693474" cy="232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6" idx="2"/>
            <a:endCxn id="14" idx="0"/>
          </p:cNvCxnSpPr>
          <p:nvPr/>
        </p:nvCxnSpPr>
        <p:spPr>
          <a:xfrm flipH="1">
            <a:off x="8309391" y="3232601"/>
            <a:ext cx="706380" cy="232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0" idx="2"/>
            <a:endCxn id="14" idx="0"/>
          </p:cNvCxnSpPr>
          <p:nvPr/>
        </p:nvCxnSpPr>
        <p:spPr>
          <a:xfrm flipH="1">
            <a:off x="8309391" y="3232601"/>
            <a:ext cx="2093324" cy="232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500"/>
                            </p:stCondLst>
                            <p:childTnLst>
                              <p:par>
                                <p:cTn id="180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10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4242120" cy="1773000"/>
          </a:xfrm>
        </p:spPr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如何解决依赖的兼容问题的？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将应用的</a:t>
            </a:r>
            <a:r>
              <a:rPr lang="en-US" altLang="zh-CN"/>
              <a:t>Libs</a:t>
            </a:r>
            <a:r>
              <a:rPr lang="zh-CN" altLang="en-US"/>
              <a:t>（函数库）、</a:t>
            </a:r>
            <a:r>
              <a:rPr lang="en-US" altLang="zh-CN"/>
              <a:t>Deps</a:t>
            </a:r>
            <a:r>
              <a:rPr lang="zh-CN" altLang="en-US"/>
              <a:t>（依赖）、配置与应用一起打包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将每个应用放到一个隔离</a:t>
            </a:r>
            <a:r>
              <a:rPr lang="zh-CN" altLang="en-US" b="1"/>
              <a:t>容器</a:t>
            </a:r>
            <a:r>
              <a:rPr lang="zh-CN" altLang="en-US"/>
              <a:t>去运行，避免互相干扰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009" y="2371921"/>
            <a:ext cx="686589" cy="68658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956" y="2371921"/>
            <a:ext cx="707186" cy="6865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466" y="2371921"/>
            <a:ext cx="686589" cy="6865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499" y="2371921"/>
            <a:ext cx="686589" cy="686589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5785724" y="5553820"/>
            <a:ext cx="5047333" cy="36454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操作系统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785722" y="6035273"/>
            <a:ext cx="5047333" cy="34348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5785723" y="5046172"/>
            <a:ext cx="2406555" cy="36454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Libraries</a:t>
            </a:r>
            <a:endParaRPr lang="zh-CN" altLang="en-US" sz="1400"/>
          </a:p>
        </p:txBody>
      </p:sp>
      <p:sp>
        <p:nvSpPr>
          <p:cNvPr id="23" name="矩形: 圆角 22"/>
          <p:cNvSpPr/>
          <p:nvPr/>
        </p:nvSpPr>
        <p:spPr>
          <a:xfrm>
            <a:off x="8426500" y="5046172"/>
            <a:ext cx="2406555" cy="3645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Dependencies</a:t>
            </a:r>
            <a:endParaRPr lang="zh-CN" altLang="en-US" sz="1400"/>
          </a:p>
        </p:txBody>
      </p:sp>
      <p:sp>
        <p:nvSpPr>
          <p:cNvPr id="5" name="矩形: 圆角 4"/>
          <p:cNvSpPr/>
          <p:nvPr/>
        </p:nvSpPr>
        <p:spPr>
          <a:xfrm>
            <a:off x="5540828" y="2314138"/>
            <a:ext cx="1165931" cy="2086705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5707699" y="3542877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25" name="矩形: 圆角 24"/>
          <p:cNvSpPr/>
          <p:nvPr/>
        </p:nvSpPr>
        <p:spPr>
          <a:xfrm>
            <a:off x="5707698" y="3891108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26" name="矩形: 圆角 25"/>
          <p:cNvSpPr/>
          <p:nvPr/>
        </p:nvSpPr>
        <p:spPr>
          <a:xfrm>
            <a:off x="6994792" y="2314136"/>
            <a:ext cx="1165931" cy="2086705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8463846" y="2314137"/>
            <a:ext cx="1165931" cy="2086705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9932900" y="2314136"/>
            <a:ext cx="1165931" cy="2086705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/>
        </p:nvSpPr>
        <p:spPr>
          <a:xfrm>
            <a:off x="7161663" y="3542877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30" name="矩形: 圆角 29"/>
          <p:cNvSpPr/>
          <p:nvPr/>
        </p:nvSpPr>
        <p:spPr>
          <a:xfrm>
            <a:off x="7161662" y="3891108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31" name="矩形: 圆角 30"/>
          <p:cNvSpPr/>
          <p:nvPr/>
        </p:nvSpPr>
        <p:spPr>
          <a:xfrm>
            <a:off x="8630716" y="3517589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32" name="矩形: 圆角 31"/>
          <p:cNvSpPr/>
          <p:nvPr/>
        </p:nvSpPr>
        <p:spPr>
          <a:xfrm>
            <a:off x="8630715" y="3865820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33" name="矩形: 圆角 32"/>
          <p:cNvSpPr/>
          <p:nvPr/>
        </p:nvSpPr>
        <p:spPr>
          <a:xfrm>
            <a:off x="10111939" y="3500731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34" name="矩形: 圆角 33"/>
          <p:cNvSpPr/>
          <p:nvPr/>
        </p:nvSpPr>
        <p:spPr>
          <a:xfrm>
            <a:off x="10111938" y="3848962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1.48148E-6 L -0.07318 -0.2222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9" y="-1111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0.28984 -0.171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92" y="-856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5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千亿级流量来袭，如何用硬件加速技术为CPU减负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r="9371" b="282"/>
          <a:stretch>
            <a:fillRect/>
          </a:stretch>
        </p:blipFill>
        <p:spPr bwMode="auto">
          <a:xfrm>
            <a:off x="3466331" y="2371921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图片 36" descr="Announcing the Unity Editor for LinuxLinux に Unity エディターがやってきます - Unity  Technologies Blo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" r="7178"/>
          <a:stretch>
            <a:fillRect/>
          </a:stretch>
        </p:blipFill>
        <p:spPr bwMode="auto">
          <a:xfrm>
            <a:off x="3466329" y="2371921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8069226" cy="517190"/>
          </a:xfrm>
        </p:spPr>
        <p:txBody>
          <a:bodyPr/>
          <a:lstStyle/>
          <a:p>
            <a:r>
              <a:rPr lang="zh-CN" altLang="en-US"/>
              <a:t>不同环境的操作系统不同，</a:t>
            </a:r>
            <a:r>
              <a:rPr lang="en-US" altLang="zh-CN"/>
              <a:t>Docker</a:t>
            </a:r>
            <a:r>
              <a:rPr lang="zh-CN" altLang="en-US"/>
              <a:t>如何解决？我们先来了解下操作系统结构</a:t>
            </a:r>
            <a:endParaRPr lang="en-US" altLang="zh-CN"/>
          </a:p>
        </p:txBody>
      </p:sp>
      <p:pic>
        <p:nvPicPr>
          <p:cNvPr id="1026" name="Picture 2" descr="Ubuntu 18 and Pepper QiSDK Emulator troubleshooting |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327" y="2371921"/>
            <a:ext cx="5642959" cy="3706240"/>
          </a:xfrm>
          <a:prstGeom prst="rect">
            <a:avLst/>
          </a:prstGeom>
          <a:noFill/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37" y="4899615"/>
            <a:ext cx="1018304" cy="1018304"/>
          </a:xfrm>
          <a:prstGeom prst="rect">
            <a:avLst/>
          </a:prstGeom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175" y="4868900"/>
            <a:ext cx="1209261" cy="1209261"/>
          </a:xfrm>
          <a:prstGeom prst="rect">
            <a:avLst/>
          </a:prstGeom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937" y="4868900"/>
            <a:ext cx="1209263" cy="1209263"/>
          </a:xfrm>
          <a:prstGeom prst="rect">
            <a:avLst/>
          </a:prstGeom>
          <a:effectLst>
            <a:outerShdw blurRad="254000" dist="38100" dir="6300000" algn="tl" rotWithShape="0">
              <a:prstClr val="black">
                <a:alpha val="10000"/>
              </a:prstClr>
            </a:outerShdw>
          </a:effectLst>
          <a:scene3d>
            <a:camera prst="perspectiveFront"/>
            <a:lightRig rig="threePt" dir="t"/>
          </a:scene3d>
        </p:spPr>
      </p:pic>
      <p:sp>
        <p:nvSpPr>
          <p:cNvPr id="45" name="标注: 双弯曲线形(无边框) 44"/>
          <p:cNvSpPr/>
          <p:nvPr/>
        </p:nvSpPr>
        <p:spPr>
          <a:xfrm>
            <a:off x="-2035905" y="3429000"/>
            <a:ext cx="1124587" cy="307777"/>
          </a:xfrm>
          <a:prstGeom prst="callout3">
            <a:avLst>
              <a:gd name="adj1" fmla="val 97572"/>
              <a:gd name="adj2" fmla="val 14899"/>
              <a:gd name="adj3" fmla="val 97572"/>
              <a:gd name="adj4" fmla="val 87044"/>
              <a:gd name="adj5" fmla="val 36336"/>
              <a:gd name="adj6" fmla="val 92852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系统应用</a:t>
            </a:r>
          </a:p>
        </p:txBody>
      </p:sp>
      <p:sp>
        <p:nvSpPr>
          <p:cNvPr id="46" name="标注: 双弯曲线形(无边框) 45"/>
          <p:cNvSpPr/>
          <p:nvPr/>
        </p:nvSpPr>
        <p:spPr>
          <a:xfrm>
            <a:off x="-2931015" y="4590178"/>
            <a:ext cx="1124587" cy="307777"/>
          </a:xfrm>
          <a:prstGeom prst="callout3">
            <a:avLst>
              <a:gd name="adj1" fmla="val 97572"/>
              <a:gd name="adj2" fmla="val 29004"/>
              <a:gd name="adj3" fmla="val 97572"/>
              <a:gd name="adj4" fmla="val 71280"/>
              <a:gd name="adj5" fmla="val 39367"/>
              <a:gd name="adj6" fmla="val 79577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内核</a:t>
            </a:r>
          </a:p>
        </p:txBody>
      </p:sp>
      <p:sp>
        <p:nvSpPr>
          <p:cNvPr id="47" name="标注: 双弯曲线形(无边框) 46"/>
          <p:cNvSpPr/>
          <p:nvPr/>
        </p:nvSpPr>
        <p:spPr>
          <a:xfrm>
            <a:off x="-3645249" y="5751356"/>
            <a:ext cx="1124587" cy="307777"/>
          </a:xfrm>
          <a:prstGeom prst="callout3">
            <a:avLst>
              <a:gd name="adj1" fmla="val 94540"/>
              <a:gd name="adj2" fmla="val 7432"/>
              <a:gd name="adj3" fmla="val 94540"/>
              <a:gd name="adj4" fmla="val 84555"/>
              <a:gd name="adj5" fmla="val 36336"/>
              <a:gd name="adj6" fmla="val 101979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计算机硬件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千亿级流量来袭，如何用硬件加速技术为CPU减负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r="9371" b="282"/>
          <a:stretch>
            <a:fillRect/>
          </a:stretch>
        </p:blipFill>
        <p:spPr bwMode="auto">
          <a:xfrm>
            <a:off x="4221461" y="4024357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图片 36" descr="Announcing the Unity Editor for LinuxLinux に Unity エディターがやってきます - Unity  Technologies Blo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" r="7178"/>
          <a:stretch>
            <a:fillRect/>
          </a:stretch>
        </p:blipFill>
        <p:spPr bwMode="auto">
          <a:xfrm>
            <a:off x="4221461" y="2993120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8069226" cy="832506"/>
          </a:xfrm>
        </p:spPr>
        <p:txBody>
          <a:bodyPr/>
          <a:lstStyle/>
          <a:p>
            <a:r>
              <a:rPr lang="zh-CN" altLang="en-US"/>
              <a:t>内核与硬件交互，提供操作硬件的指令</a:t>
            </a:r>
            <a:endParaRPr lang="en-US" altLang="zh-CN"/>
          </a:p>
          <a:p>
            <a:r>
              <a:rPr lang="zh-CN" altLang="en-US"/>
              <a:t>系统应用封装内核指令为函数，便于程序员调用</a:t>
            </a:r>
            <a:endParaRPr lang="en-US" altLang="zh-CN"/>
          </a:p>
          <a:p>
            <a:r>
              <a:rPr lang="zh-CN" altLang="en-US"/>
              <a:t>用户程序基于系统函数库实现功能</a:t>
            </a:r>
            <a:endParaRPr lang="en-US" altLang="zh-CN"/>
          </a:p>
        </p:txBody>
      </p:sp>
      <p:pic>
        <p:nvPicPr>
          <p:cNvPr id="1026" name="Picture 2" descr="Ubuntu 18 and Pepper QiSDK Emulator troubleshooting |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61" y="1961884"/>
            <a:ext cx="5642959" cy="3706240"/>
          </a:xfrm>
          <a:prstGeom prst="rect">
            <a:avLst/>
          </a:pr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22" y="2240487"/>
            <a:ext cx="1018304" cy="1018304"/>
          </a:xfrm>
          <a:prstGeom prst="rect">
            <a:avLst/>
          </a:prstGeom>
          <a:effectLst>
            <a:outerShdw blurRad="254000" dist="18288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04" y="1852021"/>
            <a:ext cx="1209261" cy="1209261"/>
          </a:xfrm>
          <a:prstGeom prst="rect">
            <a:avLst/>
          </a:prstGeom>
          <a:effectLst>
            <a:outerShdw blurRad="254000" dist="18923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881" y="1630915"/>
            <a:ext cx="1209263" cy="1209263"/>
          </a:xfrm>
          <a:prstGeom prst="rect">
            <a:avLst/>
          </a:prstGeom>
          <a:effectLst>
            <a:outerShdw blurRad="254000" dist="18923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</p:spPr>
      </p:pic>
      <p:sp>
        <p:nvSpPr>
          <p:cNvPr id="33" name="标注: 双弯曲线形(无边框) 32"/>
          <p:cNvSpPr/>
          <p:nvPr/>
        </p:nvSpPr>
        <p:spPr>
          <a:xfrm>
            <a:off x="1461894" y="3612880"/>
            <a:ext cx="1124587" cy="307777"/>
          </a:xfrm>
          <a:prstGeom prst="callout3">
            <a:avLst>
              <a:gd name="adj1" fmla="val 97572"/>
              <a:gd name="adj2" fmla="val 14899"/>
              <a:gd name="adj3" fmla="val 97572"/>
              <a:gd name="adj4" fmla="val 87044"/>
              <a:gd name="adj5" fmla="val 36336"/>
              <a:gd name="adj6" fmla="val 92852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系统应用</a:t>
            </a:r>
          </a:p>
        </p:txBody>
      </p:sp>
      <p:sp>
        <p:nvSpPr>
          <p:cNvPr id="41" name="标注: 双弯曲线形(无边框) 40"/>
          <p:cNvSpPr/>
          <p:nvPr/>
        </p:nvSpPr>
        <p:spPr>
          <a:xfrm>
            <a:off x="1461894" y="4624078"/>
            <a:ext cx="1124587" cy="307777"/>
          </a:xfrm>
          <a:prstGeom prst="callout3">
            <a:avLst>
              <a:gd name="adj1" fmla="val 97572"/>
              <a:gd name="adj2" fmla="val 29004"/>
              <a:gd name="adj3" fmla="val 97572"/>
              <a:gd name="adj4" fmla="val 71280"/>
              <a:gd name="adj5" fmla="val 39367"/>
              <a:gd name="adj6" fmla="val 79577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内核</a:t>
            </a:r>
          </a:p>
        </p:txBody>
      </p:sp>
      <p:sp>
        <p:nvSpPr>
          <p:cNvPr id="42" name="标注: 双弯曲线形(无边框) 41"/>
          <p:cNvSpPr/>
          <p:nvPr/>
        </p:nvSpPr>
        <p:spPr>
          <a:xfrm>
            <a:off x="1696150" y="5751357"/>
            <a:ext cx="1124587" cy="307777"/>
          </a:xfrm>
          <a:prstGeom prst="callout3">
            <a:avLst>
              <a:gd name="adj1" fmla="val 94540"/>
              <a:gd name="adj2" fmla="val 7432"/>
              <a:gd name="adj3" fmla="val 94540"/>
              <a:gd name="adj4" fmla="val 84555"/>
              <a:gd name="adj5" fmla="val 36336"/>
              <a:gd name="adj6" fmla="val 101979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计算机硬件</a:t>
            </a:r>
          </a:p>
        </p:txBody>
      </p:sp>
      <p:pic>
        <p:nvPicPr>
          <p:cNvPr id="45" name="图片 44" descr="CentOS 8 and CentOS Stream Edition Released | From Linux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r="7328" b="350"/>
          <a:stretch>
            <a:fillRect/>
          </a:stretch>
        </p:blipFill>
        <p:spPr bwMode="auto">
          <a:xfrm>
            <a:off x="13403534" y="1225617"/>
            <a:ext cx="5642959" cy="3706238"/>
          </a:xfrm>
          <a:custGeom>
            <a:avLst/>
            <a:gdLst>
              <a:gd name="connsiteX0" fmla="*/ 0 w 5642959"/>
              <a:gd name="connsiteY0" fmla="*/ 0 h 3706238"/>
              <a:gd name="connsiteX1" fmla="*/ 5642959 w 5642959"/>
              <a:gd name="connsiteY1" fmla="*/ 0 h 3706238"/>
              <a:gd name="connsiteX2" fmla="*/ 5642959 w 5642959"/>
              <a:gd name="connsiteY2" fmla="*/ 3706238 h 3706238"/>
              <a:gd name="connsiteX3" fmla="*/ 0 w 5642959"/>
              <a:gd name="connsiteY3" fmla="*/ 3706238 h 370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959" h="3706238">
                <a:moveTo>
                  <a:pt x="0" y="0"/>
                </a:moveTo>
                <a:lnTo>
                  <a:pt x="5642959" y="0"/>
                </a:lnTo>
                <a:lnTo>
                  <a:pt x="5642959" y="3706238"/>
                </a:lnTo>
                <a:lnTo>
                  <a:pt x="0" y="3706238"/>
                </a:lnTo>
                <a:close/>
              </a:path>
            </a:pathLst>
          </a:custGeom>
          <a:noFill/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箭头: 下 50"/>
          <p:cNvSpPr/>
          <p:nvPr/>
        </p:nvSpPr>
        <p:spPr>
          <a:xfrm>
            <a:off x="4625681" y="2700363"/>
            <a:ext cx="3623992" cy="505145"/>
          </a:xfrm>
          <a:prstGeom prst="downArrow">
            <a:avLst>
              <a:gd name="adj1" fmla="val 55256"/>
              <a:gd name="adj2" fmla="val 42530"/>
            </a:avLst>
          </a:prstGeom>
          <a:noFill/>
          <a:ln w="28575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0">
                <a:solidFill>
                  <a:srgbClr val="121212"/>
                </a:solidFill>
                <a:effectLst/>
              </a:rPr>
              <a:t>open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 </a:t>
            </a:r>
            <a:r>
              <a:rPr lang="en-US" altLang="zh-CN" sz="1000" i="0">
                <a:solidFill>
                  <a:srgbClr val="121212"/>
                </a:solidFill>
                <a:effectLst/>
              </a:rPr>
              <a:t>write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 </a:t>
            </a:r>
            <a:r>
              <a:rPr lang="en-US" altLang="zh-CN" sz="1000" i="0">
                <a:solidFill>
                  <a:srgbClr val="121212"/>
                </a:solidFill>
                <a:effectLst/>
              </a:rPr>
              <a:t>read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</a:t>
            </a:r>
            <a:endParaRPr lang="en-US" altLang="zh-CN" sz="1000" i="0">
              <a:solidFill>
                <a:srgbClr val="121212"/>
              </a:solidFill>
              <a:effectLst/>
            </a:endParaRPr>
          </a:p>
          <a:p>
            <a:pPr algn="ctr"/>
            <a:r>
              <a:rPr lang="en-US" altLang="zh-CN" sz="1000">
                <a:solidFill>
                  <a:srgbClr val="121212"/>
                </a:solidFill>
              </a:rPr>
              <a:t>...</a:t>
            </a:r>
            <a:endParaRPr lang="zh-CN" altLang="en-US" sz="1000"/>
          </a:p>
        </p:txBody>
      </p:sp>
      <p:sp>
        <p:nvSpPr>
          <p:cNvPr id="52" name="箭头: 下 51"/>
          <p:cNvSpPr/>
          <p:nvPr/>
        </p:nvSpPr>
        <p:spPr>
          <a:xfrm>
            <a:off x="6592433" y="4521075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28575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下 52"/>
          <p:cNvSpPr/>
          <p:nvPr/>
        </p:nvSpPr>
        <p:spPr>
          <a:xfrm>
            <a:off x="6706733" y="5597430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28575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千亿级流量来袭，如何用硬件加速技术为CPU减负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r="9371" b="282"/>
          <a:stretch>
            <a:fillRect/>
          </a:stretch>
        </p:blipFill>
        <p:spPr bwMode="auto">
          <a:xfrm>
            <a:off x="4150293" y="4012000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图片 36" descr="Announcing the Unity Editor for LinuxLinux に Unity エディターがやってきます - Unity  Technologies Blo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" r="7178"/>
          <a:stretch>
            <a:fillRect/>
          </a:stretch>
        </p:blipFill>
        <p:spPr bwMode="auto">
          <a:xfrm>
            <a:off x="4150293" y="2980763"/>
            <a:ext cx="5642959" cy="3706240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9516196" cy="517190"/>
          </a:xfrm>
        </p:spPr>
        <p:txBody>
          <a:bodyPr/>
          <a:lstStyle/>
          <a:p>
            <a:r>
              <a:rPr lang="en-US" altLang="zh-CN"/>
              <a:t>Ubuntu</a:t>
            </a:r>
            <a:r>
              <a:rPr lang="zh-CN" altLang="en-US"/>
              <a:t>和</a:t>
            </a:r>
            <a:r>
              <a:rPr lang="en-US" altLang="zh-CN"/>
              <a:t>CentOS</a:t>
            </a:r>
            <a:r>
              <a:rPr lang="zh-CN" altLang="en-US"/>
              <a:t>都是基于</a:t>
            </a:r>
            <a:r>
              <a:rPr lang="en-US" altLang="zh-CN"/>
              <a:t>Linux</a:t>
            </a:r>
            <a:r>
              <a:rPr lang="zh-CN" altLang="en-US"/>
              <a:t>内核，只是系统应用不同，提供的函数库有差异</a:t>
            </a:r>
            <a:endParaRPr lang="en-US" altLang="zh-CN"/>
          </a:p>
        </p:txBody>
      </p:sp>
      <p:pic>
        <p:nvPicPr>
          <p:cNvPr id="1026" name="Picture 2" descr="Ubuntu 18 and Pepper QiSDK Emulator troubleshooting |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775" y="2328872"/>
            <a:ext cx="4470333" cy="2936071"/>
          </a:xfrm>
          <a:prstGeom prst="rect">
            <a:avLst/>
          </a:pr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71" y="2365911"/>
            <a:ext cx="1018304" cy="1018304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56" y="2041603"/>
            <a:ext cx="1209261" cy="1209261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09" y="1829600"/>
            <a:ext cx="1209263" cy="1209263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sp>
        <p:nvSpPr>
          <p:cNvPr id="33" name="标注: 双弯曲线形(无边框) 32"/>
          <p:cNvSpPr/>
          <p:nvPr/>
        </p:nvSpPr>
        <p:spPr>
          <a:xfrm>
            <a:off x="-39317" y="4012000"/>
            <a:ext cx="1124587" cy="307777"/>
          </a:xfrm>
          <a:prstGeom prst="callout3">
            <a:avLst>
              <a:gd name="adj1" fmla="val 97572"/>
              <a:gd name="adj2" fmla="val 14899"/>
              <a:gd name="adj3" fmla="val 97572"/>
              <a:gd name="adj4" fmla="val 87044"/>
              <a:gd name="adj5" fmla="val 36336"/>
              <a:gd name="adj6" fmla="val 92852"/>
              <a:gd name="adj7" fmla="val 40401"/>
              <a:gd name="adj8" fmla="val 169718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系统应用</a:t>
            </a:r>
          </a:p>
        </p:txBody>
      </p:sp>
      <p:sp>
        <p:nvSpPr>
          <p:cNvPr id="41" name="标注: 双弯曲线形(无边框) 40"/>
          <p:cNvSpPr/>
          <p:nvPr/>
        </p:nvSpPr>
        <p:spPr>
          <a:xfrm>
            <a:off x="1326654" y="4715303"/>
            <a:ext cx="1124587" cy="307777"/>
          </a:xfrm>
          <a:prstGeom prst="callout3">
            <a:avLst>
              <a:gd name="adj1" fmla="val 97572"/>
              <a:gd name="adj2" fmla="val 29004"/>
              <a:gd name="adj3" fmla="val 97572"/>
              <a:gd name="adj4" fmla="val 71280"/>
              <a:gd name="adj5" fmla="val 39367"/>
              <a:gd name="adj6" fmla="val 79577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内核</a:t>
            </a:r>
          </a:p>
        </p:txBody>
      </p:sp>
      <p:sp>
        <p:nvSpPr>
          <p:cNvPr id="42" name="标注: 双弯曲线形(无边框) 41"/>
          <p:cNvSpPr/>
          <p:nvPr/>
        </p:nvSpPr>
        <p:spPr>
          <a:xfrm>
            <a:off x="1624982" y="5739000"/>
            <a:ext cx="1124587" cy="307777"/>
          </a:xfrm>
          <a:prstGeom prst="callout3">
            <a:avLst>
              <a:gd name="adj1" fmla="val 94540"/>
              <a:gd name="adj2" fmla="val 7432"/>
              <a:gd name="adj3" fmla="val 94540"/>
              <a:gd name="adj4" fmla="val 84555"/>
              <a:gd name="adj5" fmla="val 36336"/>
              <a:gd name="adj6" fmla="val 101979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计算机硬件</a:t>
            </a:r>
          </a:p>
        </p:txBody>
      </p:sp>
      <p:pic>
        <p:nvPicPr>
          <p:cNvPr id="45" name="图片 44" descr="CentOS 8 and CentOS Stream Edition Released | From Linux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r="7328" b="350"/>
          <a:stretch>
            <a:fillRect/>
          </a:stretch>
        </p:blipFill>
        <p:spPr bwMode="auto">
          <a:xfrm>
            <a:off x="6359561" y="1614483"/>
            <a:ext cx="4470332" cy="2936068"/>
          </a:xfrm>
          <a:custGeom>
            <a:avLst/>
            <a:gdLst>
              <a:gd name="connsiteX0" fmla="*/ 0 w 5642959"/>
              <a:gd name="connsiteY0" fmla="*/ 0 h 3706238"/>
              <a:gd name="connsiteX1" fmla="*/ 5642959 w 5642959"/>
              <a:gd name="connsiteY1" fmla="*/ 0 h 3706238"/>
              <a:gd name="connsiteX2" fmla="*/ 5642959 w 5642959"/>
              <a:gd name="connsiteY2" fmla="*/ 3706238 h 3706238"/>
              <a:gd name="connsiteX3" fmla="*/ 0 w 5642959"/>
              <a:gd name="connsiteY3" fmla="*/ 3706238 h 370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959" h="3706238">
                <a:moveTo>
                  <a:pt x="0" y="0"/>
                </a:moveTo>
                <a:lnTo>
                  <a:pt x="5642959" y="0"/>
                </a:lnTo>
                <a:lnTo>
                  <a:pt x="5642959" y="3706238"/>
                </a:lnTo>
                <a:lnTo>
                  <a:pt x="0" y="3706238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箭头: 下 15"/>
          <p:cNvSpPr/>
          <p:nvPr/>
        </p:nvSpPr>
        <p:spPr>
          <a:xfrm>
            <a:off x="4725138" y="4199138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19050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/>
          <p:cNvSpPr/>
          <p:nvPr/>
        </p:nvSpPr>
        <p:spPr>
          <a:xfrm>
            <a:off x="7619284" y="3727389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19050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/>
          <p:cNvSpPr/>
          <p:nvPr/>
        </p:nvSpPr>
        <p:spPr>
          <a:xfrm>
            <a:off x="1574993" y="2863526"/>
            <a:ext cx="3623992" cy="505145"/>
          </a:xfrm>
          <a:prstGeom prst="downArrow">
            <a:avLst>
              <a:gd name="adj1" fmla="val 55256"/>
              <a:gd name="adj2" fmla="val 42530"/>
            </a:avLst>
          </a:prstGeom>
          <a:noFill/>
          <a:ln w="19050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0">
                <a:solidFill>
                  <a:srgbClr val="121212"/>
                </a:solidFill>
                <a:effectLst/>
              </a:rPr>
              <a:t>open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 </a:t>
            </a:r>
            <a:r>
              <a:rPr lang="en-US" altLang="zh-CN" sz="1000" i="0">
                <a:solidFill>
                  <a:srgbClr val="121212"/>
                </a:solidFill>
                <a:effectLst/>
              </a:rPr>
              <a:t>write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 </a:t>
            </a:r>
            <a:r>
              <a:rPr lang="en-US" altLang="zh-CN" sz="1000" i="0">
                <a:solidFill>
                  <a:srgbClr val="121212"/>
                </a:solidFill>
                <a:effectLst/>
              </a:rPr>
              <a:t>read</a:t>
            </a:r>
            <a:r>
              <a:rPr lang="zh-CN" altLang="en-US" sz="1000" i="0">
                <a:solidFill>
                  <a:srgbClr val="121212"/>
                </a:solidFill>
                <a:effectLst/>
              </a:rPr>
              <a:t>（）</a:t>
            </a:r>
            <a:endParaRPr lang="en-US" altLang="zh-CN" sz="1000" i="0">
              <a:solidFill>
                <a:srgbClr val="121212"/>
              </a:solidFill>
              <a:effectLst/>
            </a:endParaRPr>
          </a:p>
          <a:p>
            <a:pPr algn="ctr"/>
            <a:r>
              <a:rPr lang="en-US" altLang="zh-CN" sz="1000">
                <a:solidFill>
                  <a:srgbClr val="121212"/>
                </a:solidFill>
              </a:rPr>
              <a:t>...</a:t>
            </a:r>
            <a:endParaRPr lang="zh-CN" altLang="en-US" sz="1000"/>
          </a:p>
        </p:txBody>
      </p:sp>
      <p:sp>
        <p:nvSpPr>
          <p:cNvPr id="20" name="箭头: 下 19"/>
          <p:cNvSpPr/>
          <p:nvPr/>
        </p:nvSpPr>
        <p:spPr>
          <a:xfrm>
            <a:off x="6706733" y="5597430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19050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/>
          <p:cNvSpPr/>
          <p:nvPr/>
        </p:nvSpPr>
        <p:spPr>
          <a:xfrm>
            <a:off x="8105914" y="2138482"/>
            <a:ext cx="1418259" cy="350026"/>
          </a:xfrm>
          <a:prstGeom prst="downArrow">
            <a:avLst>
              <a:gd name="adj1" fmla="val 55256"/>
              <a:gd name="adj2" fmla="val 42530"/>
            </a:avLst>
          </a:prstGeom>
          <a:noFill/>
          <a:ln w="3175">
            <a:solidFill>
              <a:srgbClr val="AD2B26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i="0">
                <a:solidFill>
                  <a:srgbClr val="121212"/>
                </a:solidFill>
                <a:effectLst/>
              </a:rPr>
              <a:t>open()</a:t>
            </a:r>
            <a:endParaRPr lang="zh-CN" altLang="en-US" sz="1000"/>
          </a:p>
        </p:txBody>
      </p:sp>
      <p:sp>
        <p:nvSpPr>
          <p:cNvPr id="6" name="乘号 5"/>
          <p:cNvSpPr/>
          <p:nvPr/>
        </p:nvSpPr>
        <p:spPr>
          <a:xfrm>
            <a:off x="8186854" y="2015623"/>
            <a:ext cx="1254044" cy="549610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  <a:ln>
            <a:noFill/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7 L 0.45273 -0.1155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30" y="-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千亿级流量来袭，如何用硬件加速技术为CPU减负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r="9371" b="282"/>
          <a:stretch>
            <a:fillRect/>
          </a:stretch>
        </p:blipFill>
        <p:spPr bwMode="auto">
          <a:xfrm>
            <a:off x="7602769" y="4878547"/>
            <a:ext cx="3813137" cy="2504431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图片 36" descr="Announcing the Unity Editor for LinuxLinux に Unity エディターがやってきます - Unity  Technologies Blo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" r="7178"/>
          <a:stretch>
            <a:fillRect/>
          </a:stretch>
        </p:blipFill>
        <p:spPr bwMode="auto">
          <a:xfrm>
            <a:off x="7534329" y="4049047"/>
            <a:ext cx="3813137" cy="2504431"/>
          </a:xfrm>
          <a:custGeom>
            <a:avLst/>
            <a:gdLst>
              <a:gd name="connsiteX0" fmla="*/ 0 w 3804751"/>
              <a:gd name="connsiteY0" fmla="*/ 0 h 2498923"/>
              <a:gd name="connsiteX1" fmla="*/ 3804751 w 3804751"/>
              <a:gd name="connsiteY1" fmla="*/ 0 h 2498923"/>
              <a:gd name="connsiteX2" fmla="*/ 3804751 w 3804751"/>
              <a:gd name="connsiteY2" fmla="*/ 2498923 h 2498923"/>
              <a:gd name="connsiteX3" fmla="*/ 0 w 3804751"/>
              <a:gd name="connsiteY3" fmla="*/ 2498923 h 249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751" h="2498923">
                <a:moveTo>
                  <a:pt x="0" y="0"/>
                </a:moveTo>
                <a:lnTo>
                  <a:pt x="3804751" y="0"/>
                </a:lnTo>
                <a:lnTo>
                  <a:pt x="3804751" y="2498923"/>
                </a:lnTo>
                <a:lnTo>
                  <a:pt x="0" y="2498923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7935444" cy="1796394"/>
          </a:xfrm>
        </p:spPr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如何解决不同系统环境的问题？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Docker</a:t>
            </a:r>
            <a:r>
              <a:rPr lang="zh-CN" altLang="en-US"/>
              <a:t>将用户程序与所需要调用的系统</a:t>
            </a:r>
            <a:r>
              <a:rPr lang="en-US" altLang="zh-CN"/>
              <a:t>(</a:t>
            </a:r>
            <a:r>
              <a:rPr lang="zh-CN" altLang="en-US"/>
              <a:t>比如</a:t>
            </a:r>
            <a:r>
              <a:rPr lang="en-US" altLang="zh-CN"/>
              <a:t>Ubuntu)</a:t>
            </a:r>
            <a:r>
              <a:rPr lang="zh-CN" altLang="en-US"/>
              <a:t>函数库一起打包</a:t>
            </a:r>
          </a:p>
        </p:txBody>
      </p:sp>
      <p:pic>
        <p:nvPicPr>
          <p:cNvPr id="1026" name="Picture 2" descr="Ubuntu 18 and Pepper QiSDK Emulator troubleshooting |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470" y="3501596"/>
            <a:ext cx="3104178" cy="2038794"/>
          </a:xfrm>
          <a:prstGeom prst="rect">
            <a:avLst/>
          </a:pr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831" y="2488508"/>
            <a:ext cx="1018304" cy="1018304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947" y="1718264"/>
            <a:ext cx="1209261" cy="1209261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973" y="2066022"/>
            <a:ext cx="1209263" cy="1209263"/>
          </a:xfrm>
          <a:prstGeom prst="rect">
            <a:avLst/>
          </a:prstGeom>
          <a:effectLst>
            <a:outerShdw blurRad="254000" dist="1409700" dir="6900000" algn="tl" rotWithShape="0">
              <a:prstClr val="black">
                <a:alpha val="15000"/>
              </a:prstClr>
            </a:outerShdw>
          </a:effectLst>
          <a:scene3d>
            <a:camera prst="isometricOffAxis1Top"/>
            <a:lightRig rig="threePt" dir="t"/>
          </a:scene3d>
        </p:spPr>
      </p:pic>
      <p:pic>
        <p:nvPicPr>
          <p:cNvPr id="45" name="图片 44" descr="CentOS 8 and CentOS Stream Edition Released | From Linux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r="7328" b="350"/>
          <a:stretch>
            <a:fillRect/>
          </a:stretch>
        </p:blipFill>
        <p:spPr bwMode="auto">
          <a:xfrm>
            <a:off x="8635418" y="2968254"/>
            <a:ext cx="3217021" cy="2112906"/>
          </a:xfrm>
          <a:custGeom>
            <a:avLst/>
            <a:gdLst>
              <a:gd name="connsiteX0" fmla="*/ 0 w 5642959"/>
              <a:gd name="connsiteY0" fmla="*/ 0 h 3706238"/>
              <a:gd name="connsiteX1" fmla="*/ 5642959 w 5642959"/>
              <a:gd name="connsiteY1" fmla="*/ 0 h 3706238"/>
              <a:gd name="connsiteX2" fmla="*/ 5642959 w 5642959"/>
              <a:gd name="connsiteY2" fmla="*/ 3706238 h 3706238"/>
              <a:gd name="connsiteX3" fmla="*/ 0 w 5642959"/>
              <a:gd name="connsiteY3" fmla="*/ 3706238 h 370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959" h="3706238">
                <a:moveTo>
                  <a:pt x="0" y="0"/>
                </a:moveTo>
                <a:lnTo>
                  <a:pt x="5642959" y="0"/>
                </a:lnTo>
                <a:lnTo>
                  <a:pt x="5642959" y="3706238"/>
                </a:lnTo>
                <a:lnTo>
                  <a:pt x="0" y="3706238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矩形: 圆角 46"/>
          <p:cNvSpPr/>
          <p:nvPr/>
        </p:nvSpPr>
        <p:spPr>
          <a:xfrm>
            <a:off x="5121121" y="1688289"/>
            <a:ext cx="1406454" cy="3201011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  <a:effectLst>
            <a:outerShdw blurRad="254000" dist="1333500" dir="6900000" algn="tl" rotWithShape="0">
              <a:prstClr val="black">
                <a:alpha val="80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/>
          <p:cNvSpPr/>
          <p:nvPr/>
        </p:nvSpPr>
        <p:spPr>
          <a:xfrm>
            <a:off x="5570171" y="3170115"/>
            <a:ext cx="1003863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Libs</a:t>
            </a:r>
            <a:endParaRPr lang="zh-CN" altLang="en-US" sz="2400"/>
          </a:p>
        </p:txBody>
      </p:sp>
      <p:sp>
        <p:nvSpPr>
          <p:cNvPr id="49" name="矩形: 圆角 48"/>
          <p:cNvSpPr/>
          <p:nvPr/>
        </p:nvSpPr>
        <p:spPr>
          <a:xfrm>
            <a:off x="5808677" y="3344440"/>
            <a:ext cx="1003865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Deps</a:t>
            </a:r>
            <a:endParaRPr lang="zh-CN" altLang="en-US" sz="2400"/>
          </a:p>
        </p:txBody>
      </p:sp>
      <p:sp>
        <p:nvSpPr>
          <p:cNvPr id="60" name="标注: 双弯曲线形(无边框) 59"/>
          <p:cNvSpPr/>
          <p:nvPr/>
        </p:nvSpPr>
        <p:spPr>
          <a:xfrm>
            <a:off x="3491581" y="4570770"/>
            <a:ext cx="1124587" cy="307777"/>
          </a:xfrm>
          <a:prstGeom prst="callout3">
            <a:avLst>
              <a:gd name="adj1" fmla="val 97572"/>
              <a:gd name="adj2" fmla="val 14899"/>
              <a:gd name="adj3" fmla="val 97572"/>
              <a:gd name="adj4" fmla="val 87044"/>
              <a:gd name="adj5" fmla="val 36336"/>
              <a:gd name="adj6" fmla="val 92852"/>
              <a:gd name="adj7" fmla="val 40401"/>
              <a:gd name="adj8" fmla="val 169718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系统应用</a:t>
            </a:r>
          </a:p>
        </p:txBody>
      </p:sp>
      <p:sp>
        <p:nvSpPr>
          <p:cNvPr id="61" name="标注: 双弯曲线形(无边框) 60"/>
          <p:cNvSpPr/>
          <p:nvPr/>
        </p:nvSpPr>
        <p:spPr>
          <a:xfrm>
            <a:off x="5121121" y="5323343"/>
            <a:ext cx="1124587" cy="307777"/>
          </a:xfrm>
          <a:prstGeom prst="callout3">
            <a:avLst>
              <a:gd name="adj1" fmla="val 97572"/>
              <a:gd name="adj2" fmla="val 29004"/>
              <a:gd name="adj3" fmla="val 97572"/>
              <a:gd name="adj4" fmla="val 71280"/>
              <a:gd name="adj5" fmla="val 39367"/>
              <a:gd name="adj6" fmla="val 79577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内核</a:t>
            </a:r>
          </a:p>
        </p:txBody>
      </p:sp>
      <p:sp>
        <p:nvSpPr>
          <p:cNvPr id="62" name="标注: 双弯曲线形(无边框) 61"/>
          <p:cNvSpPr/>
          <p:nvPr/>
        </p:nvSpPr>
        <p:spPr>
          <a:xfrm>
            <a:off x="5251828" y="6130762"/>
            <a:ext cx="1124587" cy="307777"/>
          </a:xfrm>
          <a:prstGeom prst="callout3">
            <a:avLst>
              <a:gd name="adj1" fmla="val 94540"/>
              <a:gd name="adj2" fmla="val 7432"/>
              <a:gd name="adj3" fmla="val 94540"/>
              <a:gd name="adj4" fmla="val 84555"/>
              <a:gd name="adj5" fmla="val 36336"/>
              <a:gd name="adj6" fmla="val 101979"/>
              <a:gd name="adj7" fmla="val 37172"/>
              <a:gd name="adj8" fmla="val 179177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49504F"/>
                </a:solidFill>
              </a:rPr>
              <a:t>计算机硬件</a:t>
            </a:r>
          </a:p>
        </p:txBody>
      </p:sp>
      <p:sp>
        <p:nvSpPr>
          <p:cNvPr id="63" name="矩形: 圆角 62"/>
          <p:cNvSpPr/>
          <p:nvPr/>
        </p:nvSpPr>
        <p:spPr>
          <a:xfrm>
            <a:off x="7181622" y="1350591"/>
            <a:ext cx="1406454" cy="3201011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  <a:effectLst>
            <a:outerShdw blurRad="254000" dist="1333500" dir="6900000" algn="tl" rotWithShape="0">
              <a:prstClr val="black">
                <a:alpha val="80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/>
          <p:cNvSpPr/>
          <p:nvPr/>
        </p:nvSpPr>
        <p:spPr>
          <a:xfrm>
            <a:off x="6876374" y="4207582"/>
            <a:ext cx="1003863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Libs</a:t>
            </a:r>
            <a:endParaRPr lang="zh-CN" altLang="en-US" sz="2400"/>
          </a:p>
        </p:txBody>
      </p:sp>
      <p:sp>
        <p:nvSpPr>
          <p:cNvPr id="65" name="矩形: 圆角 64"/>
          <p:cNvSpPr/>
          <p:nvPr/>
        </p:nvSpPr>
        <p:spPr>
          <a:xfrm>
            <a:off x="6985388" y="4216392"/>
            <a:ext cx="1003865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Deps</a:t>
            </a:r>
            <a:endParaRPr lang="zh-CN" altLang="en-US" sz="2400"/>
          </a:p>
        </p:txBody>
      </p:sp>
      <p:sp>
        <p:nvSpPr>
          <p:cNvPr id="69" name="矩形: 圆角 68"/>
          <p:cNvSpPr/>
          <p:nvPr/>
        </p:nvSpPr>
        <p:spPr>
          <a:xfrm>
            <a:off x="9140725" y="1000055"/>
            <a:ext cx="1406454" cy="3201011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  <a:effectLst>
            <a:outerShdw blurRad="254000" dist="1333500" dir="6900000" algn="tl" rotWithShape="0">
              <a:prstClr val="black">
                <a:alpha val="80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/>
          <p:cNvSpPr/>
          <p:nvPr/>
        </p:nvSpPr>
        <p:spPr>
          <a:xfrm>
            <a:off x="7483929" y="3598583"/>
            <a:ext cx="814615" cy="1510828"/>
          </a:xfrm>
          <a:prstGeom prst="downArrow">
            <a:avLst>
              <a:gd name="adj1" fmla="val 50001"/>
              <a:gd name="adj2" fmla="val 30911"/>
            </a:avLst>
          </a:prstGeom>
          <a:noFill/>
          <a:ln w="28575">
            <a:solidFill>
              <a:srgbClr val="00B050"/>
            </a:solidFill>
            <a:prstDash val="dash"/>
          </a:ln>
          <a:scene3d>
            <a:camera prst="isometricOffAxis1Right"/>
            <a:lightRig rig="threePt" dir="t"/>
          </a:scene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箭头: 下 83"/>
          <p:cNvSpPr/>
          <p:nvPr/>
        </p:nvSpPr>
        <p:spPr>
          <a:xfrm>
            <a:off x="9411661" y="3309708"/>
            <a:ext cx="874594" cy="1510828"/>
          </a:xfrm>
          <a:prstGeom prst="downArrow">
            <a:avLst>
              <a:gd name="adj1" fmla="val 44610"/>
              <a:gd name="adj2" fmla="val 32379"/>
            </a:avLst>
          </a:prstGeom>
          <a:noFill/>
          <a:ln w="28575">
            <a:solidFill>
              <a:srgbClr val="00B050"/>
            </a:solidFill>
            <a:prstDash val="dash"/>
          </a:ln>
          <a:scene3d>
            <a:camera prst="isometricOffAxis1Right"/>
            <a:lightRig rig="threePt" dir="t"/>
          </a:scene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箭头: 下 86"/>
          <p:cNvSpPr/>
          <p:nvPr/>
        </p:nvSpPr>
        <p:spPr>
          <a:xfrm>
            <a:off x="9040137" y="5782746"/>
            <a:ext cx="947694" cy="206005"/>
          </a:xfrm>
          <a:prstGeom prst="downArrow">
            <a:avLst>
              <a:gd name="adj1" fmla="val 36584"/>
              <a:gd name="adj2" fmla="val 50000"/>
            </a:avLst>
          </a:prstGeom>
          <a:noFill/>
          <a:ln w="28575">
            <a:solidFill>
              <a:srgbClr val="00B050"/>
            </a:solidFill>
          </a:ln>
          <a:effectLst/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Ubuntu 18 and Pepper QiSDK Emulator troubleshooting |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7" t="32126"/>
          <a:stretch>
            <a:fillRect/>
          </a:stretch>
        </p:blipFill>
        <p:spPr bwMode="auto">
          <a:xfrm>
            <a:off x="6638917" y="3849950"/>
            <a:ext cx="2078649" cy="1383815"/>
          </a:xfrm>
          <a:custGeom>
            <a:avLst/>
            <a:gdLst>
              <a:gd name="connsiteX0" fmla="*/ 0 w 2078649"/>
              <a:gd name="connsiteY0" fmla="*/ 0 h 1383815"/>
              <a:gd name="connsiteX1" fmla="*/ 2078649 w 2078649"/>
              <a:gd name="connsiteY1" fmla="*/ 0 h 1383815"/>
              <a:gd name="connsiteX2" fmla="*/ 2078649 w 2078649"/>
              <a:gd name="connsiteY2" fmla="*/ 1383815 h 1383815"/>
              <a:gd name="connsiteX3" fmla="*/ 0 w 2078649"/>
              <a:gd name="connsiteY3" fmla="*/ 1383815 h 138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8649" h="1383815">
                <a:moveTo>
                  <a:pt x="0" y="0"/>
                </a:moveTo>
                <a:lnTo>
                  <a:pt x="2078649" y="0"/>
                </a:lnTo>
                <a:lnTo>
                  <a:pt x="2078649" y="1383815"/>
                </a:lnTo>
                <a:lnTo>
                  <a:pt x="0" y="1383815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 descr="CentOS 8 and CentOS Stream Edition Released | From Linux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t="24674" r="50097" b="350"/>
          <a:stretch>
            <a:fillRect/>
          </a:stretch>
        </p:blipFill>
        <p:spPr bwMode="auto">
          <a:xfrm>
            <a:off x="8829874" y="3411283"/>
            <a:ext cx="1604842" cy="1589726"/>
          </a:xfrm>
          <a:custGeom>
            <a:avLst/>
            <a:gdLst>
              <a:gd name="connsiteX0" fmla="*/ 0 w 1604842"/>
              <a:gd name="connsiteY0" fmla="*/ 0 h 1589726"/>
              <a:gd name="connsiteX1" fmla="*/ 1604842 w 1604842"/>
              <a:gd name="connsiteY1" fmla="*/ 0 h 1589726"/>
              <a:gd name="connsiteX2" fmla="*/ 1604842 w 1604842"/>
              <a:gd name="connsiteY2" fmla="*/ 1589726 h 1589726"/>
              <a:gd name="connsiteX3" fmla="*/ 0 w 1604842"/>
              <a:gd name="connsiteY3" fmla="*/ 1589726 h 158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4842" h="1589726">
                <a:moveTo>
                  <a:pt x="0" y="0"/>
                </a:moveTo>
                <a:lnTo>
                  <a:pt x="1604842" y="0"/>
                </a:lnTo>
                <a:lnTo>
                  <a:pt x="1604842" y="1589726"/>
                </a:lnTo>
                <a:lnTo>
                  <a:pt x="0" y="1589726"/>
                </a:lnTo>
                <a:close/>
              </a:path>
            </a:pathLst>
          </a:custGeom>
          <a:noFill/>
          <a:effectLst>
            <a:outerShdw blurRad="254000" dist="2540000" dir="6900000" algn="tl" rotWithShape="0">
              <a:prstClr val="black">
                <a:alpha val="10000"/>
              </a:prstClr>
            </a:outerShdw>
          </a:effectLst>
          <a:scene3d>
            <a:camera prst="isometricOffAxis1To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465" y="3030933"/>
            <a:ext cx="436213" cy="421461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901" y="4280838"/>
            <a:ext cx="436213" cy="421461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  <p:sp>
        <p:nvSpPr>
          <p:cNvPr id="75" name="文本占位符 3"/>
          <p:cNvSpPr txBox="1"/>
          <p:nvPr/>
        </p:nvSpPr>
        <p:spPr>
          <a:xfrm>
            <a:off x="710860" y="2595161"/>
            <a:ext cx="3746418" cy="179639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Docker</a:t>
            </a:r>
            <a:r>
              <a:rPr lang="zh-CN" altLang="en-US"/>
              <a:t>运行到不同操作系统时，直接基于打包的库函数，借助于操作系统的</a:t>
            </a:r>
            <a:r>
              <a:rPr lang="en-US" altLang="zh-CN"/>
              <a:t>Linux</a:t>
            </a:r>
            <a:r>
              <a:rPr lang="zh-CN" altLang="en-US"/>
              <a:t>内核来运行</a:t>
            </a:r>
            <a:endParaRPr lang="en-US" altLang="zh-CN"/>
          </a:p>
        </p:txBody>
      </p:sp>
      <p:sp>
        <p:nvSpPr>
          <p:cNvPr id="33" name="矩形: 圆角 32"/>
          <p:cNvSpPr/>
          <p:nvPr/>
        </p:nvSpPr>
        <p:spPr>
          <a:xfrm>
            <a:off x="6843524" y="4211914"/>
            <a:ext cx="1003863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Libs</a:t>
            </a:r>
            <a:endParaRPr lang="zh-CN" altLang="en-US" sz="2400"/>
          </a:p>
        </p:txBody>
      </p:sp>
      <p:sp>
        <p:nvSpPr>
          <p:cNvPr id="34" name="矩形: 圆角 33"/>
          <p:cNvSpPr/>
          <p:nvPr/>
        </p:nvSpPr>
        <p:spPr>
          <a:xfrm>
            <a:off x="6952538" y="4220724"/>
            <a:ext cx="1003865" cy="481502"/>
          </a:xfrm>
          <a:prstGeom prst="roundRect">
            <a:avLst/>
          </a:prstGeom>
          <a:effectLst>
            <a:outerShdw blurRad="254000" dist="1333500" dir="6900000" algn="tl" rotWithShape="0">
              <a:prstClr val="black">
                <a:alpha val="22000"/>
              </a:prstClr>
            </a:outerShdw>
          </a:effectLst>
          <a:scene3d>
            <a:camera prst="isometricOffAxis1Top"/>
            <a:lightRig rig="threePt" dir="t"/>
          </a:scene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Deps</a:t>
            </a:r>
            <a:endParaRPr lang="zh-CN" altLang="en-US" sz="240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51" y="4285170"/>
            <a:ext cx="436213" cy="421461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42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846 -0.01319 L 0.04075 -0.23287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-1099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-1.11111E-6 L 0.06315 -0.19792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9907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2.5E-6 1.48148E-6 L 0.06953 -0.17546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-877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6" presetClass="entr" presetSubtype="42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0847 -0.0132 L 0.20117 -0.28658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1368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3.95833E-6 -4.07407E-6 L 0.21797 -0.25393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98" y="-1270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66667E-6 -2.96296E-6 L 0.23255 -0.23032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28" y="-11528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6" presetClass="entr" presetSubtype="42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63" grpId="0" animBg="1"/>
      <p:bldP spid="64" grpId="0" animBg="1"/>
      <p:bldP spid="64" grpId="1" animBg="1"/>
      <p:bldP spid="65" grpId="0" animBg="1"/>
      <p:bldP spid="65" grpId="1" animBg="1"/>
      <p:bldP spid="69" grpId="0" animBg="1"/>
      <p:bldP spid="10" grpId="0" animBg="1"/>
      <p:bldP spid="84" grpId="0" animBg="1"/>
      <p:bldP spid="33" grpId="0" animBg="1"/>
      <p:bldP spid="33" grpId="1" animBg="1"/>
      <p:bldP spid="34" grpId="0" animBg="1"/>
      <p:bldP spid="3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720" y="3154017"/>
            <a:ext cx="5288280" cy="3629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任意多边形: 形状 9"/>
          <p:cNvSpPr/>
          <p:nvPr/>
        </p:nvSpPr>
        <p:spPr>
          <a:xfrm>
            <a:off x="0" y="0"/>
            <a:ext cx="12192000" cy="6783283"/>
          </a:xfrm>
          <a:custGeom>
            <a:avLst/>
            <a:gdLst>
              <a:gd name="connsiteX0" fmla="*/ 0 w 12192000"/>
              <a:gd name="connsiteY0" fmla="*/ 0 h 6783283"/>
              <a:gd name="connsiteX1" fmla="*/ 12192000 w 12192000"/>
              <a:gd name="connsiteY1" fmla="*/ 0 h 6783283"/>
              <a:gd name="connsiteX2" fmla="*/ 12192000 w 12192000"/>
              <a:gd name="connsiteY2" fmla="*/ 6783283 h 6783283"/>
              <a:gd name="connsiteX3" fmla="*/ 0 w 12192000"/>
              <a:gd name="connsiteY3" fmla="*/ 6783283 h 678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83283">
                <a:moveTo>
                  <a:pt x="0" y="0"/>
                </a:moveTo>
                <a:lnTo>
                  <a:pt x="12192000" y="0"/>
                </a:lnTo>
                <a:lnTo>
                  <a:pt x="12192000" y="6783283"/>
                </a:lnTo>
                <a:lnTo>
                  <a:pt x="0" y="678328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5">
                  <a:lumMod val="20000"/>
                  <a:lumOff val="80000"/>
                  <a:alpha val="66000"/>
                </a:schemeClr>
              </a:gs>
            </a:gsLst>
            <a:lin ang="4800000" scaled="0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0880" y="1728231"/>
            <a:ext cx="7238165" cy="264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/>
              <a:t>Docker</a:t>
            </a:r>
            <a:r>
              <a:rPr lang="zh-CN" altLang="en-US" sz="1600"/>
              <a:t>如何解决大型项目依赖关系复杂，不同组件依赖的兼容性问题？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49504F"/>
                </a:solidFill>
              </a:rPr>
              <a:t>Docker</a:t>
            </a:r>
            <a:r>
              <a:rPr lang="zh-CN" altLang="en-US" sz="1600">
                <a:solidFill>
                  <a:srgbClr val="49504F"/>
                </a:solidFill>
              </a:rPr>
              <a:t>允许开发中将应用、依赖、函数库、配置一起</a:t>
            </a:r>
            <a:r>
              <a:rPr lang="zh-CN" altLang="en-US" sz="1600" b="1">
                <a:solidFill>
                  <a:srgbClr val="AD2B26"/>
                </a:solidFill>
              </a:rPr>
              <a:t>打包</a:t>
            </a:r>
            <a:r>
              <a:rPr lang="zh-CN" altLang="en-US" sz="1600">
                <a:solidFill>
                  <a:srgbClr val="49504F"/>
                </a:solidFill>
              </a:rPr>
              <a:t>，形成可移植镜像</a:t>
            </a:r>
            <a:endParaRPr lang="en-US" altLang="zh-CN" sz="1600">
              <a:solidFill>
                <a:srgbClr val="49504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noProof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r>
              <a:rPr lang="zh-CN" altLang="en-US" sz="1600" noProof="1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应用运行在容器中，使用沙箱机制，相互</a:t>
            </a:r>
            <a:r>
              <a:rPr lang="zh-CN" altLang="en-US" sz="1600" b="1" noProof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隔离</a:t>
            </a:r>
            <a:endParaRPr lang="en-US" altLang="zh-CN" sz="1600"/>
          </a:p>
          <a:p>
            <a:pPr>
              <a:lnSpc>
                <a:spcPct val="150000"/>
              </a:lnSpc>
            </a:pP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zh-CN" sz="1600"/>
              <a:t>Docker</a:t>
            </a:r>
            <a:r>
              <a:rPr lang="zh-CN" altLang="en-US" sz="1600"/>
              <a:t>如何解决开发、测试、生产环境有差异的问题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Docker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镜像中包含完整运行环境，包括系统函数库，仅依赖系统的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Linux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内核，因此可以在任意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Linux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操作系统上运行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原理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accel="15000" decel="1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098007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Docker</a:t>
            </a:r>
            <a:r>
              <a:rPr lang="zh-CN" altLang="en-US"/>
              <a:t>是一个快速交付应用、运行应用的技术：</a:t>
            </a:r>
            <a:endParaRPr lang="en-US" altLang="zh-CN"/>
          </a:p>
          <a:p>
            <a:r>
              <a:rPr lang="zh-CN" altLang="en-US"/>
              <a:t>可以将程序及其依赖、运行环境一起打包为一个镜像，可以迁移到任意</a:t>
            </a:r>
            <a:r>
              <a:rPr lang="en-US" altLang="zh-CN"/>
              <a:t>Linux</a:t>
            </a:r>
            <a:r>
              <a:rPr lang="zh-CN" altLang="en-US"/>
              <a:t>操作系统</a:t>
            </a:r>
            <a:endParaRPr lang="en-US" altLang="zh-CN"/>
          </a:p>
          <a:p>
            <a:r>
              <a:rPr lang="zh-CN" altLang="en-US"/>
              <a:t>运行时利用沙箱机制形成隔离容器，各个应用互不干扰</a:t>
            </a:r>
            <a:endParaRPr lang="en-US" altLang="zh-CN"/>
          </a:p>
          <a:p>
            <a:r>
              <a:rPr lang="zh-CN" altLang="en-US"/>
              <a:t>启动、移除都可以通过一行命令完成，方便快捷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: 圆角 87"/>
          <p:cNvSpPr/>
          <p:nvPr/>
        </p:nvSpPr>
        <p:spPr>
          <a:xfrm>
            <a:off x="2444759" y="2861871"/>
            <a:ext cx="2754337" cy="2419302"/>
          </a:xfrm>
          <a:prstGeom prst="roundRect">
            <a:avLst>
              <a:gd name="adj" fmla="val 34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Docker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7417690" y="2174033"/>
            <a:ext cx="2754337" cy="3240689"/>
          </a:xfrm>
          <a:prstGeom prst="roundRect">
            <a:avLst>
              <a:gd name="adj" fmla="val 34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虚拟机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与虚拟机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162" y="2697687"/>
            <a:ext cx="686589" cy="6865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556" y="2724923"/>
            <a:ext cx="686589" cy="686589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7523804" y="2709757"/>
            <a:ext cx="1165931" cy="1999810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7690674" y="3757636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28" name="矩形: 圆角 27"/>
          <p:cNvSpPr/>
          <p:nvPr/>
        </p:nvSpPr>
        <p:spPr>
          <a:xfrm>
            <a:off x="8877144" y="2709758"/>
            <a:ext cx="1165931" cy="1999810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9044014" y="3757638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grpSp>
        <p:nvGrpSpPr>
          <p:cNvPr id="18" name="组合 17"/>
          <p:cNvGrpSpPr/>
          <p:nvPr/>
        </p:nvGrpSpPr>
        <p:grpSpPr>
          <a:xfrm>
            <a:off x="7690674" y="4131657"/>
            <a:ext cx="832190" cy="462870"/>
            <a:chOff x="5756110" y="3436463"/>
            <a:chExt cx="832190" cy="462870"/>
          </a:xfrm>
        </p:grpSpPr>
        <p:sp>
          <p:nvSpPr>
            <p:cNvPr id="58" name="矩形: 圆角 57"/>
            <p:cNvSpPr/>
            <p:nvPr/>
          </p:nvSpPr>
          <p:spPr>
            <a:xfrm>
              <a:off x="5756110" y="3436463"/>
              <a:ext cx="832190" cy="462870"/>
            </a:xfrm>
            <a:prstGeom prst="roundRect">
              <a:avLst>
                <a:gd name="adj" fmla="val 1186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zh-CN" altLang="en-US" sz="1400">
                  <a:solidFill>
                    <a:srgbClr val="49504F"/>
                  </a:solidFill>
                </a:rPr>
                <a:t>操作</a:t>
              </a:r>
              <a:endParaRPr lang="en-US" altLang="zh-CN" sz="1400">
                <a:solidFill>
                  <a:srgbClr val="49504F"/>
                </a:solidFill>
              </a:endParaRPr>
            </a:p>
            <a:p>
              <a:pPr algn="r"/>
              <a:r>
                <a:rPr lang="zh-CN" altLang="en-US" sz="1400">
                  <a:solidFill>
                    <a:srgbClr val="49504F"/>
                  </a:solidFill>
                </a:rPr>
                <a:t>系统</a:t>
              </a:r>
              <a:endParaRPr lang="en-US" altLang="zh-CN" sz="1400">
                <a:solidFill>
                  <a:srgbClr val="49504F"/>
                </a:solidFill>
              </a:endParaRP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9329" y="3520096"/>
              <a:ext cx="324873" cy="313886"/>
            </a:xfrm>
            <a:prstGeom prst="rect">
              <a:avLst/>
            </a:prstGeom>
          </p:spPr>
        </p:pic>
      </p:grpSp>
      <p:grpSp>
        <p:nvGrpSpPr>
          <p:cNvPr id="65" name="组合 64"/>
          <p:cNvGrpSpPr/>
          <p:nvPr/>
        </p:nvGrpSpPr>
        <p:grpSpPr>
          <a:xfrm>
            <a:off x="9044014" y="4131659"/>
            <a:ext cx="832190" cy="462870"/>
            <a:chOff x="5756110" y="3436463"/>
            <a:chExt cx="832190" cy="462870"/>
          </a:xfrm>
        </p:grpSpPr>
        <p:sp>
          <p:nvSpPr>
            <p:cNvPr id="66" name="矩形: 圆角 65"/>
            <p:cNvSpPr/>
            <p:nvPr/>
          </p:nvSpPr>
          <p:spPr>
            <a:xfrm>
              <a:off x="5756110" y="3436463"/>
              <a:ext cx="832190" cy="462870"/>
            </a:xfrm>
            <a:prstGeom prst="roundRect">
              <a:avLst>
                <a:gd name="adj" fmla="val 1186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zh-CN" altLang="en-US" sz="1400">
                  <a:solidFill>
                    <a:srgbClr val="49504F"/>
                  </a:solidFill>
                </a:rPr>
                <a:t>操作</a:t>
              </a:r>
              <a:endParaRPr lang="en-US" altLang="zh-CN" sz="1400">
                <a:solidFill>
                  <a:srgbClr val="49504F"/>
                </a:solidFill>
              </a:endParaRPr>
            </a:p>
            <a:p>
              <a:pPr algn="r"/>
              <a:r>
                <a:rPr lang="zh-CN" altLang="en-US" sz="1400">
                  <a:solidFill>
                    <a:srgbClr val="49504F"/>
                  </a:solidFill>
                </a:rPr>
                <a:t>系统</a:t>
              </a: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9329" y="3520096"/>
              <a:ext cx="324873" cy="313886"/>
            </a:xfrm>
            <a:prstGeom prst="rect">
              <a:avLst/>
            </a:prstGeom>
          </p:spPr>
        </p:pic>
      </p:grpSp>
      <p:sp>
        <p:nvSpPr>
          <p:cNvPr id="51" name="矩形: 圆角 50"/>
          <p:cNvSpPr/>
          <p:nvPr/>
        </p:nvSpPr>
        <p:spPr>
          <a:xfrm>
            <a:off x="2418372" y="5995304"/>
            <a:ext cx="2790443" cy="517189"/>
          </a:xfrm>
          <a:prstGeom prst="roundRect">
            <a:avLst>
              <a:gd name="adj" fmla="val 1410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2418372" y="5388508"/>
            <a:ext cx="2790443" cy="517190"/>
            <a:chOff x="2418372" y="5388508"/>
            <a:chExt cx="2790443" cy="517190"/>
          </a:xfrm>
        </p:grpSpPr>
        <p:sp>
          <p:nvSpPr>
            <p:cNvPr id="52" name="矩形: 圆角 51"/>
            <p:cNvSpPr/>
            <p:nvPr/>
          </p:nvSpPr>
          <p:spPr>
            <a:xfrm>
              <a:off x="2418372" y="5388508"/>
              <a:ext cx="2790443" cy="517190"/>
            </a:xfrm>
            <a:prstGeom prst="roundRect">
              <a:avLst>
                <a:gd name="adj" fmla="val 15552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/>
                <a:t>操作系统</a:t>
              </a:r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3254" y="5438557"/>
              <a:ext cx="436967" cy="431692"/>
            </a:xfrm>
            <a:prstGeom prst="rect">
              <a:avLst/>
            </a:prstGeom>
          </p:spPr>
        </p:pic>
      </p:grpSp>
      <p:sp>
        <p:nvSpPr>
          <p:cNvPr id="59" name="矩形: 圆角 58"/>
          <p:cNvSpPr/>
          <p:nvPr/>
        </p:nvSpPr>
        <p:spPr>
          <a:xfrm>
            <a:off x="7417691" y="6056967"/>
            <a:ext cx="2790443" cy="517189"/>
          </a:xfrm>
          <a:prstGeom prst="roundRect">
            <a:avLst>
              <a:gd name="adj" fmla="val 1410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7417691" y="5450171"/>
            <a:ext cx="2790443" cy="517190"/>
            <a:chOff x="7417691" y="5450171"/>
            <a:chExt cx="2790443" cy="517190"/>
          </a:xfrm>
        </p:grpSpPr>
        <p:sp>
          <p:nvSpPr>
            <p:cNvPr id="60" name="矩形: 圆角 59"/>
            <p:cNvSpPr/>
            <p:nvPr/>
          </p:nvSpPr>
          <p:spPr>
            <a:xfrm>
              <a:off x="7417691" y="5450171"/>
              <a:ext cx="2790443" cy="517190"/>
            </a:xfrm>
            <a:prstGeom prst="roundRect">
              <a:avLst>
                <a:gd name="adj" fmla="val 15552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/>
                <a:t>操作系统</a:t>
              </a:r>
            </a:p>
          </p:txBody>
        </p:sp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2573" y="5500220"/>
              <a:ext cx="436967" cy="431692"/>
            </a:xfrm>
            <a:prstGeom prst="rect">
              <a:avLst/>
            </a:prstGeom>
          </p:spPr>
        </p:pic>
      </p:grp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323" y="3346754"/>
            <a:ext cx="686589" cy="686589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59" y="3428069"/>
            <a:ext cx="686589" cy="686589"/>
          </a:xfrm>
          <a:prstGeom prst="rect">
            <a:avLst/>
          </a:prstGeom>
        </p:spPr>
      </p:pic>
      <p:sp>
        <p:nvSpPr>
          <p:cNvPr id="64" name="矩形: 圆角 63"/>
          <p:cNvSpPr/>
          <p:nvPr/>
        </p:nvSpPr>
        <p:spPr>
          <a:xfrm>
            <a:off x="2561989" y="3346754"/>
            <a:ext cx="1165931" cy="1707261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/>
          <p:cNvSpPr/>
          <p:nvPr/>
        </p:nvSpPr>
        <p:spPr>
          <a:xfrm>
            <a:off x="2728860" y="4235506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72" name="矩形: 圆角 71"/>
          <p:cNvSpPr/>
          <p:nvPr/>
        </p:nvSpPr>
        <p:spPr>
          <a:xfrm>
            <a:off x="2728859" y="4583737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73" name="矩形: 圆角 72"/>
          <p:cNvSpPr/>
          <p:nvPr/>
        </p:nvSpPr>
        <p:spPr>
          <a:xfrm>
            <a:off x="3877874" y="3346754"/>
            <a:ext cx="1165931" cy="1707260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/>
          <p:cNvSpPr/>
          <p:nvPr/>
        </p:nvSpPr>
        <p:spPr>
          <a:xfrm>
            <a:off x="4076524" y="4235506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75" name="矩形: 圆角 74"/>
          <p:cNvSpPr/>
          <p:nvPr/>
        </p:nvSpPr>
        <p:spPr>
          <a:xfrm>
            <a:off x="4076523" y="4583737"/>
            <a:ext cx="832190" cy="3138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21" name="矩形: 圆角 20"/>
          <p:cNvSpPr/>
          <p:nvPr/>
        </p:nvSpPr>
        <p:spPr>
          <a:xfrm>
            <a:off x="7417691" y="4882835"/>
            <a:ext cx="2754337" cy="4522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Hypervisor</a:t>
            </a:r>
            <a:endParaRPr lang="zh-CN" altLang="en-US"/>
          </a:p>
        </p:txBody>
      </p:sp>
      <p:sp>
        <p:nvSpPr>
          <p:cNvPr id="96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1003708"/>
          </a:xfrm>
        </p:spPr>
        <p:txBody>
          <a:bodyPr/>
          <a:lstStyle/>
          <a:p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虚拟机（</a:t>
            </a:r>
            <a:r>
              <a:rPr lang="en-US" altLang="zh-CN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virtual machine</a:t>
            </a:r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）是在操作系统中</a:t>
            </a:r>
            <a:r>
              <a:rPr lang="zh-CN" altLang="en-US">
                <a:solidFill>
                  <a:srgbClr val="111111"/>
                </a:solidFill>
              </a:rPr>
              <a:t>模拟</a:t>
            </a:r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硬件设备，然后运行另一个操作系统，比如在 </a:t>
            </a:r>
            <a:r>
              <a:rPr lang="en-US" altLang="zh-CN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Windows </a:t>
            </a:r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系统里面运行 </a:t>
            </a:r>
            <a:r>
              <a:rPr lang="en-US" altLang="zh-CN">
                <a:solidFill>
                  <a:srgbClr val="111111"/>
                </a:solidFill>
              </a:rPr>
              <a:t>Ubuntu</a:t>
            </a:r>
            <a:r>
              <a:rPr lang="en-US" altLang="zh-CN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系统，这样就可以运行任意的</a:t>
            </a:r>
            <a:r>
              <a:rPr lang="en-US" altLang="zh-CN">
                <a:solidFill>
                  <a:srgbClr val="111111"/>
                </a:solidFill>
              </a:rPr>
              <a:t>Ubuntu</a:t>
            </a:r>
            <a:r>
              <a:rPr lang="zh-CN" altLang="en-US" sz="1600" b="0" i="0" u="none" strike="noStrike">
                <a:solidFill>
                  <a:srgbClr val="111111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应用了。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7669961" y="3357116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37" name="矩形: 圆角 36"/>
          <p:cNvSpPr/>
          <p:nvPr/>
        </p:nvSpPr>
        <p:spPr>
          <a:xfrm>
            <a:off x="9017625" y="3357116"/>
            <a:ext cx="832189" cy="31388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22" grpId="0" animBg="1"/>
      <p:bldP spid="5" grpId="0" animBg="1"/>
      <p:bldP spid="25" grpId="0" animBg="1"/>
      <p:bldP spid="28" grpId="0" animBg="1"/>
      <p:bldP spid="34" grpId="0" animBg="1"/>
      <p:bldP spid="51" grpId="0" animBg="1"/>
      <p:bldP spid="59" grpId="0" animBg="1"/>
      <p:bldP spid="64" grpId="0" animBg="1"/>
      <p:bldP spid="70" grpId="0" animBg="1"/>
      <p:bldP spid="72" grpId="0" animBg="1"/>
      <p:bldP spid="73" grpId="0" animBg="1"/>
      <p:bldP spid="74" grpId="0" animBg="1"/>
      <p:bldP spid="75" grpId="0" animBg="1"/>
      <p:bldP spid="21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与虚拟机</a:t>
            </a:r>
          </a:p>
        </p:txBody>
      </p:sp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3510886" y="3591032"/>
          <a:ext cx="5213915" cy="2105058"/>
        </p:xfrm>
        <a:graphic>
          <a:graphicData uri="http://schemas.openxmlformats.org/drawingml/2006/table">
            <a:tbl>
              <a:tblPr/>
              <a:tblGrid>
                <a:gridCol w="102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9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特性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Docker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虚拟机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0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性能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接近原生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性能较差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硬盘占用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一般为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MB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一般为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GB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启动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秒级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分钟级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矩形: 圆角 36"/>
          <p:cNvSpPr/>
          <p:nvPr/>
        </p:nvSpPr>
        <p:spPr>
          <a:xfrm>
            <a:off x="710880" y="2247270"/>
            <a:ext cx="2386147" cy="2095898"/>
          </a:xfrm>
          <a:prstGeom prst="roundRect">
            <a:avLst>
              <a:gd name="adj" fmla="val 34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Docker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689320" y="5126435"/>
            <a:ext cx="2417426" cy="448053"/>
          </a:xfrm>
          <a:prstGeom prst="roundRect">
            <a:avLst>
              <a:gd name="adj" fmla="val 1410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689320" y="4519639"/>
            <a:ext cx="2417426" cy="448054"/>
            <a:chOff x="2418372" y="5388508"/>
            <a:chExt cx="2790443" cy="517190"/>
          </a:xfrm>
        </p:grpSpPr>
        <p:sp>
          <p:nvSpPr>
            <p:cNvPr id="40" name="矩形: 圆角 39"/>
            <p:cNvSpPr/>
            <p:nvPr/>
          </p:nvSpPr>
          <p:spPr>
            <a:xfrm>
              <a:off x="2418372" y="5388508"/>
              <a:ext cx="2790443" cy="517190"/>
            </a:xfrm>
            <a:prstGeom prst="roundRect">
              <a:avLst>
                <a:gd name="adj" fmla="val 15552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/>
                <a:t>操作系统</a:t>
              </a: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3254" y="5438557"/>
              <a:ext cx="436967" cy="431692"/>
            </a:xfrm>
            <a:prstGeom prst="rect">
              <a:avLst/>
            </a:prstGeom>
          </p:spPr>
        </p:pic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785" y="2795883"/>
            <a:ext cx="594808" cy="594808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35" y="2822853"/>
            <a:ext cx="594808" cy="594808"/>
          </a:xfrm>
          <a:prstGeom prst="rect">
            <a:avLst/>
          </a:prstGeom>
        </p:spPr>
      </p:pic>
      <p:sp>
        <p:nvSpPr>
          <p:cNvPr id="44" name="矩形: 圆角 43"/>
          <p:cNvSpPr/>
          <p:nvPr/>
        </p:nvSpPr>
        <p:spPr>
          <a:xfrm>
            <a:off x="847003" y="2752580"/>
            <a:ext cx="1010073" cy="1479039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969260" y="3455069"/>
            <a:ext cx="720945" cy="2719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46" name="矩形: 圆角 45"/>
          <p:cNvSpPr/>
          <p:nvPr/>
        </p:nvSpPr>
        <p:spPr>
          <a:xfrm>
            <a:off x="969259" y="3803300"/>
            <a:ext cx="720946" cy="2719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47" name="矩形: 圆角 46"/>
          <p:cNvSpPr/>
          <p:nvPr/>
        </p:nvSpPr>
        <p:spPr>
          <a:xfrm>
            <a:off x="1963194" y="2752579"/>
            <a:ext cx="1010073" cy="1479039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/>
          <p:cNvSpPr/>
          <p:nvPr/>
        </p:nvSpPr>
        <p:spPr>
          <a:xfrm>
            <a:off x="2117230" y="3455069"/>
            <a:ext cx="720945" cy="2719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49" name="矩形: 圆角 48"/>
          <p:cNvSpPr/>
          <p:nvPr/>
        </p:nvSpPr>
        <p:spPr>
          <a:xfrm>
            <a:off x="2117229" y="3803300"/>
            <a:ext cx="720946" cy="2719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53" name="矩形: 圆角 52"/>
          <p:cNvSpPr/>
          <p:nvPr/>
        </p:nvSpPr>
        <p:spPr>
          <a:xfrm>
            <a:off x="9124552" y="1517072"/>
            <a:ext cx="2419517" cy="2990999"/>
          </a:xfrm>
          <a:prstGeom prst="roundRect">
            <a:avLst>
              <a:gd name="adj" fmla="val 34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虚拟机</a:t>
            </a: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169" y="1945707"/>
            <a:ext cx="603126" cy="603126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166" y="2001007"/>
            <a:ext cx="603126" cy="603126"/>
          </a:xfrm>
          <a:prstGeom prst="rect">
            <a:avLst/>
          </a:prstGeom>
        </p:spPr>
      </p:pic>
      <p:sp>
        <p:nvSpPr>
          <p:cNvPr id="68" name="矩形: 圆角 67"/>
          <p:cNvSpPr/>
          <p:nvPr/>
        </p:nvSpPr>
        <p:spPr>
          <a:xfrm>
            <a:off x="9247782" y="1943100"/>
            <a:ext cx="1024199" cy="1975428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9374083" y="3004752"/>
            <a:ext cx="731028" cy="27573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sp>
        <p:nvSpPr>
          <p:cNvPr id="71" name="矩形: 圆角 70"/>
          <p:cNvSpPr/>
          <p:nvPr/>
        </p:nvSpPr>
        <p:spPr>
          <a:xfrm>
            <a:off x="10390917" y="1943100"/>
            <a:ext cx="1024199" cy="1975428"/>
          </a:xfrm>
          <a:prstGeom prst="roundRect">
            <a:avLst/>
          </a:prstGeom>
          <a:noFill/>
          <a:ln>
            <a:solidFill>
              <a:srgbClr val="00B0F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/>
          <p:cNvSpPr/>
          <p:nvPr/>
        </p:nvSpPr>
        <p:spPr>
          <a:xfrm>
            <a:off x="10517218" y="3004754"/>
            <a:ext cx="731028" cy="27573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Deps</a:t>
            </a:r>
            <a:endParaRPr lang="zh-CN" altLang="en-US" sz="1400"/>
          </a:p>
        </p:txBody>
      </p:sp>
      <p:grpSp>
        <p:nvGrpSpPr>
          <p:cNvPr id="77" name="组合 76"/>
          <p:cNvGrpSpPr/>
          <p:nvPr/>
        </p:nvGrpSpPr>
        <p:grpSpPr>
          <a:xfrm>
            <a:off x="9374083" y="3396884"/>
            <a:ext cx="731028" cy="406603"/>
            <a:chOff x="5756110" y="3436463"/>
            <a:chExt cx="832190" cy="462870"/>
          </a:xfrm>
        </p:grpSpPr>
        <p:sp>
          <p:nvSpPr>
            <p:cNvPr id="78" name="矩形: 圆角 77"/>
            <p:cNvSpPr/>
            <p:nvPr/>
          </p:nvSpPr>
          <p:spPr>
            <a:xfrm>
              <a:off x="5756110" y="3436463"/>
              <a:ext cx="832190" cy="462870"/>
            </a:xfrm>
            <a:prstGeom prst="roundRect">
              <a:avLst>
                <a:gd name="adj" fmla="val 1186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zh-CN" altLang="en-US" sz="1200">
                  <a:solidFill>
                    <a:srgbClr val="49504F"/>
                  </a:solidFill>
                </a:rPr>
                <a:t>操作</a:t>
              </a:r>
              <a:endParaRPr lang="en-US" altLang="zh-CN" sz="1200">
                <a:solidFill>
                  <a:srgbClr val="49504F"/>
                </a:solidFill>
              </a:endParaRPr>
            </a:p>
            <a:p>
              <a:pPr algn="r"/>
              <a:r>
                <a:rPr lang="zh-CN" altLang="en-US" sz="1200">
                  <a:solidFill>
                    <a:srgbClr val="49504F"/>
                  </a:solidFill>
                </a:rPr>
                <a:t>系统</a:t>
              </a:r>
              <a:endParaRPr lang="en-US" altLang="zh-CN" sz="1200">
                <a:solidFill>
                  <a:srgbClr val="49504F"/>
                </a:solidFill>
              </a:endParaRPr>
            </a:p>
          </p:txBody>
        </p:sp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9329" y="3520096"/>
              <a:ext cx="324873" cy="313886"/>
            </a:xfrm>
            <a:prstGeom prst="rect">
              <a:avLst/>
            </a:prstGeom>
          </p:spPr>
        </p:pic>
      </p:grpSp>
      <p:grpSp>
        <p:nvGrpSpPr>
          <p:cNvPr id="80" name="组合 79"/>
          <p:cNvGrpSpPr/>
          <p:nvPr/>
        </p:nvGrpSpPr>
        <p:grpSpPr>
          <a:xfrm>
            <a:off x="10517218" y="3396886"/>
            <a:ext cx="731028" cy="406603"/>
            <a:chOff x="5756110" y="3436463"/>
            <a:chExt cx="832190" cy="462870"/>
          </a:xfrm>
        </p:grpSpPr>
        <p:sp>
          <p:nvSpPr>
            <p:cNvPr id="81" name="矩形: 圆角 80"/>
            <p:cNvSpPr/>
            <p:nvPr/>
          </p:nvSpPr>
          <p:spPr>
            <a:xfrm>
              <a:off x="5756110" y="3436463"/>
              <a:ext cx="832190" cy="462870"/>
            </a:xfrm>
            <a:prstGeom prst="roundRect">
              <a:avLst>
                <a:gd name="adj" fmla="val 1186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zh-CN" altLang="en-US" sz="1200">
                  <a:solidFill>
                    <a:srgbClr val="49504F"/>
                  </a:solidFill>
                </a:rPr>
                <a:t>操作</a:t>
              </a:r>
              <a:endParaRPr lang="en-US" altLang="zh-CN" sz="1200">
                <a:solidFill>
                  <a:srgbClr val="49504F"/>
                </a:solidFill>
              </a:endParaRPr>
            </a:p>
            <a:p>
              <a:pPr algn="r"/>
              <a:r>
                <a:rPr lang="zh-CN" altLang="en-US" sz="1200">
                  <a:solidFill>
                    <a:srgbClr val="49504F"/>
                  </a:solidFill>
                </a:rPr>
                <a:t>系统</a:t>
              </a:r>
            </a:p>
          </p:txBody>
        </p:sp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9329" y="3520096"/>
              <a:ext cx="324873" cy="313886"/>
            </a:xfrm>
            <a:prstGeom prst="rect">
              <a:avLst/>
            </a:prstGeom>
          </p:spPr>
        </p:pic>
      </p:grpSp>
      <p:sp>
        <p:nvSpPr>
          <p:cNvPr id="83" name="矩形: 圆角 82"/>
          <p:cNvSpPr/>
          <p:nvPr/>
        </p:nvSpPr>
        <p:spPr>
          <a:xfrm>
            <a:off x="9128942" y="5118595"/>
            <a:ext cx="2451234" cy="454319"/>
          </a:xfrm>
          <a:prstGeom prst="roundRect">
            <a:avLst>
              <a:gd name="adj" fmla="val 1410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计算机硬件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9128942" y="4511799"/>
            <a:ext cx="2451234" cy="454320"/>
            <a:chOff x="7417691" y="5450171"/>
            <a:chExt cx="2790443" cy="517190"/>
          </a:xfrm>
        </p:grpSpPr>
        <p:sp>
          <p:nvSpPr>
            <p:cNvPr id="85" name="矩形: 圆角 84"/>
            <p:cNvSpPr/>
            <p:nvPr/>
          </p:nvSpPr>
          <p:spPr>
            <a:xfrm>
              <a:off x="7417691" y="5450171"/>
              <a:ext cx="2790443" cy="517190"/>
            </a:xfrm>
            <a:prstGeom prst="roundRect">
              <a:avLst>
                <a:gd name="adj" fmla="val 15552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/>
                <a:t>操作系统</a:t>
              </a:r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2573" y="5500220"/>
              <a:ext cx="436967" cy="431692"/>
            </a:xfrm>
            <a:prstGeom prst="rect">
              <a:avLst/>
            </a:prstGeom>
          </p:spPr>
        </p:pic>
      </p:grpSp>
      <p:sp>
        <p:nvSpPr>
          <p:cNvPr id="87" name="矩形: 圆角 86"/>
          <p:cNvSpPr/>
          <p:nvPr/>
        </p:nvSpPr>
        <p:spPr>
          <a:xfrm>
            <a:off x="9124553" y="4031167"/>
            <a:ext cx="2419517" cy="3973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Hypervisor</a:t>
            </a:r>
            <a:endParaRPr lang="zh-CN" altLang="en-US"/>
          </a:p>
        </p:txBody>
      </p:sp>
      <p:sp>
        <p:nvSpPr>
          <p:cNvPr id="51" name="矩形: 圆角 50"/>
          <p:cNvSpPr/>
          <p:nvPr/>
        </p:nvSpPr>
        <p:spPr>
          <a:xfrm>
            <a:off x="9359176" y="2588740"/>
            <a:ext cx="755523" cy="28496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  <p:sp>
        <p:nvSpPr>
          <p:cNvPr id="52" name="矩形: 圆角 51"/>
          <p:cNvSpPr/>
          <p:nvPr/>
        </p:nvSpPr>
        <p:spPr>
          <a:xfrm>
            <a:off x="10517218" y="2569125"/>
            <a:ext cx="755523" cy="28496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Libs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098007" cy="4511040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Docker</a:t>
            </a:r>
            <a:r>
              <a:rPr lang="zh-CN" altLang="en-US"/>
              <a:t>和虚拟机的差异：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</a:t>
            </a:r>
            <a:r>
              <a:rPr lang="zh-CN" altLang="en-US" sz="1600"/>
              <a:t>是一个系统进程；虚拟机是在操作系统中的操作系统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</a:t>
            </a:r>
            <a:r>
              <a:rPr lang="zh-CN" altLang="en-US" sz="1600"/>
              <a:t>体积小、启动速度快、性能好；虚拟机体积大、启动速度慢、性能一般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270925" y="5415295"/>
            <a:ext cx="5992196" cy="1271015"/>
            <a:chOff x="2270925" y="5415295"/>
            <a:chExt cx="5992196" cy="1271015"/>
          </a:xfrm>
        </p:grpSpPr>
        <p:sp>
          <p:nvSpPr>
            <p:cNvPr id="50" name="立方体 49"/>
            <p:cNvSpPr/>
            <p:nvPr/>
          </p:nvSpPr>
          <p:spPr>
            <a:xfrm>
              <a:off x="2270925" y="5415295"/>
              <a:ext cx="5992196" cy="1208676"/>
            </a:xfrm>
            <a:prstGeom prst="cube">
              <a:avLst>
                <a:gd name="adj" fmla="val 5879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Image  (mysql:5.7)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9049" y="6091502"/>
              <a:ext cx="594808" cy="59480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镜像和容器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442705"/>
            <a:ext cx="10770240" cy="2057579"/>
          </a:xfrm>
        </p:spPr>
        <p:txBody>
          <a:bodyPr/>
          <a:lstStyle/>
          <a:p>
            <a:r>
              <a:rPr lang="zh-CN" altLang="en-US" b="1">
                <a:solidFill>
                  <a:srgbClr val="111111"/>
                </a:solidFill>
              </a:rPr>
              <a:t>镜像（</a:t>
            </a:r>
            <a:r>
              <a:rPr lang="en-US" altLang="zh-CN" b="1">
                <a:solidFill>
                  <a:srgbClr val="111111"/>
                </a:solidFill>
              </a:rPr>
              <a:t>Image</a:t>
            </a:r>
            <a:r>
              <a:rPr lang="zh-CN" altLang="en-US" b="1">
                <a:solidFill>
                  <a:srgbClr val="111111"/>
                </a:solidFill>
              </a:rPr>
              <a:t>）</a:t>
            </a:r>
            <a:r>
              <a:rPr lang="zh-CN" altLang="en-US">
                <a:solidFill>
                  <a:srgbClr val="111111"/>
                </a:solidFill>
              </a:rPr>
              <a:t>：</a:t>
            </a:r>
            <a:r>
              <a:rPr lang="en-US" altLang="zh-CN">
                <a:solidFill>
                  <a:srgbClr val="111111"/>
                </a:solidFill>
              </a:rPr>
              <a:t>Docker</a:t>
            </a:r>
            <a:r>
              <a:rPr lang="zh-CN" altLang="en-US">
                <a:solidFill>
                  <a:srgbClr val="111111"/>
                </a:solidFill>
              </a:rPr>
              <a:t>将应用程序及其所需的依赖、函数库、环境、配置等文件打包在一起，称为镜像。</a:t>
            </a:r>
            <a:endParaRPr lang="en-US" altLang="zh-CN">
              <a:solidFill>
                <a:srgbClr val="111111"/>
              </a:solidFill>
            </a:endParaRPr>
          </a:p>
          <a:p>
            <a:r>
              <a:rPr lang="zh-CN" altLang="en-US" b="1">
                <a:solidFill>
                  <a:srgbClr val="111111"/>
                </a:solidFill>
              </a:rPr>
              <a:t>容器（</a:t>
            </a:r>
            <a:r>
              <a:rPr lang="en-US" altLang="zh-CN" b="1">
                <a:solidFill>
                  <a:srgbClr val="111111"/>
                </a:solidFill>
              </a:rPr>
              <a:t>Container</a:t>
            </a:r>
            <a:r>
              <a:rPr lang="zh-CN" altLang="en-US" b="1">
                <a:solidFill>
                  <a:srgbClr val="111111"/>
                </a:solidFill>
              </a:rPr>
              <a:t>）</a:t>
            </a:r>
            <a:r>
              <a:rPr lang="zh-CN" altLang="en-US">
                <a:solidFill>
                  <a:srgbClr val="111111"/>
                </a:solidFill>
              </a:rPr>
              <a:t>：镜像中的应用程序运行后形成的进程就是</a:t>
            </a:r>
            <a:r>
              <a:rPr lang="zh-CN" altLang="en-US" b="1">
                <a:solidFill>
                  <a:srgbClr val="111111"/>
                </a:solidFill>
              </a:rPr>
              <a:t>容器</a:t>
            </a:r>
            <a:r>
              <a:rPr lang="zh-CN" altLang="en-US">
                <a:solidFill>
                  <a:srgbClr val="111111"/>
                </a:solidFill>
              </a:rPr>
              <a:t>，只是</a:t>
            </a:r>
            <a:r>
              <a:rPr lang="en-US" altLang="zh-CN">
                <a:solidFill>
                  <a:srgbClr val="111111"/>
                </a:solidFill>
              </a:rPr>
              <a:t>Docker</a:t>
            </a:r>
            <a:r>
              <a:rPr lang="zh-CN" altLang="en-US">
                <a:solidFill>
                  <a:srgbClr val="111111"/>
                </a:solidFill>
              </a:rPr>
              <a:t>会给容器做隔离，对外不可见。</a:t>
            </a:r>
            <a:endParaRPr lang="en-US" altLang="zh-CN">
              <a:solidFill>
                <a:srgbClr val="111111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2672124" y="5451596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66" name="文本框 65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data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730671" y="5415294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69" name="文本框 68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logs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765131" y="5415417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72" name="文本框 71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bin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823678" y="5415295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87" name="文本框 86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lib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sp>
        <p:nvSpPr>
          <p:cNvPr id="88" name="立方体 87"/>
          <p:cNvSpPr/>
          <p:nvPr/>
        </p:nvSpPr>
        <p:spPr>
          <a:xfrm>
            <a:off x="3513941" y="5336101"/>
            <a:ext cx="2708961" cy="1265562"/>
          </a:xfrm>
          <a:prstGeom prst="cube">
            <a:avLst>
              <a:gd name="adj" fmla="val 69723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container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9" name="立方体 88"/>
          <p:cNvSpPr/>
          <p:nvPr/>
        </p:nvSpPr>
        <p:spPr>
          <a:xfrm>
            <a:off x="3498417" y="5358409"/>
            <a:ext cx="2708961" cy="1265562"/>
          </a:xfrm>
          <a:prstGeom prst="cube">
            <a:avLst>
              <a:gd name="adj" fmla="val 69723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container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6801118" y="5415294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93" name="图片 92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94" name="文本框 93"/>
            <p:cNvSpPr txBox="1"/>
            <p:nvPr/>
          </p:nvSpPr>
          <p:spPr>
            <a:xfrm>
              <a:off x="7058486" y="3773279"/>
              <a:ext cx="607160" cy="255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share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645661" y="5415293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98" name="文本框 97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data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2673371" y="5451596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106" name="图片 105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107" name="文本框 106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data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707831" y="5421625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110" name="文本框 109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logs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717601" y="5424432"/>
            <a:ext cx="1001730" cy="734967"/>
            <a:chOff x="7058486" y="3634771"/>
            <a:chExt cx="702079" cy="508664"/>
          </a:xfrm>
          <a:scene3d>
            <a:camera prst="isometricOffAxis2Top">
              <a:rot lat="19013439" lon="3279043" rev="19026298"/>
            </a:camera>
            <a:lightRig rig="threePt" dir="t"/>
          </a:scene3d>
        </p:grpSpPr>
        <p:pic>
          <p:nvPicPr>
            <p:cNvPr id="112" name="图片 111"/>
            <p:cNvPicPr>
              <a:picLocks noChangeAspect="1"/>
            </p:cNvPicPr>
            <p:nvPr/>
          </p:nvPicPr>
          <p:blipFill>
            <a:blip r:embed="rId4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113" name="文本框 112"/>
            <p:cNvSpPr txBox="1"/>
            <p:nvPr/>
          </p:nvSpPr>
          <p:spPr>
            <a:xfrm>
              <a:off x="7058486" y="3773279"/>
              <a:ext cx="607160" cy="276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accent5">
                      <a:lumMod val="75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logs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 rot="18946639">
            <a:off x="7456531" y="5781139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readonly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只读</a:t>
            </a:r>
            <a:endParaRPr lang="zh-CN" alt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-0.09805 -0.25417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-1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0.17903 -0.25579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45" y="-1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0.00834 -0.25926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-1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0.28645 -0.26458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0.00768 -0.26018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1" y="-1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44444E-6 L 0.27696 -0.26064 " pathEditMode="relative" rAng="0" ptsTypes="AA">
                                      <p:cBhvr>
                                        <p:cTn id="9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41" y="-1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8" grpId="0" uiExpand="1" animBg="1"/>
      <p:bldP spid="88" grpId="1" uiExpand="1" animBg="1"/>
      <p:bldP spid="89" grpId="0" animBg="1"/>
      <p:bldP spid="89" grpId="1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云形 27"/>
          <p:cNvSpPr/>
          <p:nvPr/>
        </p:nvSpPr>
        <p:spPr>
          <a:xfrm>
            <a:off x="8971290" y="2277806"/>
            <a:ext cx="1486304" cy="934719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2">
                    <a:lumMod val="75000"/>
                  </a:schemeClr>
                </a:solidFill>
              </a:rPr>
              <a:t>阿里云</a:t>
            </a:r>
          </a:p>
        </p:txBody>
      </p:sp>
      <p:sp>
        <p:nvSpPr>
          <p:cNvPr id="29" name="云形 28"/>
          <p:cNvSpPr/>
          <p:nvPr/>
        </p:nvSpPr>
        <p:spPr>
          <a:xfrm>
            <a:off x="10055258" y="3291841"/>
            <a:ext cx="1486304" cy="934719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2">
                    <a:lumMod val="75000"/>
                  </a:schemeClr>
                </a:solidFill>
              </a:rPr>
              <a:t>网易云</a:t>
            </a:r>
          </a:p>
        </p:txBody>
      </p:sp>
      <p:sp>
        <p:nvSpPr>
          <p:cNvPr id="26" name="云形 25"/>
          <p:cNvSpPr/>
          <p:nvPr/>
        </p:nvSpPr>
        <p:spPr>
          <a:xfrm>
            <a:off x="6096000" y="3058161"/>
            <a:ext cx="3048000" cy="934719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和</a:t>
            </a:r>
            <a:r>
              <a:rPr lang="en-US" altLang="zh-CN"/>
              <a:t>DockerHub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10698800" cy="186952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111111"/>
                </a:solidFill>
              </a:rPr>
              <a:t>DockerHub</a:t>
            </a:r>
            <a:r>
              <a:rPr lang="zh-CN" altLang="en-US">
                <a:solidFill>
                  <a:srgbClr val="111111"/>
                </a:solidFill>
              </a:rPr>
              <a:t>：</a:t>
            </a:r>
            <a:r>
              <a:rPr lang="en-US" altLang="zh-CN">
                <a:solidFill>
                  <a:srgbClr val="111111"/>
                </a:solidFill>
              </a:rPr>
              <a:t>DockerHub</a:t>
            </a:r>
            <a:r>
              <a:rPr lang="zh-CN" altLang="en-US">
                <a:solidFill>
                  <a:srgbClr val="111111"/>
                </a:solidFill>
              </a:rPr>
              <a:t>是一个</a:t>
            </a:r>
            <a:r>
              <a:rPr lang="en-US" altLang="zh-CN">
                <a:solidFill>
                  <a:srgbClr val="111111"/>
                </a:solidFill>
              </a:rPr>
              <a:t>Docker</a:t>
            </a:r>
            <a:r>
              <a:rPr lang="zh-CN" altLang="en-US">
                <a:solidFill>
                  <a:srgbClr val="111111"/>
                </a:solidFill>
              </a:rPr>
              <a:t>镜像的托管平台。这样的平台称为</a:t>
            </a:r>
            <a:r>
              <a:rPr lang="en-US" altLang="zh-CN">
                <a:solidFill>
                  <a:srgbClr val="111111"/>
                </a:solidFill>
              </a:rPr>
              <a:t>Docker Registry</a:t>
            </a:r>
            <a:r>
              <a:rPr lang="zh-CN" altLang="en-US">
                <a:solidFill>
                  <a:srgbClr val="111111"/>
                </a:solidFill>
              </a:rPr>
              <a:t>。</a:t>
            </a:r>
            <a:endParaRPr lang="en-US" altLang="zh-CN" b="0">
              <a:solidFill>
                <a:srgbClr val="11111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0">
                <a:solidFill>
                  <a:srgbClr val="111111"/>
                </a:solidFill>
              </a:rPr>
              <a:t>国内也有类似于</a:t>
            </a:r>
            <a:r>
              <a:rPr lang="en-US" altLang="zh-CN" b="0">
                <a:solidFill>
                  <a:srgbClr val="111111"/>
                </a:solidFill>
              </a:rPr>
              <a:t>DockerHub </a:t>
            </a:r>
            <a:r>
              <a:rPr lang="zh-CN" altLang="en-US" b="0">
                <a:solidFill>
                  <a:srgbClr val="111111"/>
                </a:solidFill>
              </a:rPr>
              <a:t>的公开服务</a:t>
            </a:r>
            <a:r>
              <a:rPr lang="zh-CN" altLang="en-US">
                <a:solidFill>
                  <a:srgbClr val="111111"/>
                </a:solidFill>
              </a:rPr>
              <a:t>，</a:t>
            </a:r>
            <a:r>
              <a:rPr lang="zh-CN" altLang="en-US" b="0">
                <a:solidFill>
                  <a:srgbClr val="111111"/>
                </a:solidFill>
              </a:rPr>
              <a:t>比如 </a:t>
            </a:r>
            <a:r>
              <a:rPr lang="zh-CN" altLang="en-US" b="0">
                <a:solidFill>
                  <a:srgbClr val="111111"/>
                </a:solidFill>
                <a:hlinkClick r:id="rId3"/>
              </a:rPr>
              <a:t>网易云镜像服务</a:t>
            </a:r>
            <a:r>
              <a:rPr lang="zh-CN" altLang="en-US" b="0">
                <a:solidFill>
                  <a:srgbClr val="111111"/>
                </a:solidFill>
              </a:rPr>
              <a:t>、</a:t>
            </a:r>
            <a:r>
              <a:rPr lang="zh-CN" altLang="en-US" b="0">
                <a:solidFill>
                  <a:srgbClr val="111111"/>
                </a:solidFill>
                <a:hlinkClick r:id="rId4"/>
              </a:rPr>
              <a:t>阿里云镜像库</a:t>
            </a:r>
            <a:r>
              <a:rPr lang="zh-CN" altLang="en-US" b="0">
                <a:solidFill>
                  <a:srgbClr val="111111"/>
                </a:solidFill>
              </a:rPr>
              <a:t>等。</a:t>
            </a:r>
            <a:endParaRPr lang="en-US" altLang="zh-CN">
              <a:solidFill>
                <a:srgbClr val="111111"/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891280" y="5285406"/>
            <a:ext cx="1656122" cy="1039956"/>
          </a:xfrm>
          <a:prstGeom prst="roundRect">
            <a:avLst>
              <a:gd name="adj" fmla="val 1328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Docker</a:t>
            </a:r>
            <a:endParaRPr lang="zh-CN" altLang="en-US" sz="1400"/>
          </a:p>
        </p:txBody>
      </p:sp>
      <p:grpSp>
        <p:nvGrpSpPr>
          <p:cNvPr id="24" name="组合 23"/>
          <p:cNvGrpSpPr/>
          <p:nvPr/>
        </p:nvGrpSpPr>
        <p:grpSpPr>
          <a:xfrm>
            <a:off x="1518546" y="5466324"/>
            <a:ext cx="742511" cy="873839"/>
            <a:chOff x="847986" y="5578859"/>
            <a:chExt cx="742511" cy="873839"/>
          </a:xfrm>
        </p:grpSpPr>
        <p:sp>
          <p:nvSpPr>
            <p:cNvPr id="11" name="iconfont-1187-868307"/>
            <p:cNvSpPr/>
            <p:nvPr/>
          </p:nvSpPr>
          <p:spPr>
            <a:xfrm>
              <a:off x="914399" y="5578859"/>
              <a:ext cx="609685" cy="596840"/>
            </a:xfrm>
            <a:custGeom>
              <a:avLst/>
              <a:gdLst>
                <a:gd name="T0" fmla="*/ 2895 w 12754"/>
                <a:gd name="T1" fmla="*/ 3482 h 12486"/>
                <a:gd name="T2" fmla="*/ 6377 w 12754"/>
                <a:gd name="T3" fmla="*/ 0 h 12486"/>
                <a:gd name="T4" fmla="*/ 9859 w 12754"/>
                <a:gd name="T5" fmla="*/ 3482 h 12486"/>
                <a:gd name="T6" fmla="*/ 6377 w 12754"/>
                <a:gd name="T7" fmla="*/ 6963 h 12486"/>
                <a:gd name="T8" fmla="*/ 2895 w 12754"/>
                <a:gd name="T9" fmla="*/ 3482 h 12486"/>
                <a:gd name="T10" fmla="*/ 0 w 12754"/>
                <a:gd name="T11" fmla="*/ 12468 h 12486"/>
                <a:gd name="T12" fmla="*/ 3586 w 12754"/>
                <a:gd name="T13" fmla="*/ 7045 h 12486"/>
                <a:gd name="T14" fmla="*/ 6377 w 12754"/>
                <a:gd name="T15" fmla="*/ 8014 h 12486"/>
                <a:gd name="T16" fmla="*/ 9182 w 12754"/>
                <a:gd name="T17" fmla="*/ 7036 h 12486"/>
                <a:gd name="T18" fmla="*/ 12754 w 12754"/>
                <a:gd name="T19" fmla="*/ 12468 h 12486"/>
                <a:gd name="T20" fmla="*/ 0 w 12754"/>
                <a:gd name="T21" fmla="*/ 12468 h 12486"/>
                <a:gd name="T22" fmla="*/ 0 w 12754"/>
                <a:gd name="T23" fmla="*/ 12468 h 12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754" h="12486">
                  <a:moveTo>
                    <a:pt x="2895" y="3482"/>
                  </a:moveTo>
                  <a:cubicBezTo>
                    <a:pt x="2895" y="1562"/>
                    <a:pt x="4457" y="0"/>
                    <a:pt x="6377" y="0"/>
                  </a:cubicBezTo>
                  <a:cubicBezTo>
                    <a:pt x="8297" y="0"/>
                    <a:pt x="9859" y="1562"/>
                    <a:pt x="9859" y="3482"/>
                  </a:cubicBezTo>
                  <a:cubicBezTo>
                    <a:pt x="9859" y="5402"/>
                    <a:pt x="8297" y="6963"/>
                    <a:pt x="6377" y="6963"/>
                  </a:cubicBezTo>
                  <a:cubicBezTo>
                    <a:pt x="4457" y="6963"/>
                    <a:pt x="2895" y="5402"/>
                    <a:pt x="2895" y="3482"/>
                  </a:cubicBezTo>
                  <a:close/>
                  <a:moveTo>
                    <a:pt x="0" y="12468"/>
                  </a:moveTo>
                  <a:cubicBezTo>
                    <a:pt x="75" y="11626"/>
                    <a:pt x="479" y="8643"/>
                    <a:pt x="3586" y="7045"/>
                  </a:cubicBezTo>
                  <a:cubicBezTo>
                    <a:pt x="4356" y="7650"/>
                    <a:pt x="5324" y="8014"/>
                    <a:pt x="6377" y="8014"/>
                  </a:cubicBezTo>
                  <a:cubicBezTo>
                    <a:pt x="7436" y="8014"/>
                    <a:pt x="8409" y="7647"/>
                    <a:pt x="9182" y="7036"/>
                  </a:cubicBezTo>
                  <a:cubicBezTo>
                    <a:pt x="12302" y="8627"/>
                    <a:pt x="12678" y="11589"/>
                    <a:pt x="12754" y="12468"/>
                  </a:cubicBezTo>
                  <a:cubicBezTo>
                    <a:pt x="12736" y="12486"/>
                    <a:pt x="18" y="12470"/>
                    <a:pt x="0" y="12468"/>
                  </a:cubicBezTo>
                  <a:close/>
                  <a:moveTo>
                    <a:pt x="0" y="12468"/>
                  </a:moveTo>
                  <a:close/>
                </a:path>
              </a:pathLst>
            </a:cu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47986" y="6175699"/>
              <a:ext cx="742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Client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054" y="5444689"/>
            <a:ext cx="797614" cy="79761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03" y="5521941"/>
            <a:ext cx="643111" cy="64311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365" y="5507290"/>
            <a:ext cx="692585" cy="67241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808" y="5734393"/>
            <a:ext cx="948106" cy="218206"/>
          </a:xfrm>
          <a:prstGeom prst="rect">
            <a:avLst/>
          </a:prstGeom>
        </p:spPr>
      </p:pic>
      <p:cxnSp>
        <p:nvCxnSpPr>
          <p:cNvPr id="22" name="直接箭头连接符 21"/>
          <p:cNvCxnSpPr>
            <a:stCxn id="11" idx="8"/>
            <a:endCxn id="12" idx="1"/>
          </p:cNvCxnSpPr>
          <p:nvPr/>
        </p:nvCxnSpPr>
        <p:spPr>
          <a:xfrm>
            <a:off x="2023890" y="5802650"/>
            <a:ext cx="1867390" cy="2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266439" y="5507493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build .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94039" y="4072196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DockerHub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云形 29"/>
          <p:cNvSpPr/>
          <p:nvPr/>
        </p:nvSpPr>
        <p:spPr>
          <a:xfrm>
            <a:off x="4097933" y="2800362"/>
            <a:ext cx="1486304" cy="934719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2">
                    <a:lumMod val="75000"/>
                  </a:schemeClr>
                </a:solidFill>
              </a:rPr>
              <a:t>私有云</a:t>
            </a: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33333E-6 L 0.11498 -3.33333E-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2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-1.85185E-6 L 0.19558 -1.85185E-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E-6 -3.33333E-6 L 0.27553 -0.0004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-2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0833E-6 -3.33333E-6 L 0.36459 -3.33333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98 -3.33333E-6 L 0.29284 -0.35162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93" y="-1759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58 -1.85185E-6 L 0.15313 -0.3379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-16898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53 -0.00046 L 0.2198 -0.3115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6" y="-1555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459 -3.33333E-6 L 0.22214 -0.38102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2" y="-1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26" grpId="0" animBg="1"/>
      <p:bldP spid="12" grpId="0" animBg="1"/>
      <p:bldP spid="23" grpId="0"/>
      <p:bldP spid="27" grpId="0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架构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586010"/>
            <a:ext cx="9700811" cy="1302664"/>
          </a:xfrm>
        </p:spPr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是一个</a:t>
            </a:r>
            <a:r>
              <a:rPr lang="en-US" altLang="zh-CN"/>
              <a:t>CS</a:t>
            </a:r>
            <a:r>
              <a:rPr lang="zh-CN" altLang="en-US"/>
              <a:t>架构的程序，由两部分组成：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/>
              <a:t>服务端</a:t>
            </a:r>
            <a:r>
              <a:rPr lang="en-US" altLang="zh-CN"/>
              <a:t>(server)</a:t>
            </a:r>
            <a:r>
              <a:rPr lang="zh-CN" altLang="en-US"/>
              <a:t>：</a:t>
            </a:r>
            <a:r>
              <a:rPr lang="en-US" altLang="zh-CN"/>
              <a:t>Docker</a:t>
            </a:r>
            <a:r>
              <a:rPr lang="zh-CN" altLang="en-US"/>
              <a:t>守护进程，负责处理</a:t>
            </a:r>
            <a:r>
              <a:rPr lang="en-US" altLang="zh-CN"/>
              <a:t>Docker</a:t>
            </a:r>
            <a:r>
              <a:rPr lang="zh-CN" altLang="en-US"/>
              <a:t>指令，管理镜像、容器等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/>
              <a:t>客户端</a:t>
            </a:r>
            <a:r>
              <a:rPr lang="en-US" altLang="zh-CN"/>
              <a:t>(client)</a:t>
            </a:r>
            <a:r>
              <a:rPr lang="zh-CN" altLang="en-US"/>
              <a:t>：通过命令或</a:t>
            </a:r>
            <a:r>
              <a:rPr lang="en-US" altLang="zh-CN"/>
              <a:t>RestAPI</a:t>
            </a:r>
            <a:r>
              <a:rPr lang="zh-CN" altLang="en-US"/>
              <a:t>向</a:t>
            </a:r>
            <a:r>
              <a:rPr lang="en-US" altLang="zh-CN"/>
              <a:t>Docker</a:t>
            </a:r>
            <a:r>
              <a:rPr lang="zh-CN" altLang="en-US"/>
              <a:t>服务端发送指令。可以在本地或远程向服务端发送指令。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93818" y="3258244"/>
            <a:ext cx="2161309" cy="1901538"/>
            <a:chOff x="893618" y="3106880"/>
            <a:chExt cx="2161309" cy="1901538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7" name="矩形 6"/>
            <p:cNvSpPr/>
            <p:nvPr/>
          </p:nvSpPr>
          <p:spPr>
            <a:xfrm>
              <a:off x="893618" y="3262745"/>
              <a:ext cx="2161309" cy="174567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893618" y="3106880"/>
              <a:ext cx="950680" cy="3221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Client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679566" y="3258244"/>
            <a:ext cx="3803073" cy="3331295"/>
            <a:chOff x="893618" y="3131850"/>
            <a:chExt cx="3803073" cy="3331295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1" name="矩形 10"/>
            <p:cNvSpPr/>
            <p:nvPr/>
          </p:nvSpPr>
          <p:spPr>
            <a:xfrm>
              <a:off x="893618" y="3262745"/>
              <a:ext cx="3803073" cy="32004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893618" y="3131850"/>
              <a:ext cx="1620138" cy="2971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DockerServer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125934" y="3258244"/>
            <a:ext cx="2161310" cy="1901538"/>
            <a:chOff x="893617" y="3106880"/>
            <a:chExt cx="2161310" cy="1901538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4" name="矩形 13"/>
            <p:cNvSpPr/>
            <p:nvPr/>
          </p:nvSpPr>
          <p:spPr>
            <a:xfrm>
              <a:off x="893618" y="3262745"/>
              <a:ext cx="2161309" cy="1745673"/>
            </a:xfrm>
            <a:prstGeom prst="rect">
              <a:avLst/>
            </a:prstGeom>
            <a:solidFill>
              <a:srgbClr val="ADE5F9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893617" y="3106880"/>
              <a:ext cx="1135447" cy="2971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Registry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7" name="矩形: 圆角 16"/>
          <p:cNvSpPr/>
          <p:nvPr/>
        </p:nvSpPr>
        <p:spPr>
          <a:xfrm>
            <a:off x="1218969" y="4366971"/>
            <a:ext cx="1499066" cy="2721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5000" sy="105000" algn="ctr" rotWithShape="0">
              <a:srgbClr val="B70006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pull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222517" y="4793027"/>
            <a:ext cx="1495517" cy="2721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5000" sy="105000" algn="ctr" rotWithShape="0">
              <a:srgbClr val="B70006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843740" y="4199450"/>
            <a:ext cx="1455964" cy="2134920"/>
            <a:chOff x="893617" y="3106880"/>
            <a:chExt cx="1455964" cy="2054384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21" name="矩形 20"/>
            <p:cNvSpPr/>
            <p:nvPr/>
          </p:nvSpPr>
          <p:spPr>
            <a:xfrm>
              <a:off x="893618" y="3249385"/>
              <a:ext cx="1455963" cy="19118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893617" y="3106880"/>
              <a:ext cx="1230887" cy="3221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880453" y="4199450"/>
            <a:ext cx="1455963" cy="2134920"/>
            <a:chOff x="893618" y="3106880"/>
            <a:chExt cx="1455963" cy="2248883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30" name="矩形 29"/>
            <p:cNvSpPr/>
            <p:nvPr/>
          </p:nvSpPr>
          <p:spPr>
            <a:xfrm>
              <a:off x="893618" y="3262745"/>
              <a:ext cx="1455963" cy="20930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893618" y="3106880"/>
              <a:ext cx="1081486" cy="3221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images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2" name="矩形: 圆角 31"/>
          <p:cNvSpPr/>
          <p:nvPr/>
        </p:nvSpPr>
        <p:spPr>
          <a:xfrm>
            <a:off x="3886032" y="3637546"/>
            <a:ext cx="3330429" cy="212927"/>
          </a:xfrm>
          <a:prstGeom prst="roundRect">
            <a:avLst/>
          </a:prstGeom>
          <a:solidFill>
            <a:srgbClr val="49504F"/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daemon </a:t>
            </a:r>
            <a:r>
              <a:rPr lang="zh-CN" altLang="en-US" sz="14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守护进程</a:t>
            </a:r>
          </a:p>
        </p:txBody>
      </p:sp>
      <p:grpSp>
        <p:nvGrpSpPr>
          <p:cNvPr id="115" name="组合 114"/>
          <p:cNvGrpSpPr/>
          <p:nvPr/>
        </p:nvGrpSpPr>
        <p:grpSpPr>
          <a:xfrm>
            <a:off x="8932258" y="3353103"/>
            <a:ext cx="1944835" cy="1426215"/>
            <a:chOff x="8275075" y="3486182"/>
            <a:chExt cx="1944835" cy="1426215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075" y="3486182"/>
              <a:ext cx="797614" cy="797614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2168" y="4239985"/>
              <a:ext cx="643111" cy="643111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9578" y="4239985"/>
              <a:ext cx="692585" cy="672412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1804" y="3808838"/>
              <a:ext cx="948106" cy="218206"/>
            </a:xfrm>
            <a:prstGeom prst="rect">
              <a:avLst/>
            </a:prstGeom>
          </p:spPr>
        </p:pic>
      </p:grpSp>
      <p:pic>
        <p:nvPicPr>
          <p:cNvPr id="52" name="图片 5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856" y="2903292"/>
            <a:ext cx="971693" cy="971693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30" y="5423354"/>
            <a:ext cx="692585" cy="672412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627" y="4846928"/>
            <a:ext cx="948106" cy="218206"/>
          </a:xfrm>
          <a:prstGeom prst="rect">
            <a:avLst/>
          </a:prstGeom>
        </p:spPr>
      </p:pic>
      <p:cxnSp>
        <p:nvCxnSpPr>
          <p:cNvPr id="69" name="连接符: 曲线 68"/>
          <p:cNvCxnSpPr>
            <a:stCxn id="17" idx="3"/>
            <a:endCxn id="32" idx="1"/>
          </p:cNvCxnSpPr>
          <p:nvPr/>
        </p:nvCxnSpPr>
        <p:spPr>
          <a:xfrm flipV="1">
            <a:off x="2718035" y="3744010"/>
            <a:ext cx="1167997" cy="759015"/>
          </a:xfrm>
          <a:prstGeom prst="curvedConnector3">
            <a:avLst>
              <a:gd name="adj1" fmla="val 50000"/>
            </a:avLst>
          </a:prstGeom>
          <a:ln w="19050">
            <a:solidFill>
              <a:srgbClr val="AD2B26"/>
            </a:solidFill>
            <a:prstDash val="lgDashDot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连接符: 曲线 73"/>
          <p:cNvCxnSpPr>
            <a:stCxn id="18" idx="3"/>
            <a:endCxn id="32" idx="1"/>
          </p:cNvCxnSpPr>
          <p:nvPr/>
        </p:nvCxnSpPr>
        <p:spPr>
          <a:xfrm flipV="1">
            <a:off x="2718034" y="3744010"/>
            <a:ext cx="1167998" cy="1185071"/>
          </a:xfrm>
          <a:prstGeom prst="curvedConnector3">
            <a:avLst>
              <a:gd name="adj1" fmla="val 50000"/>
            </a:avLst>
          </a:prstGeom>
          <a:ln w="19050">
            <a:solidFill>
              <a:srgbClr val="00B0F0"/>
            </a:solidFill>
            <a:prstDash val="dash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连接符: 曲线 78"/>
          <p:cNvCxnSpPr>
            <a:stCxn id="32" idx="3"/>
          </p:cNvCxnSpPr>
          <p:nvPr/>
        </p:nvCxnSpPr>
        <p:spPr>
          <a:xfrm>
            <a:off x="7216461" y="3744010"/>
            <a:ext cx="1242568" cy="877999"/>
          </a:xfrm>
          <a:prstGeom prst="curvedConnector3">
            <a:avLst>
              <a:gd name="adj1" fmla="val 50000"/>
            </a:avLst>
          </a:prstGeom>
          <a:ln w="19050">
            <a:solidFill>
              <a:srgbClr val="AD2B26"/>
            </a:solidFill>
            <a:prstDash val="lgDashDotDot"/>
            <a:headEnd type="none" w="lg" len="sm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连接符: 曲线 81"/>
          <p:cNvCxnSpPr>
            <a:endCxn id="53" idx="3"/>
          </p:cNvCxnSpPr>
          <p:nvPr/>
        </p:nvCxnSpPr>
        <p:spPr>
          <a:xfrm rot="10800000" flipV="1">
            <a:off x="6947516" y="4660728"/>
            <a:ext cx="1511513" cy="1098832"/>
          </a:xfrm>
          <a:prstGeom prst="curvedConnector3">
            <a:avLst>
              <a:gd name="adj1" fmla="val 50000"/>
            </a:avLst>
          </a:prstGeom>
          <a:ln w="19050">
            <a:solidFill>
              <a:srgbClr val="AD2B26"/>
            </a:solidFill>
            <a:prstDash val="lgDashDot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连接符: 曲线 88"/>
          <p:cNvCxnSpPr>
            <a:stCxn id="32" idx="2"/>
            <a:endCxn id="53" idx="1"/>
          </p:cNvCxnSpPr>
          <p:nvPr/>
        </p:nvCxnSpPr>
        <p:spPr>
          <a:xfrm rot="16200000" flipH="1">
            <a:off x="4948545" y="4453174"/>
            <a:ext cx="1909087" cy="703683"/>
          </a:xfrm>
          <a:prstGeom prst="curvedConnector2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连接符: 曲线 90"/>
          <p:cNvCxnSpPr>
            <a:stCxn id="53" idx="1"/>
          </p:cNvCxnSpPr>
          <p:nvPr/>
        </p:nvCxnSpPr>
        <p:spPr>
          <a:xfrm rot="10800000">
            <a:off x="4897134" y="4985012"/>
            <a:ext cx="1357796" cy="774548"/>
          </a:xfrm>
          <a:prstGeom prst="curvedConnector3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连接符: 曲线 92"/>
          <p:cNvCxnSpPr>
            <a:stCxn id="53" idx="1"/>
          </p:cNvCxnSpPr>
          <p:nvPr/>
        </p:nvCxnSpPr>
        <p:spPr>
          <a:xfrm rot="10800000" flipV="1">
            <a:off x="4904178" y="5759560"/>
            <a:ext cx="1350752" cy="301890"/>
          </a:xfrm>
          <a:prstGeom prst="curvedConnector3">
            <a:avLst/>
          </a:prstGeom>
          <a:ln w="19050">
            <a:solidFill>
              <a:srgbClr val="00B0F0"/>
            </a:solidFill>
            <a:prstDash val="dashDot"/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图片 95"/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160321" y="4622009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160321" y="5159782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7"/>
          <a:srcRect l="34310" t="74742" r="57985" b="12183"/>
          <a:stretch>
            <a:fillRect/>
          </a:stretch>
        </p:blipFill>
        <p:spPr>
          <a:xfrm>
            <a:off x="4174326" y="5685790"/>
            <a:ext cx="727846" cy="635344"/>
          </a:xfrm>
          <a:custGeom>
            <a:avLst/>
            <a:gdLst>
              <a:gd name="connsiteX0" fmla="*/ 150495 w 569595"/>
              <a:gd name="connsiteY0" fmla="*/ 0 h 497205"/>
              <a:gd name="connsiteX1" fmla="*/ 569595 w 569595"/>
              <a:gd name="connsiteY1" fmla="*/ 116205 h 497205"/>
              <a:gd name="connsiteX2" fmla="*/ 569595 w 569595"/>
              <a:gd name="connsiteY2" fmla="*/ 382905 h 497205"/>
              <a:gd name="connsiteX3" fmla="*/ 434340 w 569595"/>
              <a:gd name="connsiteY3" fmla="*/ 497205 h 497205"/>
              <a:gd name="connsiteX4" fmla="*/ 0 w 569595"/>
              <a:gd name="connsiteY4" fmla="*/ 356235 h 497205"/>
              <a:gd name="connsiteX5" fmla="*/ 0 w 569595"/>
              <a:gd name="connsiteY5" fmla="*/ 97155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595" h="497205">
                <a:moveTo>
                  <a:pt x="150495" y="0"/>
                </a:moveTo>
                <a:lnTo>
                  <a:pt x="569595" y="116205"/>
                </a:lnTo>
                <a:lnTo>
                  <a:pt x="569595" y="382905"/>
                </a:lnTo>
                <a:lnTo>
                  <a:pt x="434340" y="497205"/>
                </a:lnTo>
                <a:lnTo>
                  <a:pt x="0" y="356235"/>
                </a:lnTo>
                <a:lnTo>
                  <a:pt x="0" y="97155"/>
                </a:lnTo>
                <a:close/>
              </a:path>
            </a:pathLst>
          </a:custGeom>
        </p:spPr>
      </p:pic>
      <p:sp>
        <p:nvSpPr>
          <p:cNvPr id="46" name="矩形: 圆角 45"/>
          <p:cNvSpPr/>
          <p:nvPr/>
        </p:nvSpPr>
        <p:spPr>
          <a:xfrm>
            <a:off x="1218969" y="3902156"/>
            <a:ext cx="1499066" cy="2721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5000" sy="105000" algn="ctr" rotWithShape="0">
              <a:srgbClr val="B70006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build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7" name="连接符: 曲线 46"/>
          <p:cNvCxnSpPr>
            <a:stCxn id="46" idx="3"/>
            <a:endCxn id="32" idx="1"/>
          </p:cNvCxnSpPr>
          <p:nvPr/>
        </p:nvCxnSpPr>
        <p:spPr>
          <a:xfrm flipV="1">
            <a:off x="2718035" y="3744010"/>
            <a:ext cx="1167997" cy="294200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连接符: 曲线 50"/>
          <p:cNvCxnSpPr>
            <a:stCxn id="32" idx="2"/>
            <a:endCxn id="56" idx="1"/>
          </p:cNvCxnSpPr>
          <p:nvPr/>
        </p:nvCxnSpPr>
        <p:spPr>
          <a:xfrm rot="16200000" flipH="1">
            <a:off x="5306658" y="4095062"/>
            <a:ext cx="1105558" cy="616380"/>
          </a:xfrm>
          <a:prstGeom prst="curvedConnector2">
            <a:avLst/>
          </a:prstGeom>
          <a:ln w="19050">
            <a:solidFill>
              <a:srgbClr val="00B050"/>
            </a:solidFill>
            <a:prstDash val="dash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800" decel="100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-0.05599 0.13194 " pathEditMode="relative" rAng="0" ptsTypes="AA">
                                      <p:cBhvr>
                                        <p:cTn id="74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2" grpId="0" animBg="1"/>
      <p:bldP spid="4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098007" cy="4511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镜像：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将应用程序及其依赖、环境、配置打包在一起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/>
              <a:t>容器：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镜像运行起来就是容器，一个镜像可以运行多个容器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/>
              <a:t>Docker</a:t>
            </a:r>
            <a:r>
              <a:rPr lang="zh-CN" altLang="en-US"/>
              <a:t>结构：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服务端：接收命令或远程请求，操作镜像或容器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客户端：发送命令或者请求到</a:t>
            </a:r>
            <a:r>
              <a:rPr lang="en-US" altLang="zh-CN" sz="1600"/>
              <a:t>Docker</a:t>
            </a:r>
            <a:r>
              <a:rPr lang="zh-CN" altLang="en-US" sz="1600"/>
              <a:t>服务端</a:t>
            </a:r>
            <a:endParaRPr lang="en-US" altLang="zh-CN" sz="160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/>
              <a:t>DockerHub</a:t>
            </a:r>
            <a:r>
              <a:rPr lang="zh-CN" altLang="en-US"/>
              <a:t>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一个镜像托管的服务器，类似的还有阿里云镜像服务，统称为</a:t>
            </a:r>
            <a:r>
              <a:rPr lang="en-US" altLang="zh-CN" sz="1600"/>
              <a:t>DockerRegistry</a:t>
            </a: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初识</a:t>
            </a:r>
            <a:r>
              <a:rPr lang="en-US" altLang="zh-CN"/>
              <a:t>Docker</a:t>
            </a:r>
            <a:endParaRPr kumimoji="1"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Docker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企业部署一般都是采用</a:t>
            </a:r>
            <a:r>
              <a:rPr lang="en-US" altLang="zh-CN"/>
              <a:t>Linux</a:t>
            </a:r>
            <a:r>
              <a:rPr lang="zh-CN" altLang="en-US"/>
              <a:t>操作系统，而其中又数</a:t>
            </a:r>
            <a:r>
              <a:rPr lang="en-US" altLang="zh-CN"/>
              <a:t>CentOS</a:t>
            </a:r>
            <a:r>
              <a:rPr lang="zh-CN" altLang="en-US"/>
              <a:t>发行版占比最多，因此我们在</a:t>
            </a:r>
            <a:r>
              <a:rPr lang="en-US" altLang="zh-CN"/>
              <a:t>CentOS</a:t>
            </a:r>
            <a:r>
              <a:rPr lang="zh-CN" altLang="en-US"/>
              <a:t>下安装</a:t>
            </a:r>
            <a:r>
              <a:rPr lang="en-US" altLang="zh-CN"/>
              <a:t>Docker</a:t>
            </a:r>
            <a:r>
              <a:rPr lang="zh-CN" altLang="en-US"/>
              <a:t>。参考课前资料中的文档：</a:t>
            </a:r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63555" y="2879660"/>
          <a:ext cx="2777172" cy="886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2019300" imgH="638175" progId="Package">
                  <p:embed/>
                </p:oleObj>
              </mc:Choice>
              <mc:Fallback>
                <p:oleObj name="包装程序外壳对象" showAsIcon="1" r:id="rId2" imgW="2019300" imgH="638175" progId="Package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3555" y="2879660"/>
                        <a:ext cx="2777172" cy="886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3" y="1463040"/>
            <a:ext cx="6098007" cy="4511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什么是</a:t>
            </a:r>
            <a:r>
              <a:rPr lang="en-US" altLang="zh-CN" dirty="0"/>
              <a:t>Docker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帮助我们快速构建应用镜像、交付应用、运行应用的技术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什么是镜像：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将应用程序及其依赖、环境、配置打包在一起就是镜像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什么是容器：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镜像运行起来就是容器，一个镜像可以运行多个容器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Docker</a:t>
            </a:r>
            <a:r>
              <a:rPr lang="zh-CN" altLang="en-US" dirty="0"/>
              <a:t>工作流：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构建自定义镜像或者从</a:t>
            </a:r>
            <a:r>
              <a:rPr lang="en-US" altLang="zh-CN" sz="1600" dirty="0" err="1"/>
              <a:t>DockerRegistry</a:t>
            </a:r>
            <a:r>
              <a:rPr lang="zh-CN" altLang="en-US" sz="1600" dirty="0"/>
              <a:t>拉取镜像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根据镜像创建容器，并运行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认识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/>
              <a:t>镜像操作</a:t>
            </a:r>
            <a:endParaRPr lang="en-US" altLang="zh-CN"/>
          </a:p>
          <a:p>
            <a:r>
              <a:rPr lang="zh-CN" altLang="en-US"/>
              <a:t>容器操作</a:t>
            </a:r>
            <a:endParaRPr lang="en-US" altLang="zh-CN"/>
          </a:p>
          <a:p>
            <a:r>
              <a:rPr lang="zh-CN" altLang="en-US"/>
              <a:t>数据卷（容器数据管理）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>
            <a:off x="6149009" y="3530271"/>
            <a:ext cx="728870" cy="6136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4757531" y="3530271"/>
            <a:ext cx="1232452" cy="61360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镜像相关命令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79" y="1656000"/>
            <a:ext cx="10546005" cy="8297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镜像名称一般分两部分组成：</a:t>
            </a:r>
            <a:r>
              <a:rPr lang="en-US" altLang="zh-CN"/>
              <a:t>[repository]:[tag]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在没有指定</a:t>
            </a:r>
            <a:r>
              <a:rPr lang="en-US" altLang="zh-CN"/>
              <a:t>tag</a:t>
            </a:r>
            <a:r>
              <a:rPr lang="zh-CN" altLang="en-US"/>
              <a:t>时，默认是</a:t>
            </a:r>
            <a:r>
              <a:rPr lang="en-US" altLang="zh-CN"/>
              <a:t>latest</a:t>
            </a:r>
            <a:r>
              <a:rPr lang="zh-CN" altLang="en-US"/>
              <a:t>，代表最新版本的镜像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57531" y="3575462"/>
            <a:ext cx="2120348" cy="523220"/>
          </a:xfrm>
          <a:prstGeom prst="rect">
            <a:avLst/>
          </a:prstGeom>
          <a:noFill/>
        </p:spPr>
        <p:txBody>
          <a:bodyPr wrap="square" lIns="73440" tIns="45720" rIns="0" bIns="45720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</a:rPr>
              <a:t>mysql:5.7</a:t>
            </a:r>
            <a:endParaRPr lang="zh-CN" altLang="en-US" sz="28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标注: 双弯曲线形(无边框) 11"/>
          <p:cNvSpPr/>
          <p:nvPr/>
        </p:nvSpPr>
        <p:spPr>
          <a:xfrm>
            <a:off x="1240966" y="4143874"/>
            <a:ext cx="2438400" cy="829748"/>
          </a:xfrm>
          <a:prstGeom prst="callout3">
            <a:avLst>
              <a:gd name="adj1" fmla="val -2013"/>
              <a:gd name="adj2" fmla="val 138950"/>
              <a:gd name="adj3" fmla="val 31527"/>
              <a:gd name="adj4" fmla="val 88224"/>
              <a:gd name="adj5" fmla="val 77640"/>
              <a:gd name="adj6" fmla="val 80615"/>
              <a:gd name="adj7" fmla="val 77826"/>
              <a:gd name="adj8" fmla="val 14494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accent1">
                    <a:lumMod val="75000"/>
                  </a:schemeClr>
                </a:solidFill>
              </a:rPr>
              <a:t>Repository</a:t>
            </a:r>
            <a:endParaRPr lang="zh-CN" altLang="en-US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标注: 双弯曲线形(无边框) 12"/>
          <p:cNvSpPr/>
          <p:nvPr/>
        </p:nvSpPr>
        <p:spPr>
          <a:xfrm>
            <a:off x="7354957" y="4143874"/>
            <a:ext cx="2438400" cy="829748"/>
          </a:xfrm>
          <a:prstGeom prst="callout3">
            <a:avLst>
              <a:gd name="adj1" fmla="val 74650"/>
              <a:gd name="adj2" fmla="val 67210"/>
              <a:gd name="adj3" fmla="val 74649"/>
              <a:gd name="adj4" fmla="val 39311"/>
              <a:gd name="adj5" fmla="val 28129"/>
              <a:gd name="adj6" fmla="val 33876"/>
              <a:gd name="adj7" fmla="val -6822"/>
              <a:gd name="adj8" fmla="val -14309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accent6">
                    <a:lumMod val="75000"/>
                  </a:schemeClr>
                </a:solidFill>
              </a:rPr>
              <a:t>Tag</a:t>
            </a:r>
            <a:endParaRPr lang="zh-CN" altLang="en-US" sz="200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5" grpId="0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镜像操作命令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163157" y="4552544"/>
            <a:ext cx="3098800" cy="1462176"/>
          </a:xfrm>
          <a:prstGeom prst="roundRect">
            <a:avLst>
              <a:gd name="adj" fmla="val 870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400"/>
              <a:t>Local</a:t>
            </a:r>
            <a:r>
              <a:rPr lang="zh-CN" altLang="en-US" sz="1400"/>
              <a:t>（本地）</a:t>
            </a:r>
          </a:p>
        </p:txBody>
      </p:sp>
      <p:sp>
        <p:nvSpPr>
          <p:cNvPr id="8" name="云形 7"/>
          <p:cNvSpPr/>
          <p:nvPr/>
        </p:nvSpPr>
        <p:spPr>
          <a:xfrm>
            <a:off x="3949797" y="1521203"/>
            <a:ext cx="3647440" cy="914400"/>
          </a:xfrm>
          <a:prstGeom prst="cloud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Docker Registry</a:t>
            </a:r>
          </a:p>
          <a:p>
            <a:pPr algn="ctr"/>
            <a:r>
              <a:rPr lang="zh-CN" altLang="en-US" sz="1400"/>
              <a:t>镜像服务器</a:t>
            </a:r>
          </a:p>
        </p:txBody>
      </p:sp>
      <p:sp>
        <p:nvSpPr>
          <p:cNvPr id="12" name="任意多边形: 形状 11"/>
          <p:cNvSpPr/>
          <p:nvPr/>
        </p:nvSpPr>
        <p:spPr>
          <a:xfrm rot="5236253">
            <a:off x="8266874" y="3719915"/>
            <a:ext cx="534841" cy="2472448"/>
          </a:xfrm>
          <a:custGeom>
            <a:avLst/>
            <a:gdLst>
              <a:gd name="connsiteX0" fmla="*/ 660507 w 660507"/>
              <a:gd name="connsiteY0" fmla="*/ 1981200 h 1981200"/>
              <a:gd name="connsiteX1" fmla="*/ 107 w 660507"/>
              <a:gd name="connsiteY1" fmla="*/ 894080 h 1981200"/>
              <a:gd name="connsiteX2" fmla="*/ 619867 w 660507"/>
              <a:gd name="connsiteY2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507" h="1981200">
                <a:moveTo>
                  <a:pt x="660507" y="1981200"/>
                </a:moveTo>
                <a:cubicBezTo>
                  <a:pt x="333693" y="1602740"/>
                  <a:pt x="6880" y="1224280"/>
                  <a:pt x="107" y="894080"/>
                </a:cubicBezTo>
                <a:cubicBezTo>
                  <a:pt x="-6666" y="563880"/>
                  <a:pt x="306600" y="281940"/>
                  <a:pt x="619867" y="0"/>
                </a:cubicBezTo>
              </a:path>
            </a:pathLst>
          </a:custGeom>
          <a:ln>
            <a:solidFill>
              <a:srgbClr val="00B0F0"/>
            </a:solidFill>
            <a:tailEnd type="stealt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49172" y="3167390"/>
            <a:ext cx="141897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push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推送镜像到服务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 rot="10800000">
            <a:off x="5822719" y="2519680"/>
            <a:ext cx="540435" cy="1981200"/>
          </a:xfrm>
          <a:custGeom>
            <a:avLst/>
            <a:gdLst>
              <a:gd name="connsiteX0" fmla="*/ 660507 w 660507"/>
              <a:gd name="connsiteY0" fmla="*/ 1981200 h 1981200"/>
              <a:gd name="connsiteX1" fmla="*/ 107 w 660507"/>
              <a:gd name="connsiteY1" fmla="*/ 894080 h 1981200"/>
              <a:gd name="connsiteX2" fmla="*/ 619867 w 660507"/>
              <a:gd name="connsiteY2" fmla="*/ 0 h 1981200"/>
              <a:gd name="connsiteX0-1" fmla="*/ 495603 w 495603"/>
              <a:gd name="connsiteY0-2" fmla="*/ 1981200 h 1981200"/>
              <a:gd name="connsiteX1-3" fmla="*/ 222 w 495603"/>
              <a:gd name="connsiteY1-4" fmla="*/ 1069927 h 1981200"/>
              <a:gd name="connsiteX2-5" fmla="*/ 454963 w 495603"/>
              <a:gd name="connsiteY2-6" fmla="*/ 0 h 1981200"/>
              <a:gd name="connsiteX0-7" fmla="*/ 542700 w 542700"/>
              <a:gd name="connsiteY0-8" fmla="*/ 1981200 h 1981200"/>
              <a:gd name="connsiteX1-9" fmla="*/ 170 w 542700"/>
              <a:gd name="connsiteY1-10" fmla="*/ 1069927 h 1981200"/>
              <a:gd name="connsiteX2-11" fmla="*/ 502060 w 542700"/>
              <a:gd name="connsiteY2-12" fmla="*/ 0 h 1981200"/>
              <a:gd name="connsiteX0-13" fmla="*/ 564660 w 564660"/>
              <a:gd name="connsiteY0-14" fmla="*/ 1981200 h 1981200"/>
              <a:gd name="connsiteX1-15" fmla="*/ 22130 w 564660"/>
              <a:gd name="connsiteY1-16" fmla="*/ 1069927 h 1981200"/>
              <a:gd name="connsiteX2-17" fmla="*/ 524020 w 564660"/>
              <a:gd name="connsiteY2-18" fmla="*/ 0 h 1981200"/>
              <a:gd name="connsiteX0-19" fmla="*/ 543386 w 543386"/>
              <a:gd name="connsiteY0-20" fmla="*/ 1981200 h 1981200"/>
              <a:gd name="connsiteX1-21" fmla="*/ 856 w 543386"/>
              <a:gd name="connsiteY1-22" fmla="*/ 1069927 h 1981200"/>
              <a:gd name="connsiteX2-23" fmla="*/ 502746 w 543386"/>
              <a:gd name="connsiteY2-24" fmla="*/ 0 h 1981200"/>
              <a:gd name="connsiteX0-25" fmla="*/ 543386 w 543386"/>
              <a:gd name="connsiteY0-26" fmla="*/ 1981200 h 1981200"/>
              <a:gd name="connsiteX1-27" fmla="*/ 856 w 543386"/>
              <a:gd name="connsiteY1-28" fmla="*/ 1069927 h 1981200"/>
              <a:gd name="connsiteX2-29" fmla="*/ 502746 w 543386"/>
              <a:gd name="connsiteY2-30" fmla="*/ 0 h 1981200"/>
              <a:gd name="connsiteX0-31" fmla="*/ 543386 w 543386"/>
              <a:gd name="connsiteY0-32" fmla="*/ 1981200 h 1981200"/>
              <a:gd name="connsiteX1-33" fmla="*/ 856 w 543386"/>
              <a:gd name="connsiteY1-34" fmla="*/ 1069927 h 1981200"/>
              <a:gd name="connsiteX2-35" fmla="*/ 502746 w 543386"/>
              <a:gd name="connsiteY2-36" fmla="*/ 0 h 1981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43386" h="1981200">
                <a:moveTo>
                  <a:pt x="543386" y="1981200"/>
                </a:moveTo>
                <a:cubicBezTo>
                  <a:pt x="216572" y="1602740"/>
                  <a:pt x="-15946" y="1517358"/>
                  <a:pt x="856" y="1069927"/>
                </a:cubicBezTo>
                <a:cubicBezTo>
                  <a:pt x="17657" y="599050"/>
                  <a:pt x="189479" y="281940"/>
                  <a:pt x="502746" y="0"/>
                </a:cubicBezTo>
              </a:path>
            </a:pathLst>
          </a:custGeom>
          <a:ln>
            <a:solidFill>
              <a:srgbClr val="00B0F0"/>
            </a:solidFill>
            <a:tailEnd type="stealt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363154" y="3312602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pull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从服务拉取镜像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23177" y="4802002"/>
            <a:ext cx="277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docker images	</a:t>
            </a:r>
            <a:r>
              <a:rPr lang="zh-CN" altLang="en-US" sz="1400">
                <a:solidFill>
                  <a:schemeClr val="bg1"/>
                </a:solidFill>
                <a:latin typeface="+mn-lt"/>
                <a:ea typeface="+mn-ea"/>
              </a:rPr>
              <a:t>查看镜像</a:t>
            </a:r>
            <a:endParaRPr lang="en-US" altLang="zh-CN" sz="140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23177" y="5094722"/>
            <a:ext cx="277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</a:rPr>
              <a:t>docker rmi	</a:t>
            </a:r>
            <a:r>
              <a:rPr lang="zh-CN" altLang="en-US" sz="1400">
                <a:solidFill>
                  <a:schemeClr val="bg1"/>
                </a:solidFill>
              </a:rPr>
              <a:t>删除镜像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l="5298" t="6538" r="8205" b="4356"/>
          <a:stretch>
            <a:fillRect/>
          </a:stretch>
        </p:blipFill>
        <p:spPr>
          <a:xfrm>
            <a:off x="1023397" y="4813577"/>
            <a:ext cx="744856" cy="937083"/>
          </a:xfrm>
          <a:custGeom>
            <a:avLst/>
            <a:gdLst>
              <a:gd name="connsiteX0" fmla="*/ 0 w 744856"/>
              <a:gd name="connsiteY0" fmla="*/ 0 h 937083"/>
              <a:gd name="connsiteX1" fmla="*/ 681991 w 744856"/>
              <a:gd name="connsiteY1" fmla="*/ 0 h 937083"/>
              <a:gd name="connsiteX2" fmla="*/ 681991 w 744856"/>
              <a:gd name="connsiteY2" fmla="*/ 85548 h 937083"/>
              <a:gd name="connsiteX3" fmla="*/ 744856 w 744856"/>
              <a:gd name="connsiteY3" fmla="*/ 85548 h 937083"/>
              <a:gd name="connsiteX4" fmla="*/ 744856 w 744856"/>
              <a:gd name="connsiteY4" fmla="*/ 937083 h 937083"/>
              <a:gd name="connsiteX5" fmla="*/ 57150 w 744856"/>
              <a:gd name="connsiteY5" fmla="*/ 937083 h 937083"/>
              <a:gd name="connsiteX6" fmla="*/ 57150 w 744856"/>
              <a:gd name="connsiteY6" fmla="*/ 853614 h 937083"/>
              <a:gd name="connsiteX7" fmla="*/ 0 w 744856"/>
              <a:gd name="connsiteY7" fmla="*/ 853614 h 937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856" h="937083">
                <a:moveTo>
                  <a:pt x="0" y="0"/>
                </a:moveTo>
                <a:lnTo>
                  <a:pt x="681991" y="0"/>
                </a:lnTo>
                <a:lnTo>
                  <a:pt x="681991" y="85548"/>
                </a:lnTo>
                <a:lnTo>
                  <a:pt x="744856" y="85548"/>
                </a:lnTo>
                <a:lnTo>
                  <a:pt x="744856" y="937083"/>
                </a:lnTo>
                <a:lnTo>
                  <a:pt x="57150" y="937083"/>
                </a:lnTo>
                <a:lnTo>
                  <a:pt x="57150" y="853614"/>
                </a:lnTo>
                <a:lnTo>
                  <a:pt x="0" y="853614"/>
                </a:lnTo>
                <a:close/>
              </a:path>
            </a:pathLst>
          </a:custGeom>
        </p:spPr>
      </p:pic>
      <p:cxnSp>
        <p:nvCxnSpPr>
          <p:cNvPr id="34" name="直接箭头连接符 33"/>
          <p:cNvCxnSpPr>
            <a:endCxn id="7" idx="1"/>
          </p:cNvCxnSpPr>
          <p:nvPr/>
        </p:nvCxnSpPr>
        <p:spPr>
          <a:xfrm>
            <a:off x="1801348" y="5283631"/>
            <a:ext cx="2361809" cy="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38621" y="583920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Dockerfile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57502" y="4689447"/>
            <a:ext cx="149592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build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构建镜像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58537" y="4624516"/>
            <a:ext cx="1114408" cy="1315203"/>
          </a:xfrm>
          <a:custGeom>
            <a:avLst/>
            <a:gdLst>
              <a:gd name="connsiteX0" fmla="*/ 0 w 1114408"/>
              <a:gd name="connsiteY0" fmla="*/ 0 h 1315203"/>
              <a:gd name="connsiteX1" fmla="*/ 1114408 w 1114408"/>
              <a:gd name="connsiteY1" fmla="*/ 0 h 1315203"/>
              <a:gd name="connsiteX2" fmla="*/ 1114408 w 1114408"/>
              <a:gd name="connsiteY2" fmla="*/ 1126144 h 1315203"/>
              <a:gd name="connsiteX3" fmla="*/ 774140 w 1114408"/>
              <a:gd name="connsiteY3" fmla="*/ 1126144 h 1315203"/>
              <a:gd name="connsiteX4" fmla="*/ 774140 w 1114408"/>
              <a:gd name="connsiteY4" fmla="*/ 1315203 h 1315203"/>
              <a:gd name="connsiteX5" fmla="*/ 0 w 1114408"/>
              <a:gd name="connsiteY5" fmla="*/ 1315203 h 131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4408" h="1315203">
                <a:moveTo>
                  <a:pt x="0" y="0"/>
                </a:moveTo>
                <a:lnTo>
                  <a:pt x="1114408" y="0"/>
                </a:lnTo>
                <a:lnTo>
                  <a:pt x="1114408" y="1126144"/>
                </a:lnTo>
                <a:lnTo>
                  <a:pt x="774140" y="1126144"/>
                </a:lnTo>
                <a:lnTo>
                  <a:pt x="774140" y="1315203"/>
                </a:lnTo>
                <a:lnTo>
                  <a:pt x="0" y="1315203"/>
                </a:lnTo>
                <a:close/>
              </a:path>
            </a:pathLst>
          </a:custGeom>
        </p:spPr>
      </p:pic>
      <p:sp>
        <p:nvSpPr>
          <p:cNvPr id="47" name="文本框 46"/>
          <p:cNvSpPr txBox="1"/>
          <p:nvPr/>
        </p:nvSpPr>
        <p:spPr>
          <a:xfrm>
            <a:off x="7824257" y="4164822"/>
            <a:ext cx="1947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save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保存镜像为一个压缩包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844997" y="5977703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load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加载压缩包为镜像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5039772" y="2529468"/>
            <a:ext cx="639701" cy="1929210"/>
          </a:xfrm>
          <a:custGeom>
            <a:avLst/>
            <a:gdLst>
              <a:gd name="connsiteX0" fmla="*/ 660507 w 660507"/>
              <a:gd name="connsiteY0" fmla="*/ 1981200 h 1981200"/>
              <a:gd name="connsiteX1" fmla="*/ 107 w 660507"/>
              <a:gd name="connsiteY1" fmla="*/ 894080 h 1981200"/>
              <a:gd name="connsiteX2" fmla="*/ 619867 w 660507"/>
              <a:gd name="connsiteY2" fmla="*/ 0 h 1981200"/>
              <a:gd name="connsiteX0-1" fmla="*/ 510823 w 510823"/>
              <a:gd name="connsiteY0-2" fmla="*/ 1981200 h 1981200"/>
              <a:gd name="connsiteX1-3" fmla="*/ 203 w 510823"/>
              <a:gd name="connsiteY1-4" fmla="*/ 942237 h 1981200"/>
              <a:gd name="connsiteX2-5" fmla="*/ 470183 w 510823"/>
              <a:gd name="connsiteY2-6" fmla="*/ 0 h 1981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0823" h="1981200">
                <a:moveTo>
                  <a:pt x="510823" y="1981200"/>
                </a:moveTo>
                <a:cubicBezTo>
                  <a:pt x="184009" y="1602740"/>
                  <a:pt x="6976" y="1272437"/>
                  <a:pt x="203" y="942237"/>
                </a:cubicBezTo>
                <a:cubicBezTo>
                  <a:pt x="-6570" y="612037"/>
                  <a:pt x="156916" y="281940"/>
                  <a:pt x="470183" y="0"/>
                </a:cubicBezTo>
              </a:path>
            </a:pathLst>
          </a:custGeom>
          <a:ln>
            <a:solidFill>
              <a:srgbClr val="00B0F0"/>
            </a:solidFill>
            <a:tailEnd type="stealt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 rot="15888126">
            <a:off x="8242713" y="4382308"/>
            <a:ext cx="646810" cy="2445891"/>
          </a:xfrm>
          <a:custGeom>
            <a:avLst/>
            <a:gdLst>
              <a:gd name="connsiteX0" fmla="*/ 660507 w 660507"/>
              <a:gd name="connsiteY0" fmla="*/ 1981200 h 1981200"/>
              <a:gd name="connsiteX1" fmla="*/ 107 w 660507"/>
              <a:gd name="connsiteY1" fmla="*/ 894080 h 1981200"/>
              <a:gd name="connsiteX2" fmla="*/ 619867 w 660507"/>
              <a:gd name="connsiteY2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507" h="1981200">
                <a:moveTo>
                  <a:pt x="660507" y="1981200"/>
                </a:moveTo>
                <a:cubicBezTo>
                  <a:pt x="333693" y="1602740"/>
                  <a:pt x="6880" y="1224280"/>
                  <a:pt x="107" y="894080"/>
                </a:cubicBezTo>
                <a:cubicBezTo>
                  <a:pt x="-6666" y="563880"/>
                  <a:pt x="306600" y="281940"/>
                  <a:pt x="619867" y="0"/>
                </a:cubicBezTo>
              </a:path>
            </a:pathLst>
          </a:custGeom>
          <a:ln>
            <a:solidFill>
              <a:srgbClr val="00B0F0"/>
            </a:solidFill>
            <a:tailEnd type="stealt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35" grpId="0"/>
      <p:bldP spid="36" grpId="0" animBg="1"/>
      <p:bldP spid="47" grpId="0"/>
      <p:bldP spid="55" grpId="0"/>
      <p:bldP spid="63" grpId="0" animBg="1"/>
      <p:bldP spid="6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从</a:t>
            </a:r>
            <a:r>
              <a:rPr lang="en-US" altLang="zh-CN"/>
              <a:t>DockerHub</a:t>
            </a:r>
            <a:r>
              <a:rPr lang="zh-CN" altLang="en-US"/>
              <a:t>中拉取一个</a:t>
            </a:r>
            <a:r>
              <a:rPr lang="en-US" altLang="zh-CN"/>
              <a:t>nginx</a:t>
            </a:r>
            <a:r>
              <a:rPr lang="zh-CN" altLang="en-US"/>
              <a:t>镜像并查看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7897674" cy="42195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首先去镜像仓库搜索</a:t>
            </a:r>
            <a:r>
              <a:rPr lang="en-US" altLang="zh-CN"/>
              <a:t>nginx</a:t>
            </a:r>
            <a:r>
              <a:rPr lang="zh-CN" altLang="en-US"/>
              <a:t>镜像，比如</a:t>
            </a:r>
            <a:r>
              <a:rPr lang="en-US" altLang="zh-CN">
                <a:hlinkClick r:id="rId2"/>
              </a:rPr>
              <a:t>DockerHub</a:t>
            </a:r>
            <a:r>
              <a:rPr lang="en-US" altLang="zh-CN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根据查看到的镜像名称，拉取自己需要的镜像，通过命令：</a:t>
            </a:r>
            <a:r>
              <a:rPr lang="en-US" altLang="zh-CN"/>
              <a:t>docker pull nginx</a:t>
            </a:r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通过命令：</a:t>
            </a:r>
            <a:r>
              <a:rPr lang="en-US" altLang="zh-CN"/>
              <a:t>docker images </a:t>
            </a:r>
            <a:r>
              <a:rPr lang="zh-CN" altLang="en-US"/>
              <a:t>查看拉取到的镜像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941" y="2051573"/>
            <a:ext cx="4872403" cy="140971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942" y="3665091"/>
            <a:ext cx="5488349" cy="137742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941" y="5347093"/>
            <a:ext cx="7278251" cy="92750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利用</a:t>
            </a:r>
            <a:r>
              <a:rPr lang="en-US" altLang="zh-CN"/>
              <a:t>docker save</a:t>
            </a:r>
            <a:r>
              <a:rPr lang="zh-CN" altLang="en-US"/>
              <a:t>将</a:t>
            </a:r>
            <a:r>
              <a:rPr lang="en-US" altLang="zh-CN"/>
              <a:t>nginx</a:t>
            </a:r>
            <a:r>
              <a:rPr lang="zh-CN" altLang="en-US"/>
              <a:t>镜像导出磁盘，然后再通过</a:t>
            </a:r>
            <a:r>
              <a:rPr lang="en-US" altLang="zh-CN"/>
              <a:t>load</a:t>
            </a:r>
            <a:r>
              <a:rPr lang="zh-CN" altLang="en-US"/>
              <a:t>加载回来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202747" y="1622266"/>
            <a:ext cx="8294677" cy="517190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步骤一：利用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 xx --help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命令查看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 save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 load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的语法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步骤二：使用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 save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导出镜像到磁盘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步骤三：使用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 load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加载镜像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流程图: 资料带 3">
            <a:extLst>
              <a:ext uri="{FF2B5EF4-FFF2-40B4-BE49-F238E27FC236}">
                <a16:creationId xmlns:a16="http://schemas.microsoft.com/office/drawing/2014/main" id="{B10AE955-D38C-EBD5-F3D1-A6D55D5E3C7A}"/>
              </a:ext>
            </a:extLst>
          </p:cNvPr>
          <p:cNvSpPr/>
          <p:nvPr/>
        </p:nvSpPr>
        <p:spPr>
          <a:xfrm>
            <a:off x="2329962" y="2935074"/>
            <a:ext cx="6066692" cy="828034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docker save -o [</a:t>
            </a:r>
            <a:r>
              <a:rPr lang="zh-CN" altLang="en-US" dirty="0"/>
              <a:t>保存的目标文件名称</a:t>
            </a:r>
            <a:r>
              <a:rPr lang="en-US" altLang="zh-CN" dirty="0"/>
              <a:t>] [</a:t>
            </a:r>
            <a:r>
              <a:rPr lang="zh-CN" altLang="en-US" dirty="0"/>
              <a:t>镜像名称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5" name="流程图: 资料带 4">
            <a:extLst>
              <a:ext uri="{FF2B5EF4-FFF2-40B4-BE49-F238E27FC236}">
                <a16:creationId xmlns:a16="http://schemas.microsoft.com/office/drawing/2014/main" id="{82834F89-D294-02F9-CC20-2E2694C066DA}"/>
              </a:ext>
            </a:extLst>
          </p:cNvPr>
          <p:cNvSpPr/>
          <p:nvPr/>
        </p:nvSpPr>
        <p:spPr>
          <a:xfrm>
            <a:off x="2391509" y="4304528"/>
            <a:ext cx="6066692" cy="828034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zh-CN" dirty="0"/>
              <a:t>docker load -i </a:t>
            </a:r>
            <a:r>
              <a:rPr lang="zh-CN" altLang="en-US" dirty="0"/>
              <a:t>加载的文件名</a:t>
            </a:r>
          </a:p>
        </p:txBody>
      </p:sp>
      <p:sp>
        <p:nvSpPr>
          <p:cNvPr id="6" name="爆炸形: 14 pt  5">
            <a:extLst>
              <a:ext uri="{FF2B5EF4-FFF2-40B4-BE49-F238E27FC236}">
                <a16:creationId xmlns:a16="http://schemas.microsoft.com/office/drawing/2014/main" id="{3F9BF927-16FC-C091-2550-2E838D12E703}"/>
              </a:ext>
            </a:extLst>
          </p:cNvPr>
          <p:cNvSpPr/>
          <p:nvPr/>
        </p:nvSpPr>
        <p:spPr>
          <a:xfrm>
            <a:off x="3947746" y="5550890"/>
            <a:ext cx="3710354" cy="914400"/>
          </a:xfrm>
          <a:prstGeom prst="irregularSeal2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先删除本地的</a:t>
            </a:r>
            <a:r>
              <a:rPr lang="en-US" altLang="zh-CN" sz="1400" dirty="0"/>
              <a:t>nginx</a:t>
            </a:r>
            <a:r>
              <a:rPr lang="zh-CN" altLang="en-US" sz="1400" dirty="0"/>
              <a:t>镜像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镜像操作有哪些？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rmi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pull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push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save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docker load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镜像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139"/>
            <a:ext cx="8771021" cy="517190"/>
          </a:xfrm>
        </p:spPr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镜像操作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去</a:t>
            </a:r>
            <a:r>
              <a:rPr lang="en-US" altLang="zh-CN"/>
              <a:t>DockerHub</a:t>
            </a:r>
            <a:r>
              <a:rPr lang="zh-CN" altLang="en-US"/>
              <a:t>搜索并拉取一个</a:t>
            </a:r>
            <a:r>
              <a:rPr lang="en-US" altLang="zh-CN"/>
              <a:t>Redis</a:t>
            </a:r>
            <a:r>
              <a:rPr lang="zh-CN" altLang="en-US"/>
              <a:t>镜像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去</a:t>
            </a:r>
            <a:r>
              <a:rPr lang="en-US" altLang="zh-CN" dirty="0" err="1"/>
              <a:t>DockerHub</a:t>
            </a:r>
            <a:r>
              <a:rPr lang="zh-CN" altLang="en-US" dirty="0"/>
              <a:t>搜索</a:t>
            </a:r>
            <a:r>
              <a:rPr lang="en-US" altLang="zh-CN" dirty="0"/>
              <a:t>Redis</a:t>
            </a:r>
            <a:r>
              <a:rPr lang="zh-CN" altLang="en-US" dirty="0"/>
              <a:t>镜像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查看</a:t>
            </a:r>
            <a:r>
              <a:rPr lang="en-US" altLang="zh-CN" dirty="0"/>
              <a:t>Redis</a:t>
            </a:r>
            <a:r>
              <a:rPr lang="zh-CN" altLang="en-US" dirty="0"/>
              <a:t>镜像的名称和版本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/>
              <a:t>docker pull</a:t>
            </a:r>
            <a:r>
              <a:rPr lang="zh-CN" altLang="en-US" dirty="0"/>
              <a:t>命令拉取镜像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/>
              <a:t>docker save</a:t>
            </a:r>
            <a:r>
              <a:rPr lang="zh-CN" altLang="en-US" dirty="0"/>
              <a:t>命令将 </a:t>
            </a:r>
            <a:r>
              <a:rPr lang="en-US" altLang="zh-CN" dirty="0" err="1"/>
              <a:t>redis</a:t>
            </a:r>
            <a:r>
              <a:rPr lang="zh-CN" altLang="en-US" dirty="0"/>
              <a:t>镜像打包为一个</a:t>
            </a:r>
            <a:r>
              <a:rPr lang="en-US" altLang="zh-CN" dirty="0"/>
              <a:t>redis.tar</a:t>
            </a:r>
            <a:r>
              <a:rPr lang="zh-CN" altLang="en-US" dirty="0"/>
              <a:t>包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/>
              <a:t>docker </a:t>
            </a:r>
            <a:r>
              <a:rPr lang="en-US" altLang="zh-CN" dirty="0" err="1"/>
              <a:t>rmi</a:t>
            </a:r>
            <a:r>
              <a:rPr lang="en-US" altLang="zh-CN" dirty="0"/>
              <a:t> </a:t>
            </a:r>
            <a:r>
              <a:rPr lang="zh-CN" altLang="en-US" dirty="0"/>
              <a:t>删除本地的</a:t>
            </a:r>
            <a:r>
              <a:rPr lang="en-US" altLang="zh-CN" dirty="0" err="1"/>
              <a:t>redis</a:t>
            </a:r>
            <a:r>
              <a:rPr lang="zh-CN" altLang="en-US" dirty="0"/>
              <a:t>镜像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利用</a:t>
            </a:r>
            <a:r>
              <a:rPr lang="en-US" altLang="zh-CN" dirty="0"/>
              <a:t>docker load </a:t>
            </a:r>
            <a:r>
              <a:rPr lang="zh-CN" altLang="en-US" dirty="0"/>
              <a:t>重新加载 </a:t>
            </a:r>
            <a:r>
              <a:rPr lang="en-US" altLang="zh-CN" dirty="0"/>
              <a:t>redis.tar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容器相关命令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606849" y="3495386"/>
            <a:ext cx="2349661" cy="10619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镜像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6407693" y="2242878"/>
            <a:ext cx="4375230" cy="3566995"/>
          </a:xfrm>
          <a:prstGeom prst="roundRect">
            <a:avLst>
              <a:gd name="adj" fmla="val 942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CN" altLang="en-US"/>
              <a:t>容器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9463269" y="2553350"/>
            <a:ext cx="783529" cy="5171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暂停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7008390" y="3694147"/>
            <a:ext cx="848671" cy="594378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运行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9462147" y="4898735"/>
            <a:ext cx="783529" cy="51719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停止</a:t>
            </a:r>
          </a:p>
        </p:txBody>
      </p:sp>
      <p:sp>
        <p:nvSpPr>
          <p:cNvPr id="23" name="任意多边形: 形状 22"/>
          <p:cNvSpPr/>
          <p:nvPr/>
        </p:nvSpPr>
        <p:spPr>
          <a:xfrm rot="6538567">
            <a:off x="7769605" y="2451072"/>
            <a:ext cx="1651407" cy="1494796"/>
          </a:xfrm>
          <a:custGeom>
            <a:avLst/>
            <a:gdLst>
              <a:gd name="connsiteX0" fmla="*/ 952971 w 2230148"/>
              <a:gd name="connsiteY0" fmla="*/ 1398734 h 1912744"/>
              <a:gd name="connsiteX1" fmla="*/ 178002 w 2230148"/>
              <a:gd name="connsiteY1" fmla="*/ 421210 h 1912744"/>
              <a:gd name="connsiteX2" fmla="*/ 154228 w 2230148"/>
              <a:gd name="connsiteY2" fmla="*/ 308757 h 1912744"/>
              <a:gd name="connsiteX3" fmla="*/ 0 w 2230148"/>
              <a:gd name="connsiteY3" fmla="*/ 308757 h 1912744"/>
              <a:gd name="connsiteX4" fmla="*/ 196300 w 2230148"/>
              <a:gd name="connsiteY4" fmla="*/ 0 h 1912744"/>
              <a:gd name="connsiteX5" fmla="*/ 442377 w 2230148"/>
              <a:gd name="connsiteY5" fmla="*/ 308757 h 1912744"/>
              <a:gd name="connsiteX6" fmla="*/ 324578 w 2230148"/>
              <a:gd name="connsiteY6" fmla="*/ 308757 h 1912744"/>
              <a:gd name="connsiteX7" fmla="*/ 379696 w 2230148"/>
              <a:gd name="connsiteY7" fmla="*/ 506748 h 1912744"/>
              <a:gd name="connsiteX8" fmla="*/ 1052240 w 2230148"/>
              <a:gd name="connsiteY8" fmla="*/ 1271413 h 1912744"/>
              <a:gd name="connsiteX9" fmla="*/ 2064698 w 2230148"/>
              <a:gd name="connsiteY9" fmla="*/ 1749955 h 1912744"/>
              <a:gd name="connsiteX10" fmla="*/ 2166448 w 2230148"/>
              <a:gd name="connsiteY10" fmla="*/ 1741930 h 1912744"/>
              <a:gd name="connsiteX11" fmla="*/ 2230148 w 2230148"/>
              <a:gd name="connsiteY11" fmla="*/ 1899857 h 1912744"/>
              <a:gd name="connsiteX12" fmla="*/ 2153303 w 2230148"/>
              <a:gd name="connsiteY12" fmla="*/ 1912236 h 1912744"/>
              <a:gd name="connsiteX13" fmla="*/ 952971 w 2230148"/>
              <a:gd name="connsiteY13" fmla="*/ 1398734 h 191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0148" h="1912744">
                <a:moveTo>
                  <a:pt x="952971" y="1398734"/>
                </a:moveTo>
                <a:cubicBezTo>
                  <a:pt x="547834" y="1082859"/>
                  <a:pt x="265530" y="713255"/>
                  <a:pt x="178002" y="421210"/>
                </a:cubicBezTo>
                <a:lnTo>
                  <a:pt x="154228" y="308757"/>
                </a:lnTo>
                <a:lnTo>
                  <a:pt x="0" y="308757"/>
                </a:lnTo>
                <a:lnTo>
                  <a:pt x="196300" y="0"/>
                </a:lnTo>
                <a:lnTo>
                  <a:pt x="442377" y="308757"/>
                </a:lnTo>
                <a:lnTo>
                  <a:pt x="324578" y="308757"/>
                </a:lnTo>
                <a:lnTo>
                  <a:pt x="379696" y="506748"/>
                </a:lnTo>
                <a:cubicBezTo>
                  <a:pt x="484539" y="733921"/>
                  <a:pt x="726602" y="1017521"/>
                  <a:pt x="1052240" y="1271413"/>
                </a:cubicBezTo>
                <a:cubicBezTo>
                  <a:pt x="1427975" y="1564364"/>
                  <a:pt x="1814935" y="1739763"/>
                  <a:pt x="2064698" y="1749955"/>
                </a:cubicBezTo>
                <a:lnTo>
                  <a:pt x="2166448" y="1741930"/>
                </a:lnTo>
                <a:lnTo>
                  <a:pt x="2230148" y="1899857"/>
                </a:lnTo>
                <a:lnTo>
                  <a:pt x="2153303" y="1912236"/>
                </a:lnTo>
                <a:cubicBezTo>
                  <a:pt x="1846550" y="1923818"/>
                  <a:pt x="1387046" y="1737172"/>
                  <a:pt x="952971" y="1398734"/>
                </a:cubicBezTo>
                <a:close/>
              </a:path>
            </a:pathLst>
          </a:custGeom>
          <a:gradFill>
            <a:gsLst>
              <a:gs pos="100000">
                <a:srgbClr val="00B050"/>
              </a:gs>
              <a:gs pos="0">
                <a:schemeClr val="accent6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/>
        </p:nvSpPr>
        <p:spPr>
          <a:xfrm rot="17532776">
            <a:off x="7922398" y="2727493"/>
            <a:ext cx="1537138" cy="1467115"/>
          </a:xfrm>
          <a:custGeom>
            <a:avLst/>
            <a:gdLst>
              <a:gd name="connsiteX0" fmla="*/ 952971 w 2230148"/>
              <a:gd name="connsiteY0" fmla="*/ 1398734 h 1912744"/>
              <a:gd name="connsiteX1" fmla="*/ 178002 w 2230148"/>
              <a:gd name="connsiteY1" fmla="*/ 421210 h 1912744"/>
              <a:gd name="connsiteX2" fmla="*/ 154228 w 2230148"/>
              <a:gd name="connsiteY2" fmla="*/ 308757 h 1912744"/>
              <a:gd name="connsiteX3" fmla="*/ 0 w 2230148"/>
              <a:gd name="connsiteY3" fmla="*/ 308757 h 1912744"/>
              <a:gd name="connsiteX4" fmla="*/ 196300 w 2230148"/>
              <a:gd name="connsiteY4" fmla="*/ 0 h 1912744"/>
              <a:gd name="connsiteX5" fmla="*/ 442377 w 2230148"/>
              <a:gd name="connsiteY5" fmla="*/ 308757 h 1912744"/>
              <a:gd name="connsiteX6" fmla="*/ 324578 w 2230148"/>
              <a:gd name="connsiteY6" fmla="*/ 308757 h 1912744"/>
              <a:gd name="connsiteX7" fmla="*/ 379696 w 2230148"/>
              <a:gd name="connsiteY7" fmla="*/ 506748 h 1912744"/>
              <a:gd name="connsiteX8" fmla="*/ 1052240 w 2230148"/>
              <a:gd name="connsiteY8" fmla="*/ 1271413 h 1912744"/>
              <a:gd name="connsiteX9" fmla="*/ 2064698 w 2230148"/>
              <a:gd name="connsiteY9" fmla="*/ 1749955 h 1912744"/>
              <a:gd name="connsiteX10" fmla="*/ 2166448 w 2230148"/>
              <a:gd name="connsiteY10" fmla="*/ 1741930 h 1912744"/>
              <a:gd name="connsiteX11" fmla="*/ 2230148 w 2230148"/>
              <a:gd name="connsiteY11" fmla="*/ 1899857 h 1912744"/>
              <a:gd name="connsiteX12" fmla="*/ 2153303 w 2230148"/>
              <a:gd name="connsiteY12" fmla="*/ 1912236 h 1912744"/>
              <a:gd name="connsiteX13" fmla="*/ 952971 w 2230148"/>
              <a:gd name="connsiteY13" fmla="*/ 1398734 h 191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0148" h="1912744">
                <a:moveTo>
                  <a:pt x="952971" y="1398734"/>
                </a:moveTo>
                <a:cubicBezTo>
                  <a:pt x="547834" y="1082859"/>
                  <a:pt x="265530" y="713255"/>
                  <a:pt x="178002" y="421210"/>
                </a:cubicBezTo>
                <a:lnTo>
                  <a:pt x="154228" y="308757"/>
                </a:lnTo>
                <a:lnTo>
                  <a:pt x="0" y="308757"/>
                </a:lnTo>
                <a:lnTo>
                  <a:pt x="196300" y="0"/>
                </a:lnTo>
                <a:lnTo>
                  <a:pt x="442377" y="308757"/>
                </a:lnTo>
                <a:lnTo>
                  <a:pt x="324578" y="308757"/>
                </a:lnTo>
                <a:lnTo>
                  <a:pt x="379696" y="506748"/>
                </a:lnTo>
                <a:cubicBezTo>
                  <a:pt x="484539" y="733921"/>
                  <a:pt x="726602" y="1017521"/>
                  <a:pt x="1052240" y="1271413"/>
                </a:cubicBezTo>
                <a:cubicBezTo>
                  <a:pt x="1427975" y="1564364"/>
                  <a:pt x="1814935" y="1739763"/>
                  <a:pt x="2064698" y="1749955"/>
                </a:cubicBezTo>
                <a:lnTo>
                  <a:pt x="2166448" y="1741930"/>
                </a:lnTo>
                <a:lnTo>
                  <a:pt x="2230148" y="1899857"/>
                </a:lnTo>
                <a:lnTo>
                  <a:pt x="2153303" y="1912236"/>
                </a:lnTo>
                <a:cubicBezTo>
                  <a:pt x="1846550" y="1923818"/>
                  <a:pt x="1387046" y="1737172"/>
                  <a:pt x="952971" y="1398734"/>
                </a:cubicBezTo>
                <a:close/>
              </a:path>
            </a:pathLst>
          </a:custGeom>
          <a:gradFill>
            <a:gsLst>
              <a:gs pos="21000">
                <a:srgbClr val="00B050"/>
              </a:gs>
              <a:gs pos="100000">
                <a:schemeClr val="accent6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rot="9878450">
            <a:off x="7857142" y="3891260"/>
            <a:ext cx="1795777" cy="1267938"/>
          </a:xfrm>
          <a:custGeom>
            <a:avLst/>
            <a:gdLst>
              <a:gd name="connsiteX0" fmla="*/ 952971 w 2230148"/>
              <a:gd name="connsiteY0" fmla="*/ 1398734 h 1912744"/>
              <a:gd name="connsiteX1" fmla="*/ 178002 w 2230148"/>
              <a:gd name="connsiteY1" fmla="*/ 421210 h 1912744"/>
              <a:gd name="connsiteX2" fmla="*/ 154228 w 2230148"/>
              <a:gd name="connsiteY2" fmla="*/ 308757 h 1912744"/>
              <a:gd name="connsiteX3" fmla="*/ 0 w 2230148"/>
              <a:gd name="connsiteY3" fmla="*/ 308757 h 1912744"/>
              <a:gd name="connsiteX4" fmla="*/ 196300 w 2230148"/>
              <a:gd name="connsiteY4" fmla="*/ 0 h 1912744"/>
              <a:gd name="connsiteX5" fmla="*/ 442377 w 2230148"/>
              <a:gd name="connsiteY5" fmla="*/ 308757 h 1912744"/>
              <a:gd name="connsiteX6" fmla="*/ 324578 w 2230148"/>
              <a:gd name="connsiteY6" fmla="*/ 308757 h 1912744"/>
              <a:gd name="connsiteX7" fmla="*/ 379696 w 2230148"/>
              <a:gd name="connsiteY7" fmla="*/ 506748 h 1912744"/>
              <a:gd name="connsiteX8" fmla="*/ 1052240 w 2230148"/>
              <a:gd name="connsiteY8" fmla="*/ 1271413 h 1912744"/>
              <a:gd name="connsiteX9" fmla="*/ 2064698 w 2230148"/>
              <a:gd name="connsiteY9" fmla="*/ 1749955 h 1912744"/>
              <a:gd name="connsiteX10" fmla="*/ 2166448 w 2230148"/>
              <a:gd name="connsiteY10" fmla="*/ 1741930 h 1912744"/>
              <a:gd name="connsiteX11" fmla="*/ 2230148 w 2230148"/>
              <a:gd name="connsiteY11" fmla="*/ 1899857 h 1912744"/>
              <a:gd name="connsiteX12" fmla="*/ 2153303 w 2230148"/>
              <a:gd name="connsiteY12" fmla="*/ 1912236 h 1912744"/>
              <a:gd name="connsiteX13" fmla="*/ 952971 w 2230148"/>
              <a:gd name="connsiteY13" fmla="*/ 1398734 h 191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0148" h="1912744">
                <a:moveTo>
                  <a:pt x="952971" y="1398734"/>
                </a:moveTo>
                <a:cubicBezTo>
                  <a:pt x="547834" y="1082859"/>
                  <a:pt x="265530" y="713255"/>
                  <a:pt x="178002" y="421210"/>
                </a:cubicBezTo>
                <a:lnTo>
                  <a:pt x="154228" y="308757"/>
                </a:lnTo>
                <a:lnTo>
                  <a:pt x="0" y="308757"/>
                </a:lnTo>
                <a:lnTo>
                  <a:pt x="196300" y="0"/>
                </a:lnTo>
                <a:lnTo>
                  <a:pt x="442377" y="308757"/>
                </a:lnTo>
                <a:lnTo>
                  <a:pt x="324578" y="308757"/>
                </a:lnTo>
                <a:lnTo>
                  <a:pt x="379696" y="506748"/>
                </a:lnTo>
                <a:cubicBezTo>
                  <a:pt x="484539" y="733921"/>
                  <a:pt x="726602" y="1017521"/>
                  <a:pt x="1052240" y="1271413"/>
                </a:cubicBezTo>
                <a:cubicBezTo>
                  <a:pt x="1427975" y="1564364"/>
                  <a:pt x="1814935" y="1739763"/>
                  <a:pt x="2064698" y="1749955"/>
                </a:cubicBezTo>
                <a:lnTo>
                  <a:pt x="2166448" y="1741930"/>
                </a:lnTo>
                <a:lnTo>
                  <a:pt x="2230148" y="1899857"/>
                </a:lnTo>
                <a:lnTo>
                  <a:pt x="2153303" y="1912236"/>
                </a:lnTo>
                <a:cubicBezTo>
                  <a:pt x="1846550" y="1923818"/>
                  <a:pt x="1387046" y="1737172"/>
                  <a:pt x="952971" y="1398734"/>
                </a:cubicBezTo>
                <a:close/>
              </a:path>
            </a:pathLst>
          </a:custGeom>
          <a:gradFill>
            <a:gsLst>
              <a:gs pos="100000">
                <a:srgbClr val="00B050"/>
              </a:gs>
              <a:gs pos="0">
                <a:srgbClr val="FF0000"/>
              </a:gs>
            </a:gsLst>
            <a:lin ang="5400000" scaled="1"/>
          </a:gra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>
          <a:xfrm rot="21408472">
            <a:off x="7562346" y="4182053"/>
            <a:ext cx="1936894" cy="1216615"/>
          </a:xfrm>
          <a:custGeom>
            <a:avLst/>
            <a:gdLst>
              <a:gd name="connsiteX0" fmla="*/ 952971 w 2230148"/>
              <a:gd name="connsiteY0" fmla="*/ 1398734 h 1912744"/>
              <a:gd name="connsiteX1" fmla="*/ 178002 w 2230148"/>
              <a:gd name="connsiteY1" fmla="*/ 421210 h 1912744"/>
              <a:gd name="connsiteX2" fmla="*/ 154228 w 2230148"/>
              <a:gd name="connsiteY2" fmla="*/ 308757 h 1912744"/>
              <a:gd name="connsiteX3" fmla="*/ 0 w 2230148"/>
              <a:gd name="connsiteY3" fmla="*/ 308757 h 1912744"/>
              <a:gd name="connsiteX4" fmla="*/ 196300 w 2230148"/>
              <a:gd name="connsiteY4" fmla="*/ 0 h 1912744"/>
              <a:gd name="connsiteX5" fmla="*/ 442377 w 2230148"/>
              <a:gd name="connsiteY5" fmla="*/ 308757 h 1912744"/>
              <a:gd name="connsiteX6" fmla="*/ 324578 w 2230148"/>
              <a:gd name="connsiteY6" fmla="*/ 308757 h 1912744"/>
              <a:gd name="connsiteX7" fmla="*/ 379696 w 2230148"/>
              <a:gd name="connsiteY7" fmla="*/ 506748 h 1912744"/>
              <a:gd name="connsiteX8" fmla="*/ 1052240 w 2230148"/>
              <a:gd name="connsiteY8" fmla="*/ 1271413 h 1912744"/>
              <a:gd name="connsiteX9" fmla="*/ 2064698 w 2230148"/>
              <a:gd name="connsiteY9" fmla="*/ 1749955 h 1912744"/>
              <a:gd name="connsiteX10" fmla="*/ 2166448 w 2230148"/>
              <a:gd name="connsiteY10" fmla="*/ 1741930 h 1912744"/>
              <a:gd name="connsiteX11" fmla="*/ 2230148 w 2230148"/>
              <a:gd name="connsiteY11" fmla="*/ 1899857 h 1912744"/>
              <a:gd name="connsiteX12" fmla="*/ 2153303 w 2230148"/>
              <a:gd name="connsiteY12" fmla="*/ 1912236 h 1912744"/>
              <a:gd name="connsiteX13" fmla="*/ 952971 w 2230148"/>
              <a:gd name="connsiteY13" fmla="*/ 1398734 h 191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0148" h="1912744">
                <a:moveTo>
                  <a:pt x="952971" y="1398734"/>
                </a:moveTo>
                <a:cubicBezTo>
                  <a:pt x="547834" y="1082859"/>
                  <a:pt x="265530" y="713255"/>
                  <a:pt x="178002" y="421210"/>
                </a:cubicBezTo>
                <a:lnTo>
                  <a:pt x="154228" y="308757"/>
                </a:lnTo>
                <a:lnTo>
                  <a:pt x="0" y="308757"/>
                </a:lnTo>
                <a:lnTo>
                  <a:pt x="196300" y="0"/>
                </a:lnTo>
                <a:lnTo>
                  <a:pt x="442377" y="308757"/>
                </a:lnTo>
                <a:lnTo>
                  <a:pt x="324578" y="308757"/>
                </a:lnTo>
                <a:lnTo>
                  <a:pt x="379696" y="506748"/>
                </a:lnTo>
                <a:cubicBezTo>
                  <a:pt x="484539" y="733921"/>
                  <a:pt x="726602" y="1017521"/>
                  <a:pt x="1052240" y="1271413"/>
                </a:cubicBezTo>
                <a:cubicBezTo>
                  <a:pt x="1427975" y="1564364"/>
                  <a:pt x="1814935" y="1739763"/>
                  <a:pt x="2064698" y="1749955"/>
                </a:cubicBezTo>
                <a:lnTo>
                  <a:pt x="2166448" y="1741930"/>
                </a:lnTo>
                <a:lnTo>
                  <a:pt x="2230148" y="1899857"/>
                </a:lnTo>
                <a:lnTo>
                  <a:pt x="2153303" y="1912236"/>
                </a:lnTo>
                <a:cubicBezTo>
                  <a:pt x="1846550" y="1923818"/>
                  <a:pt x="1387046" y="1737172"/>
                  <a:pt x="952971" y="1398734"/>
                </a:cubicBezTo>
                <a:close/>
              </a:path>
            </a:pathLst>
          </a:custGeom>
          <a:gradFill>
            <a:gsLst>
              <a:gs pos="30000">
                <a:srgbClr val="00B050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45484" y="2613473"/>
            <a:ext cx="1300356" cy="276999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docker pause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184502" y="3425894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00B050"/>
                </a:solidFill>
                <a:latin typeface="+mn-lt"/>
                <a:ea typeface="+mn-ea"/>
              </a:rPr>
              <a:t>docker unpause</a:t>
            </a:r>
            <a:endParaRPr lang="zh-CN" altLang="en-US" sz="1200" b="1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71346" y="3714337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run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038294" y="4115056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FF0000"/>
                </a:solidFill>
                <a:latin typeface="+mn-lt"/>
                <a:ea typeface="+mn-ea"/>
              </a:rPr>
              <a:t>docker stop</a:t>
            </a:r>
            <a:endParaRPr lang="zh-CN" altLang="en-US" sz="12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008390" y="4933576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rgbClr val="00B050"/>
                </a:solidFill>
                <a:latin typeface="+mn-lt"/>
                <a:ea typeface="+mn-ea"/>
              </a:rPr>
              <a:t>docker start</a:t>
            </a:r>
            <a:endParaRPr lang="zh-CN" altLang="en-US" sz="1200" b="1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cxnSp>
        <p:nvCxnSpPr>
          <p:cNvPr id="19" name="直接箭头连接符 18"/>
          <p:cNvCxnSpPr>
            <a:stCxn id="7" idx="3"/>
            <a:endCxn id="8" idx="1"/>
          </p:cNvCxnSpPr>
          <p:nvPr/>
        </p:nvCxnSpPr>
        <p:spPr>
          <a:xfrm>
            <a:off x="3956510" y="4026375"/>
            <a:ext cx="24511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360033" y="1863470"/>
            <a:ext cx="303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ps 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查看所有运行的容器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及状态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360033" y="1608065"/>
            <a:ext cx="2505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logs 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查看容器运行日志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60032" y="1337197"/>
            <a:ext cx="288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exec 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进入容器执行命令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12208" y="5908944"/>
            <a:ext cx="288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docker rm 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删除指定容器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  <p:bldP spid="10" grpId="0"/>
      <p:bldP spid="30" grpId="0"/>
      <p:bldP spid="31" grpId="0"/>
      <p:bldP spid="33" grpId="0"/>
      <p:bldP spid="34" grpId="0"/>
      <p:bldP spid="36" grpId="0"/>
      <p:bldP spid="38" grpId="0"/>
      <p:bldP spid="22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9539310" y="3070254"/>
            <a:ext cx="2418551" cy="3346839"/>
            <a:chOff x="9539310" y="3070254"/>
            <a:chExt cx="2418551" cy="3346839"/>
          </a:xfrm>
        </p:grpSpPr>
        <p:sp>
          <p:nvSpPr>
            <p:cNvPr id="13" name="立方体 12"/>
            <p:cNvSpPr/>
            <p:nvPr/>
          </p:nvSpPr>
          <p:spPr>
            <a:xfrm>
              <a:off x="9539310" y="3070254"/>
              <a:ext cx="2418551" cy="3346839"/>
            </a:xfrm>
            <a:prstGeom prst="cube">
              <a:avLst/>
            </a:prstGeom>
            <a:gradFill flip="none" rotWithShape="1">
              <a:gsLst>
                <a:gs pos="0">
                  <a:srgbClr val="6F6F6F"/>
                </a:gs>
                <a:gs pos="70000">
                  <a:srgbClr val="404040"/>
                </a:gs>
              </a:gsLst>
              <a:lin ang="5400000" scaled="1"/>
              <a:tileRect/>
            </a:gra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5600" y="3825036"/>
              <a:ext cx="602540" cy="595266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</p:pic>
        <p:sp>
          <p:nvSpPr>
            <p:cNvPr id="31" name="文本框 30"/>
            <p:cNvSpPr txBox="1"/>
            <p:nvPr/>
          </p:nvSpPr>
          <p:spPr>
            <a:xfrm>
              <a:off x="9748686" y="3409606"/>
              <a:ext cx="18320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i="1">
                  <a:solidFill>
                    <a:schemeClr val="bg1"/>
                  </a:solidFill>
                  <a:latin typeface="+mn-lt"/>
                  <a:ea typeface="+mn-ea"/>
                </a:rPr>
                <a:t>192.168.150.101</a:t>
              </a:r>
              <a:endParaRPr lang="zh-CN" altLang="en-US" sz="1400" i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创建运行一个</a:t>
            </a:r>
            <a:r>
              <a:rPr lang="en-US" altLang="zh-CN"/>
              <a:t>Nginx</a:t>
            </a:r>
            <a:r>
              <a:rPr lang="zh-CN" altLang="en-US"/>
              <a:t>容器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7343860" cy="2298919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/>
              <a:t>步骤一</a:t>
            </a:r>
            <a:r>
              <a:rPr lang="zh-CN" altLang="en-US" dirty="0"/>
              <a:t>：去</a:t>
            </a:r>
            <a:r>
              <a:rPr lang="en-US" altLang="zh-CN" dirty="0"/>
              <a:t>docker hub</a:t>
            </a:r>
            <a:r>
              <a:rPr lang="zh-CN" altLang="en-US" dirty="0"/>
              <a:t>查看</a:t>
            </a:r>
            <a:r>
              <a:rPr lang="en-US" altLang="zh-CN" dirty="0"/>
              <a:t>Nginx</a:t>
            </a:r>
            <a:r>
              <a:rPr lang="zh-CN" altLang="en-US" dirty="0"/>
              <a:t>的容器运行命令</a:t>
            </a:r>
            <a:endParaRPr lang="en-US" altLang="zh-CN" dirty="0"/>
          </a:p>
          <a:p>
            <a:pPr>
              <a:lnSpc>
                <a:spcPct val="130000"/>
              </a:lnSpc>
            </a:pP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命令解读：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docker run </a:t>
            </a:r>
            <a:r>
              <a:rPr lang="zh-CN" altLang="en-US" dirty="0"/>
              <a:t>：创建并运行一个容器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--name : </a:t>
            </a:r>
            <a:r>
              <a:rPr lang="zh-CN" altLang="en-US" dirty="0"/>
              <a:t>给容器起一个名字，比如叫做</a:t>
            </a:r>
            <a:r>
              <a:rPr lang="en-US" altLang="zh-CN" dirty="0" err="1"/>
              <a:t>mn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-p </a:t>
            </a:r>
            <a:r>
              <a:rPr lang="zh-CN" altLang="en-US" dirty="0"/>
              <a:t>：将宿主机端口与容器端口映射，冒号左侧是宿主机端口，右侧是容器端口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-d</a:t>
            </a:r>
            <a:r>
              <a:rPr lang="zh-CN" altLang="en-US" dirty="0"/>
              <a:t>：后台运行容器</a:t>
            </a:r>
            <a:r>
              <a:rPr lang="en-US" altLang="zh-CN" dirty="0"/>
              <a:t>    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nginx</a:t>
            </a:r>
            <a:r>
              <a:rPr lang="zh-CN" altLang="en-US" dirty="0"/>
              <a:t>：镜像名称，例如</a:t>
            </a:r>
            <a:r>
              <a:rPr lang="en-US" altLang="zh-CN" dirty="0"/>
              <a:t>nginx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81561" y="2061987"/>
            <a:ext cx="9128119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 --name containerName -p 80:80 -d nginx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26885" y="5068160"/>
            <a:ext cx="1798767" cy="1348933"/>
            <a:chOff x="7295021" y="2738307"/>
            <a:chExt cx="3597534" cy="3472076"/>
          </a:xfrm>
        </p:grpSpPr>
        <p:sp>
          <p:nvSpPr>
            <p:cNvPr id="9" name="椭圆 8"/>
            <p:cNvSpPr/>
            <p:nvPr/>
          </p:nvSpPr>
          <p:spPr>
            <a:xfrm>
              <a:off x="8388626" y="5841840"/>
              <a:ext cx="1311965" cy="368543"/>
            </a:xfrm>
            <a:prstGeom prst="ellipse">
              <a:avLst/>
            </a:prstGeom>
            <a:gradFill flip="none" rotWithShape="1">
              <a:gsLst>
                <a:gs pos="0">
                  <a:srgbClr val="6F6F6F"/>
                </a:gs>
                <a:gs pos="70000">
                  <a:srgbClr val="404040"/>
                </a:gs>
              </a:gsLst>
              <a:lin ang="5400000" scaled="1"/>
              <a:tileRect/>
            </a:gra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8587013" y="5131085"/>
              <a:ext cx="894887" cy="867140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7295021" y="2738307"/>
              <a:ext cx="3597534" cy="2701372"/>
            </a:xfrm>
            <a:prstGeom prst="roundRect">
              <a:avLst>
                <a:gd name="adj" fmla="val 44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7342098" y="2775751"/>
              <a:ext cx="3484927" cy="2617884"/>
            </a:xfrm>
            <a:prstGeom prst="roundRect">
              <a:avLst>
                <a:gd name="adj" fmla="val 354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: 圆角 11"/>
          <p:cNvSpPr/>
          <p:nvPr/>
        </p:nvSpPr>
        <p:spPr>
          <a:xfrm>
            <a:off x="9832949" y="5477248"/>
            <a:ext cx="1367228" cy="82435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Nginx</a:t>
            </a:r>
            <a:r>
              <a:rPr lang="zh-CN" altLang="en-US" sz="1600"/>
              <a:t>容器</a:t>
            </a:r>
            <a:endParaRPr lang="en-US" altLang="zh-CN" sz="1600"/>
          </a:p>
          <a:p>
            <a:pPr algn="ctr"/>
            <a:r>
              <a:rPr lang="en-US" altLang="zh-CN" sz="1600"/>
              <a:t>port</a:t>
            </a:r>
            <a:r>
              <a:rPr lang="zh-CN" altLang="en-US" sz="1600"/>
              <a:t>：</a:t>
            </a:r>
            <a:r>
              <a:rPr lang="en-US" altLang="zh-CN" sz="1600"/>
              <a:t>80</a:t>
            </a:r>
            <a:endParaRPr lang="zh-CN" altLang="en-US" sz="1600"/>
          </a:p>
        </p:txBody>
      </p:sp>
      <p:cxnSp>
        <p:nvCxnSpPr>
          <p:cNvPr id="18" name="直接箭头连接符 17"/>
          <p:cNvCxnSpPr>
            <a:stCxn id="6" idx="3"/>
            <a:endCxn id="12" idx="1"/>
          </p:cNvCxnSpPr>
          <p:nvPr/>
        </p:nvCxnSpPr>
        <p:spPr>
          <a:xfrm>
            <a:off x="6292888" y="5591243"/>
            <a:ext cx="3540061" cy="298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6" idx="3"/>
            <a:endCxn id="22" idx="1"/>
          </p:cNvCxnSpPr>
          <p:nvPr/>
        </p:nvCxnSpPr>
        <p:spPr>
          <a:xfrm flipV="1">
            <a:off x="6292888" y="4786331"/>
            <a:ext cx="3887049" cy="80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/>
        </p:nvSpPr>
        <p:spPr>
          <a:xfrm>
            <a:off x="10179937" y="4545713"/>
            <a:ext cx="563217" cy="48123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80</a:t>
            </a:r>
            <a:endParaRPr lang="zh-CN" altLang="en-US"/>
          </a:p>
        </p:txBody>
      </p:sp>
      <p:cxnSp>
        <p:nvCxnSpPr>
          <p:cNvPr id="28" name="直接箭头连接符 27"/>
          <p:cNvCxnSpPr>
            <a:stCxn id="22" idx="2"/>
          </p:cNvCxnSpPr>
          <p:nvPr/>
        </p:nvCxnSpPr>
        <p:spPr>
          <a:xfrm>
            <a:off x="10461546" y="5026949"/>
            <a:ext cx="406350" cy="862478"/>
          </a:xfrm>
          <a:prstGeom prst="straightConnector1">
            <a:avLst/>
          </a:prstGeom>
          <a:ln>
            <a:prstDash val="sysDash"/>
            <a:headEnd type="triangl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 rot="20936603">
            <a:off x="6493004" y="4942871"/>
            <a:ext cx="3218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i="1">
                <a:latin typeface="+mn-lt"/>
                <a:ea typeface="+mn-ea"/>
              </a:rPr>
              <a:t>http://192.168.150.101:80</a:t>
            </a:r>
            <a:endParaRPr lang="zh-CN" altLang="en-US" sz="1200" i="1" dirty="0">
              <a:latin typeface="+mn-lt"/>
              <a:ea typeface="+mn-ea"/>
            </a:endParaRPr>
          </a:p>
        </p:txBody>
      </p:sp>
      <p:sp>
        <p:nvSpPr>
          <p:cNvPr id="34" name="乘号 33"/>
          <p:cNvSpPr/>
          <p:nvPr/>
        </p:nvSpPr>
        <p:spPr>
          <a:xfrm>
            <a:off x="7897644" y="5283451"/>
            <a:ext cx="1327367" cy="1049509"/>
          </a:xfrm>
          <a:prstGeom prst="mathMultiply">
            <a:avLst>
              <a:gd name="adj1" fmla="val 508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任意多边形: 形状 174"/>
          <p:cNvSpPr/>
          <p:nvPr/>
        </p:nvSpPr>
        <p:spPr>
          <a:xfrm rot="16200000">
            <a:off x="10505138" y="3548405"/>
            <a:ext cx="2314196" cy="2418550"/>
          </a:xfrm>
          <a:custGeom>
            <a:avLst/>
            <a:gdLst>
              <a:gd name="connsiteX0" fmla="*/ 327686 w 2314196"/>
              <a:gd name="connsiteY0" fmla="*/ 43708 h 1073463"/>
              <a:gd name="connsiteX1" fmla="*/ 231415 w 2314196"/>
              <a:gd name="connsiteY1" fmla="*/ 163195 h 1073463"/>
              <a:gd name="connsiteX2" fmla="*/ 96271 w 2314196"/>
              <a:gd name="connsiteY2" fmla="*/ 163195 h 1073463"/>
              <a:gd name="connsiteX3" fmla="*/ 0 w 2314196"/>
              <a:gd name="connsiteY3" fmla="*/ 43708 h 1073463"/>
              <a:gd name="connsiteX4" fmla="*/ 35216 w 2314196"/>
              <a:gd name="connsiteY4" fmla="*/ 0 h 1073463"/>
              <a:gd name="connsiteX5" fmla="*/ 292470 w 2314196"/>
              <a:gd name="connsiteY5" fmla="*/ 0 h 1073463"/>
              <a:gd name="connsiteX6" fmla="*/ 329081 w 2314196"/>
              <a:gd name="connsiteY6" fmla="*/ 593059 h 1073463"/>
              <a:gd name="connsiteX7" fmla="*/ 232810 w 2314196"/>
              <a:gd name="connsiteY7" fmla="*/ 712546 h 1073463"/>
              <a:gd name="connsiteX8" fmla="*/ 97666 w 2314196"/>
              <a:gd name="connsiteY8" fmla="*/ 712546 h 1073463"/>
              <a:gd name="connsiteX9" fmla="*/ 1395 w 2314196"/>
              <a:gd name="connsiteY9" fmla="*/ 593059 h 1073463"/>
              <a:gd name="connsiteX10" fmla="*/ 97666 w 2314196"/>
              <a:gd name="connsiteY10" fmla="*/ 473572 h 1073463"/>
              <a:gd name="connsiteX11" fmla="*/ 232810 w 2314196"/>
              <a:gd name="connsiteY11" fmla="*/ 473572 h 1073463"/>
              <a:gd name="connsiteX12" fmla="*/ 334579 w 2314196"/>
              <a:gd name="connsiteY12" fmla="*/ 322670 h 1073463"/>
              <a:gd name="connsiteX13" fmla="*/ 238308 w 2314196"/>
              <a:gd name="connsiteY13" fmla="*/ 442157 h 1073463"/>
              <a:gd name="connsiteX14" fmla="*/ 103164 w 2314196"/>
              <a:gd name="connsiteY14" fmla="*/ 442157 h 1073463"/>
              <a:gd name="connsiteX15" fmla="*/ 6893 w 2314196"/>
              <a:gd name="connsiteY15" fmla="*/ 322670 h 1073463"/>
              <a:gd name="connsiteX16" fmla="*/ 103164 w 2314196"/>
              <a:gd name="connsiteY16" fmla="*/ 203183 h 1073463"/>
              <a:gd name="connsiteX17" fmla="*/ 238308 w 2314196"/>
              <a:gd name="connsiteY17" fmla="*/ 203183 h 1073463"/>
              <a:gd name="connsiteX18" fmla="*/ 335961 w 2314196"/>
              <a:gd name="connsiteY18" fmla="*/ 869599 h 1073463"/>
              <a:gd name="connsiteX19" fmla="*/ 239690 w 2314196"/>
              <a:gd name="connsiteY19" fmla="*/ 989086 h 1073463"/>
              <a:gd name="connsiteX20" fmla="*/ 104546 w 2314196"/>
              <a:gd name="connsiteY20" fmla="*/ 989086 h 1073463"/>
              <a:gd name="connsiteX21" fmla="*/ 8275 w 2314196"/>
              <a:gd name="connsiteY21" fmla="*/ 869600 h 1073463"/>
              <a:gd name="connsiteX22" fmla="*/ 104546 w 2314196"/>
              <a:gd name="connsiteY22" fmla="*/ 750112 h 1073463"/>
              <a:gd name="connsiteX23" fmla="*/ 239690 w 2314196"/>
              <a:gd name="connsiteY23" fmla="*/ 750112 h 1073463"/>
              <a:gd name="connsiteX24" fmla="*/ 609704 w 2314196"/>
              <a:gd name="connsiteY24" fmla="*/ 186885 h 1073463"/>
              <a:gd name="connsiteX25" fmla="*/ 513434 w 2314196"/>
              <a:gd name="connsiteY25" fmla="*/ 306372 h 1073463"/>
              <a:gd name="connsiteX26" fmla="*/ 378290 w 2314196"/>
              <a:gd name="connsiteY26" fmla="*/ 306372 h 1073463"/>
              <a:gd name="connsiteX27" fmla="*/ 282019 w 2314196"/>
              <a:gd name="connsiteY27" fmla="*/ 186885 h 1073463"/>
              <a:gd name="connsiteX28" fmla="*/ 378290 w 2314196"/>
              <a:gd name="connsiteY28" fmla="*/ 67398 h 1073463"/>
              <a:gd name="connsiteX29" fmla="*/ 513434 w 2314196"/>
              <a:gd name="connsiteY29" fmla="*/ 67398 h 1073463"/>
              <a:gd name="connsiteX30" fmla="*/ 611099 w 2314196"/>
              <a:gd name="connsiteY30" fmla="*/ 736237 h 1073463"/>
              <a:gd name="connsiteX31" fmla="*/ 514828 w 2314196"/>
              <a:gd name="connsiteY31" fmla="*/ 855723 h 1073463"/>
              <a:gd name="connsiteX32" fmla="*/ 379684 w 2314196"/>
              <a:gd name="connsiteY32" fmla="*/ 855723 h 1073463"/>
              <a:gd name="connsiteX33" fmla="*/ 283413 w 2314196"/>
              <a:gd name="connsiteY33" fmla="*/ 736237 h 1073463"/>
              <a:gd name="connsiteX34" fmla="*/ 379684 w 2314196"/>
              <a:gd name="connsiteY34" fmla="*/ 616750 h 1073463"/>
              <a:gd name="connsiteX35" fmla="*/ 514828 w 2314196"/>
              <a:gd name="connsiteY35" fmla="*/ 616750 h 1073463"/>
              <a:gd name="connsiteX36" fmla="*/ 616597 w 2314196"/>
              <a:gd name="connsiteY36" fmla="*/ 465848 h 1073463"/>
              <a:gd name="connsiteX37" fmla="*/ 520326 w 2314196"/>
              <a:gd name="connsiteY37" fmla="*/ 585334 h 1073463"/>
              <a:gd name="connsiteX38" fmla="*/ 385182 w 2314196"/>
              <a:gd name="connsiteY38" fmla="*/ 585334 h 1073463"/>
              <a:gd name="connsiteX39" fmla="*/ 288912 w 2314196"/>
              <a:gd name="connsiteY39" fmla="*/ 465848 h 1073463"/>
              <a:gd name="connsiteX40" fmla="*/ 385182 w 2314196"/>
              <a:gd name="connsiteY40" fmla="*/ 346361 h 1073463"/>
              <a:gd name="connsiteX41" fmla="*/ 520326 w 2314196"/>
              <a:gd name="connsiteY41" fmla="*/ 346361 h 1073463"/>
              <a:gd name="connsiteX42" fmla="*/ 617979 w 2314196"/>
              <a:gd name="connsiteY42" fmla="*/ 1012777 h 1073463"/>
              <a:gd name="connsiteX43" fmla="*/ 569084 w 2314196"/>
              <a:gd name="connsiteY43" fmla="*/ 1073463 h 1073463"/>
              <a:gd name="connsiteX44" fmla="*/ 339188 w 2314196"/>
              <a:gd name="connsiteY44" fmla="*/ 1073463 h 1073463"/>
              <a:gd name="connsiteX45" fmla="*/ 290293 w 2314196"/>
              <a:gd name="connsiteY45" fmla="*/ 1012777 h 1073463"/>
              <a:gd name="connsiteX46" fmla="*/ 386564 w 2314196"/>
              <a:gd name="connsiteY46" fmla="*/ 893290 h 1073463"/>
              <a:gd name="connsiteX47" fmla="*/ 521708 w 2314196"/>
              <a:gd name="connsiteY47" fmla="*/ 893290 h 1073463"/>
              <a:gd name="connsiteX48" fmla="*/ 897222 w 2314196"/>
              <a:gd name="connsiteY48" fmla="*/ 48866 h 1073463"/>
              <a:gd name="connsiteX49" fmla="*/ 800951 w 2314196"/>
              <a:gd name="connsiteY49" fmla="*/ 168353 h 1073463"/>
              <a:gd name="connsiteX50" fmla="*/ 665807 w 2314196"/>
              <a:gd name="connsiteY50" fmla="*/ 168353 h 1073463"/>
              <a:gd name="connsiteX51" fmla="*/ 569536 w 2314196"/>
              <a:gd name="connsiteY51" fmla="*/ 48866 h 1073463"/>
              <a:gd name="connsiteX52" fmla="*/ 608908 w 2314196"/>
              <a:gd name="connsiteY52" fmla="*/ 0 h 1073463"/>
              <a:gd name="connsiteX53" fmla="*/ 857850 w 2314196"/>
              <a:gd name="connsiteY53" fmla="*/ 0 h 1073463"/>
              <a:gd name="connsiteX54" fmla="*/ 898616 w 2314196"/>
              <a:gd name="connsiteY54" fmla="*/ 598217 h 1073463"/>
              <a:gd name="connsiteX55" fmla="*/ 802346 w 2314196"/>
              <a:gd name="connsiteY55" fmla="*/ 717704 h 1073463"/>
              <a:gd name="connsiteX56" fmla="*/ 667201 w 2314196"/>
              <a:gd name="connsiteY56" fmla="*/ 717704 h 1073463"/>
              <a:gd name="connsiteX57" fmla="*/ 570931 w 2314196"/>
              <a:gd name="connsiteY57" fmla="*/ 598217 h 1073463"/>
              <a:gd name="connsiteX58" fmla="*/ 667201 w 2314196"/>
              <a:gd name="connsiteY58" fmla="*/ 478730 h 1073463"/>
              <a:gd name="connsiteX59" fmla="*/ 802346 w 2314196"/>
              <a:gd name="connsiteY59" fmla="*/ 478730 h 1073463"/>
              <a:gd name="connsiteX60" fmla="*/ 904115 w 2314196"/>
              <a:gd name="connsiteY60" fmla="*/ 327828 h 1073463"/>
              <a:gd name="connsiteX61" fmla="*/ 807844 w 2314196"/>
              <a:gd name="connsiteY61" fmla="*/ 447315 h 1073463"/>
              <a:gd name="connsiteX62" fmla="*/ 672700 w 2314196"/>
              <a:gd name="connsiteY62" fmla="*/ 447315 h 1073463"/>
              <a:gd name="connsiteX63" fmla="*/ 576429 w 2314196"/>
              <a:gd name="connsiteY63" fmla="*/ 327828 h 1073463"/>
              <a:gd name="connsiteX64" fmla="*/ 672700 w 2314196"/>
              <a:gd name="connsiteY64" fmla="*/ 208341 h 1073463"/>
              <a:gd name="connsiteX65" fmla="*/ 807844 w 2314196"/>
              <a:gd name="connsiteY65" fmla="*/ 208341 h 1073463"/>
              <a:gd name="connsiteX66" fmla="*/ 905497 w 2314196"/>
              <a:gd name="connsiteY66" fmla="*/ 874757 h 1073463"/>
              <a:gd name="connsiteX67" fmla="*/ 809226 w 2314196"/>
              <a:gd name="connsiteY67" fmla="*/ 994244 h 1073463"/>
              <a:gd name="connsiteX68" fmla="*/ 674082 w 2314196"/>
              <a:gd name="connsiteY68" fmla="*/ 994244 h 1073463"/>
              <a:gd name="connsiteX69" fmla="*/ 577811 w 2314196"/>
              <a:gd name="connsiteY69" fmla="*/ 874757 h 1073463"/>
              <a:gd name="connsiteX70" fmla="*/ 674082 w 2314196"/>
              <a:gd name="connsiteY70" fmla="*/ 755270 h 1073463"/>
              <a:gd name="connsiteX71" fmla="*/ 809226 w 2314196"/>
              <a:gd name="connsiteY71" fmla="*/ 755270 h 1073463"/>
              <a:gd name="connsiteX72" fmla="*/ 1179241 w 2314196"/>
              <a:gd name="connsiteY72" fmla="*/ 185816 h 1073463"/>
              <a:gd name="connsiteX73" fmla="*/ 1082970 w 2314196"/>
              <a:gd name="connsiteY73" fmla="*/ 305302 h 1073463"/>
              <a:gd name="connsiteX74" fmla="*/ 947826 w 2314196"/>
              <a:gd name="connsiteY74" fmla="*/ 305302 h 1073463"/>
              <a:gd name="connsiteX75" fmla="*/ 851555 w 2314196"/>
              <a:gd name="connsiteY75" fmla="*/ 185815 h 1073463"/>
              <a:gd name="connsiteX76" fmla="*/ 947826 w 2314196"/>
              <a:gd name="connsiteY76" fmla="*/ 66328 h 1073463"/>
              <a:gd name="connsiteX77" fmla="*/ 1082970 w 2314196"/>
              <a:gd name="connsiteY77" fmla="*/ 66328 h 1073463"/>
              <a:gd name="connsiteX78" fmla="*/ 1180636 w 2314196"/>
              <a:gd name="connsiteY78" fmla="*/ 735167 h 1073463"/>
              <a:gd name="connsiteX79" fmla="*/ 1084365 w 2314196"/>
              <a:gd name="connsiteY79" fmla="*/ 854653 h 1073463"/>
              <a:gd name="connsiteX80" fmla="*/ 949221 w 2314196"/>
              <a:gd name="connsiteY80" fmla="*/ 854653 h 1073463"/>
              <a:gd name="connsiteX81" fmla="*/ 852950 w 2314196"/>
              <a:gd name="connsiteY81" fmla="*/ 735166 h 1073463"/>
              <a:gd name="connsiteX82" fmla="*/ 949221 w 2314196"/>
              <a:gd name="connsiteY82" fmla="*/ 615679 h 1073463"/>
              <a:gd name="connsiteX83" fmla="*/ 1084365 w 2314196"/>
              <a:gd name="connsiteY83" fmla="*/ 615679 h 1073463"/>
              <a:gd name="connsiteX84" fmla="*/ 1186134 w 2314196"/>
              <a:gd name="connsiteY84" fmla="*/ 464778 h 1073463"/>
              <a:gd name="connsiteX85" fmla="*/ 1089863 w 2314196"/>
              <a:gd name="connsiteY85" fmla="*/ 584264 h 1073463"/>
              <a:gd name="connsiteX86" fmla="*/ 954719 w 2314196"/>
              <a:gd name="connsiteY86" fmla="*/ 584264 h 1073463"/>
              <a:gd name="connsiteX87" fmla="*/ 858448 w 2314196"/>
              <a:gd name="connsiteY87" fmla="*/ 464778 h 1073463"/>
              <a:gd name="connsiteX88" fmla="*/ 954719 w 2314196"/>
              <a:gd name="connsiteY88" fmla="*/ 345291 h 1073463"/>
              <a:gd name="connsiteX89" fmla="*/ 1089863 w 2314196"/>
              <a:gd name="connsiteY89" fmla="*/ 345291 h 1073463"/>
              <a:gd name="connsiteX90" fmla="*/ 1187516 w 2314196"/>
              <a:gd name="connsiteY90" fmla="*/ 1011707 h 1073463"/>
              <a:gd name="connsiteX91" fmla="*/ 1137759 w 2314196"/>
              <a:gd name="connsiteY91" fmla="*/ 1073463 h 1073463"/>
              <a:gd name="connsiteX92" fmla="*/ 909587 w 2314196"/>
              <a:gd name="connsiteY92" fmla="*/ 1073463 h 1073463"/>
              <a:gd name="connsiteX93" fmla="*/ 859830 w 2314196"/>
              <a:gd name="connsiteY93" fmla="*/ 1011707 h 1073463"/>
              <a:gd name="connsiteX94" fmla="*/ 956101 w 2314196"/>
              <a:gd name="connsiteY94" fmla="*/ 892220 h 1073463"/>
              <a:gd name="connsiteX95" fmla="*/ 1091245 w 2314196"/>
              <a:gd name="connsiteY95" fmla="*/ 892220 h 1073463"/>
              <a:gd name="connsiteX96" fmla="*/ 1454367 w 2314196"/>
              <a:gd name="connsiteY96" fmla="*/ 43708 h 1073463"/>
              <a:gd name="connsiteX97" fmla="*/ 1358096 w 2314196"/>
              <a:gd name="connsiteY97" fmla="*/ 163195 h 1073463"/>
              <a:gd name="connsiteX98" fmla="*/ 1222952 w 2314196"/>
              <a:gd name="connsiteY98" fmla="*/ 163195 h 1073463"/>
              <a:gd name="connsiteX99" fmla="*/ 1126681 w 2314196"/>
              <a:gd name="connsiteY99" fmla="*/ 43708 h 1073463"/>
              <a:gd name="connsiteX100" fmla="*/ 1161897 w 2314196"/>
              <a:gd name="connsiteY100" fmla="*/ 0 h 1073463"/>
              <a:gd name="connsiteX101" fmla="*/ 1419151 w 2314196"/>
              <a:gd name="connsiteY101" fmla="*/ 0 h 1073463"/>
              <a:gd name="connsiteX102" fmla="*/ 1455761 w 2314196"/>
              <a:gd name="connsiteY102" fmla="*/ 593059 h 1073463"/>
              <a:gd name="connsiteX103" fmla="*/ 1359490 w 2314196"/>
              <a:gd name="connsiteY103" fmla="*/ 712546 h 1073463"/>
              <a:gd name="connsiteX104" fmla="*/ 1224346 w 2314196"/>
              <a:gd name="connsiteY104" fmla="*/ 712546 h 1073463"/>
              <a:gd name="connsiteX105" fmla="*/ 1128075 w 2314196"/>
              <a:gd name="connsiteY105" fmla="*/ 593059 h 1073463"/>
              <a:gd name="connsiteX106" fmla="*/ 1224346 w 2314196"/>
              <a:gd name="connsiteY106" fmla="*/ 473572 h 1073463"/>
              <a:gd name="connsiteX107" fmla="*/ 1359490 w 2314196"/>
              <a:gd name="connsiteY107" fmla="*/ 473572 h 1073463"/>
              <a:gd name="connsiteX108" fmla="*/ 1461259 w 2314196"/>
              <a:gd name="connsiteY108" fmla="*/ 322671 h 1073463"/>
              <a:gd name="connsiteX109" fmla="*/ 1364989 w 2314196"/>
              <a:gd name="connsiteY109" fmla="*/ 442157 h 1073463"/>
              <a:gd name="connsiteX110" fmla="*/ 1229845 w 2314196"/>
              <a:gd name="connsiteY110" fmla="*/ 442157 h 1073463"/>
              <a:gd name="connsiteX111" fmla="*/ 1133574 w 2314196"/>
              <a:gd name="connsiteY111" fmla="*/ 322670 h 1073463"/>
              <a:gd name="connsiteX112" fmla="*/ 1229845 w 2314196"/>
              <a:gd name="connsiteY112" fmla="*/ 203183 h 1073463"/>
              <a:gd name="connsiteX113" fmla="*/ 1364989 w 2314196"/>
              <a:gd name="connsiteY113" fmla="*/ 203183 h 1073463"/>
              <a:gd name="connsiteX114" fmla="*/ 1462641 w 2314196"/>
              <a:gd name="connsiteY114" fmla="*/ 869600 h 1073463"/>
              <a:gd name="connsiteX115" fmla="*/ 1366371 w 2314196"/>
              <a:gd name="connsiteY115" fmla="*/ 989086 h 1073463"/>
              <a:gd name="connsiteX116" fmla="*/ 1231226 w 2314196"/>
              <a:gd name="connsiteY116" fmla="*/ 989086 h 1073463"/>
              <a:gd name="connsiteX117" fmla="*/ 1134956 w 2314196"/>
              <a:gd name="connsiteY117" fmla="*/ 869599 h 1073463"/>
              <a:gd name="connsiteX118" fmla="*/ 1231226 w 2314196"/>
              <a:gd name="connsiteY118" fmla="*/ 750112 h 1073463"/>
              <a:gd name="connsiteX119" fmla="*/ 1366371 w 2314196"/>
              <a:gd name="connsiteY119" fmla="*/ 750112 h 1073463"/>
              <a:gd name="connsiteX120" fmla="*/ 1736385 w 2314196"/>
              <a:gd name="connsiteY120" fmla="*/ 186886 h 1073463"/>
              <a:gd name="connsiteX121" fmla="*/ 1640114 w 2314196"/>
              <a:gd name="connsiteY121" fmla="*/ 306373 h 1073463"/>
              <a:gd name="connsiteX122" fmla="*/ 1504970 w 2314196"/>
              <a:gd name="connsiteY122" fmla="*/ 306373 h 1073463"/>
              <a:gd name="connsiteX123" fmla="*/ 1408699 w 2314196"/>
              <a:gd name="connsiteY123" fmla="*/ 186886 h 1073463"/>
              <a:gd name="connsiteX124" fmla="*/ 1504970 w 2314196"/>
              <a:gd name="connsiteY124" fmla="*/ 67399 h 1073463"/>
              <a:gd name="connsiteX125" fmla="*/ 1640114 w 2314196"/>
              <a:gd name="connsiteY125" fmla="*/ 67399 h 1073463"/>
              <a:gd name="connsiteX126" fmla="*/ 1737780 w 2314196"/>
              <a:gd name="connsiteY126" fmla="*/ 736237 h 1073463"/>
              <a:gd name="connsiteX127" fmla="*/ 1641509 w 2314196"/>
              <a:gd name="connsiteY127" fmla="*/ 855724 h 1073463"/>
              <a:gd name="connsiteX128" fmla="*/ 1506365 w 2314196"/>
              <a:gd name="connsiteY128" fmla="*/ 855724 h 1073463"/>
              <a:gd name="connsiteX129" fmla="*/ 1410094 w 2314196"/>
              <a:gd name="connsiteY129" fmla="*/ 736237 h 1073463"/>
              <a:gd name="connsiteX130" fmla="*/ 1506365 w 2314196"/>
              <a:gd name="connsiteY130" fmla="*/ 616750 h 1073463"/>
              <a:gd name="connsiteX131" fmla="*/ 1641509 w 2314196"/>
              <a:gd name="connsiteY131" fmla="*/ 616750 h 1073463"/>
              <a:gd name="connsiteX132" fmla="*/ 1743278 w 2314196"/>
              <a:gd name="connsiteY132" fmla="*/ 465848 h 1073463"/>
              <a:gd name="connsiteX133" fmla="*/ 1647007 w 2314196"/>
              <a:gd name="connsiteY133" fmla="*/ 585335 h 1073463"/>
              <a:gd name="connsiteX134" fmla="*/ 1511863 w 2314196"/>
              <a:gd name="connsiteY134" fmla="*/ 585335 h 1073463"/>
              <a:gd name="connsiteX135" fmla="*/ 1415592 w 2314196"/>
              <a:gd name="connsiteY135" fmla="*/ 465848 h 1073463"/>
              <a:gd name="connsiteX136" fmla="*/ 1511863 w 2314196"/>
              <a:gd name="connsiteY136" fmla="*/ 346361 h 1073463"/>
              <a:gd name="connsiteX137" fmla="*/ 1647007 w 2314196"/>
              <a:gd name="connsiteY137" fmla="*/ 346361 h 1073463"/>
              <a:gd name="connsiteX138" fmla="*/ 1744660 w 2314196"/>
              <a:gd name="connsiteY138" fmla="*/ 1012777 h 1073463"/>
              <a:gd name="connsiteX139" fmla="*/ 1695765 w 2314196"/>
              <a:gd name="connsiteY139" fmla="*/ 1073463 h 1073463"/>
              <a:gd name="connsiteX140" fmla="*/ 1465869 w 2314196"/>
              <a:gd name="connsiteY140" fmla="*/ 1073463 h 1073463"/>
              <a:gd name="connsiteX141" fmla="*/ 1416974 w 2314196"/>
              <a:gd name="connsiteY141" fmla="*/ 1012777 h 1073463"/>
              <a:gd name="connsiteX142" fmla="*/ 1513245 w 2314196"/>
              <a:gd name="connsiteY142" fmla="*/ 893290 h 1073463"/>
              <a:gd name="connsiteX143" fmla="*/ 1648389 w 2314196"/>
              <a:gd name="connsiteY143" fmla="*/ 893290 h 1073463"/>
              <a:gd name="connsiteX144" fmla="*/ 2023903 w 2314196"/>
              <a:gd name="connsiteY144" fmla="*/ 48866 h 1073463"/>
              <a:gd name="connsiteX145" fmla="*/ 1927632 w 2314196"/>
              <a:gd name="connsiteY145" fmla="*/ 168353 h 1073463"/>
              <a:gd name="connsiteX146" fmla="*/ 1792488 w 2314196"/>
              <a:gd name="connsiteY146" fmla="*/ 168353 h 1073463"/>
              <a:gd name="connsiteX147" fmla="*/ 1696217 w 2314196"/>
              <a:gd name="connsiteY147" fmla="*/ 48866 h 1073463"/>
              <a:gd name="connsiteX148" fmla="*/ 1735589 w 2314196"/>
              <a:gd name="connsiteY148" fmla="*/ 0 h 1073463"/>
              <a:gd name="connsiteX149" fmla="*/ 1984531 w 2314196"/>
              <a:gd name="connsiteY149" fmla="*/ 0 h 1073463"/>
              <a:gd name="connsiteX150" fmla="*/ 2025297 w 2314196"/>
              <a:gd name="connsiteY150" fmla="*/ 598217 h 1073463"/>
              <a:gd name="connsiteX151" fmla="*/ 1929026 w 2314196"/>
              <a:gd name="connsiteY151" fmla="*/ 717704 h 1073463"/>
              <a:gd name="connsiteX152" fmla="*/ 1793882 w 2314196"/>
              <a:gd name="connsiteY152" fmla="*/ 717704 h 1073463"/>
              <a:gd name="connsiteX153" fmla="*/ 1697611 w 2314196"/>
              <a:gd name="connsiteY153" fmla="*/ 598217 h 1073463"/>
              <a:gd name="connsiteX154" fmla="*/ 1793882 w 2314196"/>
              <a:gd name="connsiteY154" fmla="*/ 478730 h 1073463"/>
              <a:gd name="connsiteX155" fmla="*/ 1929026 w 2314196"/>
              <a:gd name="connsiteY155" fmla="*/ 478730 h 1073463"/>
              <a:gd name="connsiteX156" fmla="*/ 2030795 w 2314196"/>
              <a:gd name="connsiteY156" fmla="*/ 327829 h 1073463"/>
              <a:gd name="connsiteX157" fmla="*/ 1934525 w 2314196"/>
              <a:gd name="connsiteY157" fmla="*/ 447315 h 1073463"/>
              <a:gd name="connsiteX158" fmla="*/ 1799380 w 2314196"/>
              <a:gd name="connsiteY158" fmla="*/ 447315 h 1073463"/>
              <a:gd name="connsiteX159" fmla="*/ 1703110 w 2314196"/>
              <a:gd name="connsiteY159" fmla="*/ 327829 h 1073463"/>
              <a:gd name="connsiteX160" fmla="*/ 1799380 w 2314196"/>
              <a:gd name="connsiteY160" fmla="*/ 208341 h 1073463"/>
              <a:gd name="connsiteX161" fmla="*/ 1934525 w 2314196"/>
              <a:gd name="connsiteY161" fmla="*/ 208341 h 1073463"/>
              <a:gd name="connsiteX162" fmla="*/ 2032177 w 2314196"/>
              <a:gd name="connsiteY162" fmla="*/ 874758 h 1073463"/>
              <a:gd name="connsiteX163" fmla="*/ 1935906 w 2314196"/>
              <a:gd name="connsiteY163" fmla="*/ 994244 h 1073463"/>
              <a:gd name="connsiteX164" fmla="*/ 1800762 w 2314196"/>
              <a:gd name="connsiteY164" fmla="*/ 994244 h 1073463"/>
              <a:gd name="connsiteX165" fmla="*/ 1704491 w 2314196"/>
              <a:gd name="connsiteY165" fmla="*/ 874758 h 1073463"/>
              <a:gd name="connsiteX166" fmla="*/ 1800762 w 2314196"/>
              <a:gd name="connsiteY166" fmla="*/ 755270 h 1073463"/>
              <a:gd name="connsiteX167" fmla="*/ 1935906 w 2314196"/>
              <a:gd name="connsiteY167" fmla="*/ 755270 h 1073463"/>
              <a:gd name="connsiteX168" fmla="*/ 2305922 w 2314196"/>
              <a:gd name="connsiteY168" fmla="*/ 185816 h 1073463"/>
              <a:gd name="connsiteX169" fmla="*/ 2209651 w 2314196"/>
              <a:gd name="connsiteY169" fmla="*/ 305302 h 1073463"/>
              <a:gd name="connsiteX170" fmla="*/ 2074507 w 2314196"/>
              <a:gd name="connsiteY170" fmla="*/ 305302 h 1073463"/>
              <a:gd name="connsiteX171" fmla="*/ 1978236 w 2314196"/>
              <a:gd name="connsiteY171" fmla="*/ 185816 h 1073463"/>
              <a:gd name="connsiteX172" fmla="*/ 2074507 w 2314196"/>
              <a:gd name="connsiteY172" fmla="*/ 66328 h 1073463"/>
              <a:gd name="connsiteX173" fmla="*/ 2209651 w 2314196"/>
              <a:gd name="connsiteY173" fmla="*/ 66328 h 1073463"/>
              <a:gd name="connsiteX174" fmla="*/ 2307316 w 2314196"/>
              <a:gd name="connsiteY174" fmla="*/ 735166 h 1073463"/>
              <a:gd name="connsiteX175" fmla="*/ 2211045 w 2314196"/>
              <a:gd name="connsiteY175" fmla="*/ 854653 h 1073463"/>
              <a:gd name="connsiteX176" fmla="*/ 2075901 w 2314196"/>
              <a:gd name="connsiteY176" fmla="*/ 854653 h 1073463"/>
              <a:gd name="connsiteX177" fmla="*/ 1979630 w 2314196"/>
              <a:gd name="connsiteY177" fmla="*/ 735167 h 1073463"/>
              <a:gd name="connsiteX178" fmla="*/ 2075901 w 2314196"/>
              <a:gd name="connsiteY178" fmla="*/ 615679 h 1073463"/>
              <a:gd name="connsiteX179" fmla="*/ 2211045 w 2314196"/>
              <a:gd name="connsiteY179" fmla="*/ 615679 h 1073463"/>
              <a:gd name="connsiteX180" fmla="*/ 2312815 w 2314196"/>
              <a:gd name="connsiteY180" fmla="*/ 464778 h 1073463"/>
              <a:gd name="connsiteX181" fmla="*/ 2216544 w 2314196"/>
              <a:gd name="connsiteY181" fmla="*/ 584264 h 1073463"/>
              <a:gd name="connsiteX182" fmla="*/ 2081400 w 2314196"/>
              <a:gd name="connsiteY182" fmla="*/ 584264 h 1073463"/>
              <a:gd name="connsiteX183" fmla="*/ 1985129 w 2314196"/>
              <a:gd name="connsiteY183" fmla="*/ 464778 h 1073463"/>
              <a:gd name="connsiteX184" fmla="*/ 2081400 w 2314196"/>
              <a:gd name="connsiteY184" fmla="*/ 345291 h 1073463"/>
              <a:gd name="connsiteX185" fmla="*/ 2216544 w 2314196"/>
              <a:gd name="connsiteY185" fmla="*/ 345291 h 1073463"/>
              <a:gd name="connsiteX186" fmla="*/ 2314196 w 2314196"/>
              <a:gd name="connsiteY186" fmla="*/ 1011707 h 1073463"/>
              <a:gd name="connsiteX187" fmla="*/ 2264439 w 2314196"/>
              <a:gd name="connsiteY187" fmla="*/ 1073463 h 1073463"/>
              <a:gd name="connsiteX188" fmla="*/ 2036267 w 2314196"/>
              <a:gd name="connsiteY188" fmla="*/ 1073463 h 1073463"/>
              <a:gd name="connsiteX189" fmla="*/ 1986511 w 2314196"/>
              <a:gd name="connsiteY189" fmla="*/ 1011707 h 1073463"/>
              <a:gd name="connsiteX190" fmla="*/ 2082781 w 2314196"/>
              <a:gd name="connsiteY190" fmla="*/ 892220 h 1073463"/>
              <a:gd name="connsiteX191" fmla="*/ 2217926 w 2314196"/>
              <a:gd name="connsiteY191" fmla="*/ 892220 h 107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314196" h="1073463">
                <a:moveTo>
                  <a:pt x="327686" y="43708"/>
                </a:moveTo>
                <a:lnTo>
                  <a:pt x="231415" y="163195"/>
                </a:lnTo>
                <a:lnTo>
                  <a:pt x="96271" y="163195"/>
                </a:lnTo>
                <a:lnTo>
                  <a:pt x="0" y="43708"/>
                </a:lnTo>
                <a:lnTo>
                  <a:pt x="35216" y="0"/>
                </a:lnTo>
                <a:lnTo>
                  <a:pt x="292470" y="0"/>
                </a:lnTo>
                <a:close/>
                <a:moveTo>
                  <a:pt x="329081" y="593059"/>
                </a:moveTo>
                <a:lnTo>
                  <a:pt x="232810" y="712546"/>
                </a:lnTo>
                <a:lnTo>
                  <a:pt x="97666" y="712546"/>
                </a:lnTo>
                <a:lnTo>
                  <a:pt x="1395" y="593059"/>
                </a:lnTo>
                <a:lnTo>
                  <a:pt x="97666" y="473572"/>
                </a:lnTo>
                <a:lnTo>
                  <a:pt x="232810" y="473572"/>
                </a:lnTo>
                <a:close/>
                <a:moveTo>
                  <a:pt x="334579" y="322670"/>
                </a:moveTo>
                <a:lnTo>
                  <a:pt x="238308" y="442157"/>
                </a:lnTo>
                <a:lnTo>
                  <a:pt x="103164" y="442157"/>
                </a:lnTo>
                <a:lnTo>
                  <a:pt x="6893" y="322670"/>
                </a:lnTo>
                <a:lnTo>
                  <a:pt x="103164" y="203183"/>
                </a:lnTo>
                <a:lnTo>
                  <a:pt x="238308" y="203183"/>
                </a:lnTo>
                <a:close/>
                <a:moveTo>
                  <a:pt x="335961" y="869599"/>
                </a:moveTo>
                <a:lnTo>
                  <a:pt x="239690" y="989086"/>
                </a:lnTo>
                <a:lnTo>
                  <a:pt x="104546" y="989086"/>
                </a:lnTo>
                <a:lnTo>
                  <a:pt x="8275" y="869600"/>
                </a:lnTo>
                <a:lnTo>
                  <a:pt x="104546" y="750112"/>
                </a:lnTo>
                <a:lnTo>
                  <a:pt x="239690" y="750112"/>
                </a:lnTo>
                <a:close/>
                <a:moveTo>
                  <a:pt x="609704" y="186885"/>
                </a:moveTo>
                <a:lnTo>
                  <a:pt x="513434" y="306372"/>
                </a:lnTo>
                <a:lnTo>
                  <a:pt x="378290" y="306372"/>
                </a:lnTo>
                <a:lnTo>
                  <a:pt x="282019" y="186885"/>
                </a:lnTo>
                <a:lnTo>
                  <a:pt x="378290" y="67398"/>
                </a:lnTo>
                <a:lnTo>
                  <a:pt x="513434" y="67398"/>
                </a:lnTo>
                <a:close/>
                <a:moveTo>
                  <a:pt x="611099" y="736237"/>
                </a:moveTo>
                <a:lnTo>
                  <a:pt x="514828" y="855723"/>
                </a:lnTo>
                <a:lnTo>
                  <a:pt x="379684" y="855723"/>
                </a:lnTo>
                <a:lnTo>
                  <a:pt x="283413" y="736237"/>
                </a:lnTo>
                <a:lnTo>
                  <a:pt x="379684" y="616750"/>
                </a:lnTo>
                <a:lnTo>
                  <a:pt x="514828" y="616750"/>
                </a:lnTo>
                <a:close/>
                <a:moveTo>
                  <a:pt x="616597" y="465848"/>
                </a:moveTo>
                <a:lnTo>
                  <a:pt x="520326" y="585334"/>
                </a:lnTo>
                <a:lnTo>
                  <a:pt x="385182" y="585334"/>
                </a:lnTo>
                <a:lnTo>
                  <a:pt x="288912" y="465848"/>
                </a:lnTo>
                <a:lnTo>
                  <a:pt x="385182" y="346361"/>
                </a:lnTo>
                <a:lnTo>
                  <a:pt x="520326" y="346361"/>
                </a:lnTo>
                <a:close/>
                <a:moveTo>
                  <a:pt x="617979" y="1012777"/>
                </a:moveTo>
                <a:lnTo>
                  <a:pt x="569084" y="1073463"/>
                </a:lnTo>
                <a:lnTo>
                  <a:pt x="339188" y="1073463"/>
                </a:lnTo>
                <a:lnTo>
                  <a:pt x="290293" y="1012777"/>
                </a:lnTo>
                <a:lnTo>
                  <a:pt x="386564" y="893290"/>
                </a:lnTo>
                <a:lnTo>
                  <a:pt x="521708" y="893290"/>
                </a:lnTo>
                <a:close/>
                <a:moveTo>
                  <a:pt x="897222" y="48866"/>
                </a:moveTo>
                <a:lnTo>
                  <a:pt x="800951" y="168353"/>
                </a:lnTo>
                <a:lnTo>
                  <a:pt x="665807" y="168353"/>
                </a:lnTo>
                <a:lnTo>
                  <a:pt x="569536" y="48866"/>
                </a:lnTo>
                <a:lnTo>
                  <a:pt x="608908" y="0"/>
                </a:lnTo>
                <a:lnTo>
                  <a:pt x="857850" y="0"/>
                </a:lnTo>
                <a:close/>
                <a:moveTo>
                  <a:pt x="898616" y="598217"/>
                </a:moveTo>
                <a:lnTo>
                  <a:pt x="802346" y="717704"/>
                </a:lnTo>
                <a:lnTo>
                  <a:pt x="667201" y="717704"/>
                </a:lnTo>
                <a:lnTo>
                  <a:pt x="570931" y="598217"/>
                </a:lnTo>
                <a:lnTo>
                  <a:pt x="667201" y="478730"/>
                </a:lnTo>
                <a:lnTo>
                  <a:pt x="802346" y="478730"/>
                </a:lnTo>
                <a:close/>
                <a:moveTo>
                  <a:pt x="904115" y="327828"/>
                </a:moveTo>
                <a:lnTo>
                  <a:pt x="807844" y="447315"/>
                </a:lnTo>
                <a:lnTo>
                  <a:pt x="672700" y="447315"/>
                </a:lnTo>
                <a:lnTo>
                  <a:pt x="576429" y="327828"/>
                </a:lnTo>
                <a:lnTo>
                  <a:pt x="672700" y="208341"/>
                </a:lnTo>
                <a:lnTo>
                  <a:pt x="807844" y="208341"/>
                </a:lnTo>
                <a:close/>
                <a:moveTo>
                  <a:pt x="905497" y="874757"/>
                </a:moveTo>
                <a:lnTo>
                  <a:pt x="809226" y="994244"/>
                </a:lnTo>
                <a:lnTo>
                  <a:pt x="674082" y="994244"/>
                </a:lnTo>
                <a:lnTo>
                  <a:pt x="577811" y="874757"/>
                </a:lnTo>
                <a:lnTo>
                  <a:pt x="674082" y="755270"/>
                </a:lnTo>
                <a:lnTo>
                  <a:pt x="809226" y="755270"/>
                </a:lnTo>
                <a:close/>
                <a:moveTo>
                  <a:pt x="1179241" y="185816"/>
                </a:moveTo>
                <a:lnTo>
                  <a:pt x="1082970" y="305302"/>
                </a:lnTo>
                <a:lnTo>
                  <a:pt x="947826" y="305302"/>
                </a:lnTo>
                <a:lnTo>
                  <a:pt x="851555" y="185815"/>
                </a:lnTo>
                <a:lnTo>
                  <a:pt x="947826" y="66328"/>
                </a:lnTo>
                <a:lnTo>
                  <a:pt x="1082970" y="66328"/>
                </a:lnTo>
                <a:close/>
                <a:moveTo>
                  <a:pt x="1180636" y="735167"/>
                </a:moveTo>
                <a:lnTo>
                  <a:pt x="1084365" y="854653"/>
                </a:lnTo>
                <a:lnTo>
                  <a:pt x="949221" y="854653"/>
                </a:lnTo>
                <a:lnTo>
                  <a:pt x="852950" y="735166"/>
                </a:lnTo>
                <a:lnTo>
                  <a:pt x="949221" y="615679"/>
                </a:lnTo>
                <a:lnTo>
                  <a:pt x="1084365" y="615679"/>
                </a:lnTo>
                <a:close/>
                <a:moveTo>
                  <a:pt x="1186134" y="464778"/>
                </a:moveTo>
                <a:lnTo>
                  <a:pt x="1089863" y="584264"/>
                </a:lnTo>
                <a:lnTo>
                  <a:pt x="954719" y="584264"/>
                </a:lnTo>
                <a:lnTo>
                  <a:pt x="858448" y="464778"/>
                </a:lnTo>
                <a:lnTo>
                  <a:pt x="954719" y="345291"/>
                </a:lnTo>
                <a:lnTo>
                  <a:pt x="1089863" y="345291"/>
                </a:lnTo>
                <a:close/>
                <a:moveTo>
                  <a:pt x="1187516" y="1011707"/>
                </a:moveTo>
                <a:lnTo>
                  <a:pt x="1137759" y="1073463"/>
                </a:lnTo>
                <a:lnTo>
                  <a:pt x="909587" y="1073463"/>
                </a:lnTo>
                <a:lnTo>
                  <a:pt x="859830" y="1011707"/>
                </a:lnTo>
                <a:lnTo>
                  <a:pt x="956101" y="892220"/>
                </a:lnTo>
                <a:lnTo>
                  <a:pt x="1091245" y="892220"/>
                </a:lnTo>
                <a:close/>
                <a:moveTo>
                  <a:pt x="1454367" y="43708"/>
                </a:moveTo>
                <a:lnTo>
                  <a:pt x="1358096" y="163195"/>
                </a:lnTo>
                <a:lnTo>
                  <a:pt x="1222952" y="163195"/>
                </a:lnTo>
                <a:lnTo>
                  <a:pt x="1126681" y="43708"/>
                </a:lnTo>
                <a:lnTo>
                  <a:pt x="1161897" y="0"/>
                </a:lnTo>
                <a:lnTo>
                  <a:pt x="1419151" y="0"/>
                </a:lnTo>
                <a:close/>
                <a:moveTo>
                  <a:pt x="1455761" y="593059"/>
                </a:moveTo>
                <a:lnTo>
                  <a:pt x="1359490" y="712546"/>
                </a:lnTo>
                <a:lnTo>
                  <a:pt x="1224346" y="712546"/>
                </a:lnTo>
                <a:lnTo>
                  <a:pt x="1128075" y="593059"/>
                </a:lnTo>
                <a:lnTo>
                  <a:pt x="1224346" y="473572"/>
                </a:lnTo>
                <a:lnTo>
                  <a:pt x="1359490" y="473572"/>
                </a:lnTo>
                <a:close/>
                <a:moveTo>
                  <a:pt x="1461259" y="322671"/>
                </a:moveTo>
                <a:lnTo>
                  <a:pt x="1364989" y="442157"/>
                </a:lnTo>
                <a:lnTo>
                  <a:pt x="1229845" y="442157"/>
                </a:lnTo>
                <a:lnTo>
                  <a:pt x="1133574" y="322670"/>
                </a:lnTo>
                <a:lnTo>
                  <a:pt x="1229845" y="203183"/>
                </a:lnTo>
                <a:lnTo>
                  <a:pt x="1364989" y="203183"/>
                </a:lnTo>
                <a:close/>
                <a:moveTo>
                  <a:pt x="1462641" y="869600"/>
                </a:moveTo>
                <a:lnTo>
                  <a:pt x="1366371" y="989086"/>
                </a:lnTo>
                <a:lnTo>
                  <a:pt x="1231226" y="989086"/>
                </a:lnTo>
                <a:lnTo>
                  <a:pt x="1134956" y="869599"/>
                </a:lnTo>
                <a:lnTo>
                  <a:pt x="1231226" y="750112"/>
                </a:lnTo>
                <a:lnTo>
                  <a:pt x="1366371" y="750112"/>
                </a:lnTo>
                <a:close/>
                <a:moveTo>
                  <a:pt x="1736385" y="186886"/>
                </a:moveTo>
                <a:lnTo>
                  <a:pt x="1640114" y="306373"/>
                </a:lnTo>
                <a:lnTo>
                  <a:pt x="1504970" y="306373"/>
                </a:lnTo>
                <a:lnTo>
                  <a:pt x="1408699" y="186886"/>
                </a:lnTo>
                <a:lnTo>
                  <a:pt x="1504970" y="67399"/>
                </a:lnTo>
                <a:lnTo>
                  <a:pt x="1640114" y="67399"/>
                </a:lnTo>
                <a:close/>
                <a:moveTo>
                  <a:pt x="1737780" y="736237"/>
                </a:moveTo>
                <a:lnTo>
                  <a:pt x="1641509" y="855724"/>
                </a:lnTo>
                <a:lnTo>
                  <a:pt x="1506365" y="855724"/>
                </a:lnTo>
                <a:lnTo>
                  <a:pt x="1410094" y="736237"/>
                </a:lnTo>
                <a:lnTo>
                  <a:pt x="1506365" y="616750"/>
                </a:lnTo>
                <a:lnTo>
                  <a:pt x="1641509" y="616750"/>
                </a:lnTo>
                <a:close/>
                <a:moveTo>
                  <a:pt x="1743278" y="465848"/>
                </a:moveTo>
                <a:lnTo>
                  <a:pt x="1647007" y="585335"/>
                </a:lnTo>
                <a:lnTo>
                  <a:pt x="1511863" y="585335"/>
                </a:lnTo>
                <a:lnTo>
                  <a:pt x="1415592" y="465848"/>
                </a:lnTo>
                <a:lnTo>
                  <a:pt x="1511863" y="346361"/>
                </a:lnTo>
                <a:lnTo>
                  <a:pt x="1647007" y="346361"/>
                </a:lnTo>
                <a:close/>
                <a:moveTo>
                  <a:pt x="1744660" y="1012777"/>
                </a:moveTo>
                <a:lnTo>
                  <a:pt x="1695765" y="1073463"/>
                </a:lnTo>
                <a:lnTo>
                  <a:pt x="1465869" y="1073463"/>
                </a:lnTo>
                <a:lnTo>
                  <a:pt x="1416974" y="1012777"/>
                </a:lnTo>
                <a:lnTo>
                  <a:pt x="1513245" y="893290"/>
                </a:lnTo>
                <a:lnTo>
                  <a:pt x="1648389" y="893290"/>
                </a:lnTo>
                <a:close/>
                <a:moveTo>
                  <a:pt x="2023903" y="48866"/>
                </a:moveTo>
                <a:lnTo>
                  <a:pt x="1927632" y="168353"/>
                </a:lnTo>
                <a:lnTo>
                  <a:pt x="1792488" y="168353"/>
                </a:lnTo>
                <a:lnTo>
                  <a:pt x="1696217" y="48866"/>
                </a:lnTo>
                <a:lnTo>
                  <a:pt x="1735589" y="0"/>
                </a:lnTo>
                <a:lnTo>
                  <a:pt x="1984531" y="0"/>
                </a:lnTo>
                <a:close/>
                <a:moveTo>
                  <a:pt x="2025297" y="598217"/>
                </a:moveTo>
                <a:lnTo>
                  <a:pt x="1929026" y="717704"/>
                </a:lnTo>
                <a:lnTo>
                  <a:pt x="1793882" y="717704"/>
                </a:lnTo>
                <a:lnTo>
                  <a:pt x="1697611" y="598217"/>
                </a:lnTo>
                <a:lnTo>
                  <a:pt x="1793882" y="478730"/>
                </a:lnTo>
                <a:lnTo>
                  <a:pt x="1929026" y="478730"/>
                </a:lnTo>
                <a:close/>
                <a:moveTo>
                  <a:pt x="2030795" y="327829"/>
                </a:moveTo>
                <a:lnTo>
                  <a:pt x="1934525" y="447315"/>
                </a:lnTo>
                <a:lnTo>
                  <a:pt x="1799380" y="447315"/>
                </a:lnTo>
                <a:lnTo>
                  <a:pt x="1703110" y="327829"/>
                </a:lnTo>
                <a:lnTo>
                  <a:pt x="1799380" y="208341"/>
                </a:lnTo>
                <a:lnTo>
                  <a:pt x="1934525" y="208341"/>
                </a:lnTo>
                <a:close/>
                <a:moveTo>
                  <a:pt x="2032177" y="874758"/>
                </a:moveTo>
                <a:lnTo>
                  <a:pt x="1935906" y="994244"/>
                </a:lnTo>
                <a:lnTo>
                  <a:pt x="1800762" y="994244"/>
                </a:lnTo>
                <a:lnTo>
                  <a:pt x="1704491" y="874758"/>
                </a:lnTo>
                <a:lnTo>
                  <a:pt x="1800762" y="755270"/>
                </a:lnTo>
                <a:lnTo>
                  <a:pt x="1935906" y="755270"/>
                </a:lnTo>
                <a:close/>
                <a:moveTo>
                  <a:pt x="2305922" y="185816"/>
                </a:moveTo>
                <a:lnTo>
                  <a:pt x="2209651" y="305302"/>
                </a:lnTo>
                <a:lnTo>
                  <a:pt x="2074507" y="305302"/>
                </a:lnTo>
                <a:lnTo>
                  <a:pt x="1978236" y="185816"/>
                </a:lnTo>
                <a:lnTo>
                  <a:pt x="2074507" y="66328"/>
                </a:lnTo>
                <a:lnTo>
                  <a:pt x="2209651" y="66328"/>
                </a:lnTo>
                <a:close/>
                <a:moveTo>
                  <a:pt x="2307316" y="735166"/>
                </a:moveTo>
                <a:lnTo>
                  <a:pt x="2211045" y="854653"/>
                </a:lnTo>
                <a:lnTo>
                  <a:pt x="2075901" y="854653"/>
                </a:lnTo>
                <a:lnTo>
                  <a:pt x="1979630" y="735167"/>
                </a:lnTo>
                <a:lnTo>
                  <a:pt x="2075901" y="615679"/>
                </a:lnTo>
                <a:lnTo>
                  <a:pt x="2211045" y="615679"/>
                </a:lnTo>
                <a:close/>
                <a:moveTo>
                  <a:pt x="2312815" y="464778"/>
                </a:moveTo>
                <a:lnTo>
                  <a:pt x="2216544" y="584264"/>
                </a:lnTo>
                <a:lnTo>
                  <a:pt x="2081400" y="584264"/>
                </a:lnTo>
                <a:lnTo>
                  <a:pt x="1985129" y="464778"/>
                </a:lnTo>
                <a:lnTo>
                  <a:pt x="2081400" y="345291"/>
                </a:lnTo>
                <a:lnTo>
                  <a:pt x="2216544" y="345291"/>
                </a:lnTo>
                <a:close/>
                <a:moveTo>
                  <a:pt x="2314196" y="1011707"/>
                </a:moveTo>
                <a:lnTo>
                  <a:pt x="2264439" y="1073463"/>
                </a:lnTo>
                <a:lnTo>
                  <a:pt x="2036267" y="1073463"/>
                </a:lnTo>
                <a:lnTo>
                  <a:pt x="1986511" y="1011707"/>
                </a:lnTo>
                <a:lnTo>
                  <a:pt x="2082781" y="892220"/>
                </a:lnTo>
                <a:lnTo>
                  <a:pt x="2217926" y="892220"/>
                </a:lnTo>
                <a:close/>
              </a:path>
            </a:pathLst>
          </a:custGeom>
          <a:gradFill flip="none" rotWithShape="1">
            <a:gsLst>
              <a:gs pos="0">
                <a:srgbClr val="4E4B23"/>
              </a:gs>
              <a:gs pos="70000">
                <a:srgbClr val="1E1C11"/>
              </a:gs>
            </a:gsLst>
            <a:lin ang="5400000" scaled="1"/>
            <a:tileRect/>
          </a:gra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  <a:scene3d>
            <a:camera prst="isometricOffAxis2Top">
              <a:rot lat="17090525" lon="19088305" rev="2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爆炸形: 8 pt  9">
            <a:extLst>
              <a:ext uri="{FF2B5EF4-FFF2-40B4-BE49-F238E27FC236}">
                <a16:creationId xmlns:a16="http://schemas.microsoft.com/office/drawing/2014/main" id="{FBCB42A5-D5B2-B7AA-395A-7994DA8986A9}"/>
              </a:ext>
            </a:extLst>
          </p:cNvPr>
          <p:cNvSpPr/>
          <p:nvPr/>
        </p:nvSpPr>
        <p:spPr>
          <a:xfrm>
            <a:off x="378069" y="4941277"/>
            <a:ext cx="3258705" cy="1256574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在宿主机访问</a:t>
            </a:r>
            <a:r>
              <a:rPr lang="en-US" altLang="zh-CN" sz="1600" dirty="0"/>
              <a:t>nginx</a:t>
            </a:r>
            <a:r>
              <a:rPr lang="zh-CN" altLang="en-US" sz="1600" dirty="0"/>
              <a:t>容器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42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22" grpId="0" animBg="1"/>
      <p:bldP spid="32" grpId="0"/>
      <p:bldP spid="34" grpId="0" animBg="1"/>
      <p:bldP spid="34" grpId="1" animBg="1"/>
      <p:bldP spid="175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/>
              <a:t>docker run</a:t>
            </a:r>
            <a:r>
              <a:rPr lang="zh-CN" altLang="en-US" sz="1600" dirty="0"/>
              <a:t>命令的常见参数有哪些？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--name</a:t>
            </a:r>
            <a:r>
              <a:rPr lang="zh-CN" altLang="en-US" sz="1600" dirty="0"/>
              <a:t>：指定容器名称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-p</a:t>
            </a:r>
            <a:r>
              <a:rPr lang="zh-CN" altLang="en-US" sz="1600" dirty="0"/>
              <a:t>：指定端口映射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-d</a:t>
            </a:r>
            <a:r>
              <a:rPr lang="zh-CN" altLang="en-US" sz="1600" dirty="0"/>
              <a:t>：让容器后台运行</a:t>
            </a:r>
            <a:endParaRPr lang="en-US" altLang="zh-CN" sz="1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195450" y="1020531"/>
            <a:ext cx="9214230" cy="517190"/>
          </a:xfrm>
        </p:spPr>
        <p:txBody>
          <a:bodyPr/>
          <a:lstStyle/>
          <a:p>
            <a:r>
              <a:rPr lang="zh-CN" altLang="en-US"/>
              <a:t>进入</a:t>
            </a:r>
            <a:r>
              <a:rPr lang="en-US" altLang="zh-CN"/>
              <a:t>Nginx</a:t>
            </a:r>
            <a:r>
              <a:rPr lang="zh-CN" altLang="en-US"/>
              <a:t>容器，修改</a:t>
            </a:r>
            <a:r>
              <a:rPr lang="en-US" altLang="zh-CN"/>
              <a:t>HTML</a:t>
            </a:r>
            <a:r>
              <a:rPr lang="zh-CN" altLang="en-US"/>
              <a:t>文件内容，添加“传智教育欢迎您”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717039"/>
            <a:ext cx="9214230" cy="252984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/>
              <a:t>步骤一</a:t>
            </a:r>
            <a:r>
              <a:rPr lang="zh-CN" altLang="en-US"/>
              <a:t>：进入容器。进入我们刚刚创建的</a:t>
            </a:r>
            <a:r>
              <a:rPr lang="en-US" altLang="zh-CN"/>
              <a:t>nginx</a:t>
            </a:r>
            <a:r>
              <a:rPr lang="zh-CN" altLang="en-US"/>
              <a:t>容器的命令为：</a:t>
            </a:r>
            <a:endParaRPr lang="en-US" altLang="zh-CN"/>
          </a:p>
          <a:p>
            <a:pPr>
              <a:lnSpc>
                <a:spcPct val="130000"/>
              </a:lnSpc>
            </a:pP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/>
              <a:t>命令解读：</a:t>
            </a:r>
            <a:endParaRPr lang="en-US" altLang="zh-CN"/>
          </a:p>
          <a:p>
            <a:pPr marL="285750" indent="-28575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/>
              <a:t>docker exec </a:t>
            </a:r>
            <a:r>
              <a:rPr lang="zh-CN" altLang="en-US"/>
              <a:t>：进入容器内部，执行一个命令</a:t>
            </a:r>
            <a:endParaRPr lang="en-US" altLang="zh-CN"/>
          </a:p>
          <a:p>
            <a:pPr marL="285750" indent="-28575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/>
              <a:t>-it : </a:t>
            </a:r>
            <a:r>
              <a:rPr lang="zh-CN" altLang="en-US"/>
              <a:t>给当前进入的容器创建一个标准输入、输出终端，允许我们与容器交互</a:t>
            </a:r>
            <a:endParaRPr lang="en-US" altLang="zh-CN"/>
          </a:p>
          <a:p>
            <a:pPr marL="285750" indent="-28575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/>
              <a:t>mn </a:t>
            </a:r>
            <a:r>
              <a:rPr lang="zh-CN" altLang="en-US"/>
              <a:t>：要进入的容器的名称</a:t>
            </a:r>
            <a:endParaRPr lang="en-US" altLang="zh-CN"/>
          </a:p>
          <a:p>
            <a:pPr marL="285750" indent="-28575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/>
              <a:t>bash</a:t>
            </a:r>
            <a:r>
              <a:rPr lang="zh-CN" altLang="en-US"/>
              <a:t>：进入容器后执行的命令，</a:t>
            </a:r>
            <a:r>
              <a:rPr lang="en-US" altLang="zh-CN"/>
              <a:t>bash</a:t>
            </a:r>
            <a:r>
              <a:rPr lang="zh-CN" altLang="en-US"/>
              <a:t>是一个</a:t>
            </a:r>
            <a:r>
              <a:rPr lang="en-US" altLang="zh-CN"/>
              <a:t>linux</a:t>
            </a:r>
            <a:r>
              <a:rPr lang="zh-CN" altLang="en-US"/>
              <a:t>终端交互命令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281559" y="2143586"/>
            <a:ext cx="9128119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exec -it mn bash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95448" y="4327205"/>
            <a:ext cx="9214230" cy="426271"/>
          </a:xfrm>
          <a:prstGeom prst="rect">
            <a:avLst/>
          </a:prstGeom>
        </p:spPr>
        <p:txBody>
          <a:bodyPr/>
          <a:lstStyle>
            <a:lvl1pPr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5240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1336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/>
            </a:lvl4pPr>
            <a:lvl5pPr marL="27432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/>
            </a:lvl5pPr>
            <a:lvl6pPr marL="33528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6pPr>
            <a:lvl7pPr marL="39624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7pPr>
            <a:lvl8pPr marL="45720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8pPr>
            <a:lvl9pPr marL="51816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9pPr>
          </a:lstStyle>
          <a:p>
            <a:r>
              <a:rPr lang="zh-CN" altLang="en-US" b="1"/>
              <a:t>步骤二</a:t>
            </a:r>
            <a:r>
              <a:rPr lang="zh-CN" altLang="en-US"/>
              <a:t>：进入</a:t>
            </a:r>
            <a:r>
              <a:rPr lang="en-US" altLang="zh-CN"/>
              <a:t>nginx</a:t>
            </a:r>
            <a:r>
              <a:rPr lang="zh-CN" altLang="en-US"/>
              <a:t>的</a:t>
            </a:r>
            <a:r>
              <a:rPr lang="en-US" altLang="zh-CN"/>
              <a:t>HTML</a:t>
            </a:r>
            <a:r>
              <a:rPr lang="zh-CN" altLang="en-US"/>
              <a:t>所在目录 </a:t>
            </a:r>
            <a:r>
              <a:rPr lang="en-US" altLang="zh-CN"/>
              <a:t>/usr/share/nginx/html</a:t>
            </a:r>
          </a:p>
          <a:p>
            <a:r>
              <a:rPr lang="zh-CN" altLang="en-US"/>
              <a:t> 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281558" y="4932155"/>
            <a:ext cx="9128119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cd </a:t>
            </a:r>
            <a:r>
              <a:rPr lang="en-US" altLang="zh-CN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/usr/share/nginx/html</a:t>
            </a:r>
            <a:endParaRPr lang="zh-CN" altLang="en-US" sz="14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95448" y="5310871"/>
            <a:ext cx="9214230" cy="426271"/>
          </a:xfrm>
          <a:prstGeom prst="rect">
            <a:avLst/>
          </a:prstGeom>
        </p:spPr>
        <p:txBody>
          <a:bodyPr/>
          <a:lstStyle>
            <a:lvl1pPr indent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5240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1336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/>
            </a:lvl4pPr>
            <a:lvl5pPr marL="274320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/>
            </a:lvl5pPr>
            <a:lvl6pPr marL="33528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6pPr>
            <a:lvl7pPr marL="39624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7pPr>
            <a:lvl8pPr marL="45720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8pPr>
            <a:lvl9pPr marL="5181600" indent="-304800" defTabSz="1219200">
              <a:spcBef>
                <a:spcPct val="20000"/>
              </a:spcBef>
              <a:buFont typeface="Arial" panose="020B0604020202020204" pitchFamily="34" charset="0"/>
              <a:buChar char="•"/>
              <a:defRPr sz="2665"/>
            </a:lvl9pPr>
          </a:lstStyle>
          <a:p>
            <a:r>
              <a:rPr lang="zh-CN" altLang="en-US" b="1"/>
              <a:t>步骤三</a:t>
            </a:r>
            <a:r>
              <a:rPr lang="zh-CN" altLang="en-US"/>
              <a:t>：修改</a:t>
            </a:r>
            <a:r>
              <a:rPr lang="en-US" altLang="zh-CN"/>
              <a:t>index.html</a:t>
            </a:r>
            <a:r>
              <a:rPr lang="zh-CN" altLang="en-US"/>
              <a:t>的内容</a:t>
            </a:r>
            <a:endParaRPr lang="en-US" altLang="zh-CN"/>
          </a:p>
          <a:p>
            <a:r>
              <a:rPr lang="zh-CN" altLang="en-US"/>
              <a:t> 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281558" y="5765739"/>
            <a:ext cx="9128119" cy="523220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sed -i 's#Welcome to nginx#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传智</a:t>
            </a:r>
            <a:r>
              <a:rPr lang="zh-CN" altLang="en-US" sz="1400"/>
              <a:t>教育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欢迎您</a:t>
            </a:r>
            <a:r>
              <a:rPr lang="en-US" altLang="zh-CN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#g' index.html</a:t>
            </a:r>
          </a:p>
          <a:p>
            <a:r>
              <a:rPr lang="en-US" altLang="zh-CN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sed -i 's#&lt;head&gt;#&lt;head&gt;&lt;meta charset="utf-8"&gt;#g' index.html</a:t>
            </a:r>
            <a:endParaRPr lang="zh-CN" altLang="en-US" sz="14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 animBg="1"/>
      <p:bldP spid="11" grpId="0"/>
      <p:bldP spid="1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暂停容器</a:t>
            </a:r>
            <a:endParaRPr lang="en-US" altLang="zh-CN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pause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从暂停回到运行容器</a:t>
            </a:r>
            <a:r>
              <a:rPr lang="en-US" altLang="zh-CN" sz="1000" dirty="0"/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</a:t>
            </a:r>
            <a:r>
              <a:rPr lang="en-US" altLang="zh-CN" sz="1000" dirty="0" err="1"/>
              <a:t>unpause</a:t>
            </a:r>
            <a:r>
              <a:rPr lang="en-US" altLang="zh-CN" sz="1000" dirty="0"/>
              <a:t>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停止容器</a:t>
            </a:r>
            <a:r>
              <a:rPr lang="en-US" altLang="zh-CN" sz="1000" dirty="0"/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stop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从停止到启动容器</a:t>
            </a:r>
            <a:r>
              <a:rPr lang="en-US" altLang="zh-CN" sz="1000" dirty="0"/>
              <a:t>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start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查看容器状态：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</a:t>
            </a:r>
            <a:r>
              <a:rPr lang="en-US" altLang="zh-CN" sz="1000" dirty="0" err="1"/>
              <a:t>ps</a:t>
            </a:r>
            <a:r>
              <a:rPr lang="en-US" altLang="zh-CN" sz="1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添加</a:t>
            </a:r>
            <a:r>
              <a:rPr lang="en-US" altLang="zh-CN" sz="1000" dirty="0"/>
              <a:t>-a</a:t>
            </a:r>
            <a:r>
              <a:rPr lang="zh-CN" altLang="en-US" sz="1000" dirty="0"/>
              <a:t>参数查看所有状态的容器</a:t>
            </a:r>
            <a:endParaRPr lang="en-US" altLang="zh-CN" sz="1000" dirty="0"/>
          </a:p>
          <a:p>
            <a:pPr marL="0" indent="0">
              <a:buNone/>
            </a:pPr>
            <a:r>
              <a:rPr lang="zh-CN" altLang="en-US" sz="1000" dirty="0"/>
              <a:t>查看容器日志的命令：</a:t>
            </a:r>
            <a:endParaRPr lang="en-US" altLang="zh-C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000" dirty="0"/>
              <a:t>docker logs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000" dirty="0"/>
              <a:t>添加 </a:t>
            </a:r>
            <a:r>
              <a:rPr lang="en-US" altLang="zh-CN" sz="1000" dirty="0"/>
              <a:t>-f </a:t>
            </a:r>
            <a:r>
              <a:rPr lang="zh-CN" altLang="en-US" sz="1000" dirty="0"/>
              <a:t>参数可以持续查看日志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删除容器：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docker rm </a:t>
            </a:r>
            <a:r>
              <a:rPr lang="zh-CN" altLang="en-US" sz="1000" dirty="0"/>
              <a:t>容器名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不能删除运行中的容器，除非添加 </a:t>
            </a:r>
            <a:r>
              <a:rPr lang="en-US" altLang="zh-CN" sz="1000" dirty="0"/>
              <a:t>-f </a:t>
            </a:r>
            <a:r>
              <a:rPr lang="zh-CN" altLang="en-US" sz="1000" dirty="0"/>
              <a:t>参数</a:t>
            </a:r>
            <a:endParaRPr lang="en-US" altLang="zh-CN" sz="1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000" dirty="0"/>
              <a:t>进入容器：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/>
              <a:t>命令是</a:t>
            </a:r>
            <a:r>
              <a:rPr lang="en-US" altLang="zh-CN" sz="1000" dirty="0"/>
              <a:t>docker exec -it [</a:t>
            </a:r>
            <a:r>
              <a:rPr lang="zh-CN" altLang="en-US" sz="1000" dirty="0"/>
              <a:t>容器名</a:t>
            </a:r>
            <a:r>
              <a:rPr lang="en-US" altLang="zh-CN" sz="1000" dirty="0"/>
              <a:t>] [</a:t>
            </a:r>
            <a:r>
              <a:rPr lang="zh-CN" altLang="en-US" sz="1000" dirty="0"/>
              <a:t>要执行的命令</a:t>
            </a:r>
            <a:r>
              <a:rPr lang="en-US" altLang="zh-CN" sz="1000" dirty="0"/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/>
              <a:t>exec</a:t>
            </a:r>
            <a:r>
              <a:rPr lang="zh-CN" altLang="en-US" sz="1000" dirty="0"/>
              <a:t>命令可以进入容器修改文件，但是在容器内修改文件是不推荐的</a:t>
            </a:r>
            <a:endParaRPr lang="en-US" altLang="zh-CN" sz="1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创建并运行一个</a:t>
            </a:r>
            <a:r>
              <a:rPr lang="en-US" altLang="zh-CN"/>
              <a:t>redis</a:t>
            </a:r>
            <a:r>
              <a:rPr lang="zh-CN" altLang="en-US"/>
              <a:t>容器，并且支持数据持久化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步骤一：到</a:t>
            </a:r>
            <a:r>
              <a:rPr lang="en-US" altLang="zh-CN"/>
              <a:t>DockerHub</a:t>
            </a:r>
            <a:r>
              <a:rPr lang="zh-CN" altLang="en-US"/>
              <a:t>搜索</a:t>
            </a:r>
            <a:r>
              <a:rPr lang="en-US" altLang="zh-CN"/>
              <a:t>Redis</a:t>
            </a:r>
            <a:r>
              <a:rPr lang="zh-CN" altLang="en-US"/>
              <a:t>镜像</a:t>
            </a:r>
            <a:endParaRPr lang="en-US" altLang="zh-CN"/>
          </a:p>
          <a:p>
            <a:r>
              <a:rPr lang="zh-CN" altLang="en-US"/>
              <a:t>步骤二：查看</a:t>
            </a:r>
            <a:r>
              <a:rPr lang="en-US" altLang="zh-CN"/>
              <a:t>Redis</a:t>
            </a:r>
            <a:r>
              <a:rPr lang="zh-CN" altLang="en-US"/>
              <a:t>镜像文档中的帮助信息</a:t>
            </a:r>
            <a:endParaRPr lang="en-US" altLang="zh-CN"/>
          </a:p>
          <a:p>
            <a:r>
              <a:rPr lang="zh-CN" altLang="en-US"/>
              <a:t>步骤三：利用</a:t>
            </a:r>
            <a:r>
              <a:rPr lang="en-US" altLang="zh-CN"/>
              <a:t>docker run </a:t>
            </a:r>
            <a:r>
              <a:rPr lang="zh-CN" altLang="en-US"/>
              <a:t>命令运行一个</a:t>
            </a:r>
            <a:r>
              <a:rPr lang="en-US" altLang="zh-CN"/>
              <a:t>Redis</a:t>
            </a:r>
            <a:r>
              <a:rPr lang="zh-CN" altLang="en-US"/>
              <a:t>容器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81561" y="3069659"/>
            <a:ext cx="9128119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 --name redis -p 6379:6379 -d redis redis-server --appendonly yes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60" y="3719819"/>
            <a:ext cx="9128119" cy="1102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进入</a:t>
            </a:r>
            <a:r>
              <a:rPr lang="en-US" altLang="zh-CN"/>
              <a:t>redis</a:t>
            </a:r>
            <a:r>
              <a:rPr lang="zh-CN" altLang="en-US"/>
              <a:t>容器，并执行</a:t>
            </a:r>
            <a:r>
              <a:rPr lang="en-US" altLang="zh-CN"/>
              <a:t>redis-cli</a:t>
            </a:r>
            <a:r>
              <a:rPr lang="zh-CN" altLang="en-US"/>
              <a:t>客户端命令，存入</a:t>
            </a:r>
            <a:r>
              <a:rPr lang="en-US" altLang="zh-CN"/>
              <a:t>num=666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195450" y="1656001"/>
            <a:ext cx="9214230" cy="425848"/>
          </a:xfrm>
        </p:spPr>
        <p:txBody>
          <a:bodyPr/>
          <a:lstStyle/>
          <a:p>
            <a:r>
              <a:rPr lang="zh-CN" altLang="en-US" dirty="0"/>
              <a:t>步骤四：进入</a:t>
            </a:r>
            <a:r>
              <a:rPr lang="en-US" altLang="zh-CN" dirty="0" err="1"/>
              <a:t>redis</a:t>
            </a:r>
            <a:r>
              <a:rPr lang="zh-CN" altLang="en-US" dirty="0"/>
              <a:t>容器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2328431" y="2155259"/>
            <a:ext cx="9128119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exec -it redis bash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324865" y="3562952"/>
            <a:ext cx="9128119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redis-cli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24865" y="5386122"/>
            <a:ext cx="9128119" cy="30777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num 666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429" y="2518802"/>
            <a:ext cx="7716189" cy="435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429" y="4012781"/>
            <a:ext cx="7716189" cy="67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428" y="5879239"/>
            <a:ext cx="5562215" cy="786179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195450" y="3163754"/>
            <a:ext cx="938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步骤五：执行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-cli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客户端命令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95450" y="4941735"/>
            <a:ext cx="938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步骤六：设置数据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num=666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8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容器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进入</a:t>
            </a:r>
            <a:r>
              <a:rPr lang="en-US" altLang="zh-CN"/>
              <a:t>redis</a:t>
            </a:r>
            <a:r>
              <a:rPr lang="zh-CN" altLang="en-US"/>
              <a:t>容器，并执行</a:t>
            </a:r>
            <a:r>
              <a:rPr lang="en-US" altLang="zh-CN"/>
              <a:t>redis-cli</a:t>
            </a:r>
            <a:r>
              <a:rPr lang="zh-CN" altLang="en-US"/>
              <a:t>客户端命令，存入</a:t>
            </a:r>
            <a:r>
              <a:rPr lang="en-US" altLang="zh-CN"/>
              <a:t>num=666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195450" y="1656001"/>
            <a:ext cx="9214230" cy="425848"/>
          </a:xfrm>
        </p:spPr>
        <p:txBody>
          <a:bodyPr/>
          <a:lstStyle/>
          <a:p>
            <a:r>
              <a:rPr lang="zh-CN" altLang="en-US" dirty="0"/>
              <a:t>步骤七：在</a:t>
            </a:r>
            <a:r>
              <a:rPr lang="en-US" altLang="zh-CN" dirty="0"/>
              <a:t>window</a:t>
            </a:r>
            <a:r>
              <a:rPr lang="zh-CN" altLang="en-US" dirty="0"/>
              <a:t>系统中使用</a:t>
            </a:r>
            <a:r>
              <a:rPr lang="en-US" altLang="zh-CN" dirty="0" err="1"/>
              <a:t>redis</a:t>
            </a:r>
            <a:r>
              <a:rPr lang="zh-CN" altLang="en-US" dirty="0"/>
              <a:t>客户端连接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668526-A2AB-7696-4E49-B73B9CB47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2204500"/>
            <a:ext cx="9776680" cy="372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11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数据卷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542023"/>
            <a:ext cx="10698800" cy="908346"/>
          </a:xfrm>
        </p:spPr>
        <p:txBody>
          <a:bodyPr/>
          <a:lstStyle/>
          <a:p>
            <a:r>
              <a:rPr lang="zh-CN" altLang="en-US" dirty="0"/>
              <a:t>容器与数据耦合的问题</a:t>
            </a:r>
            <a:endParaRPr lang="en-US" altLang="zh-CN" dirty="0"/>
          </a:p>
        </p:txBody>
      </p:sp>
      <p:grpSp>
        <p:nvGrpSpPr>
          <p:cNvPr id="67" name="组合 66"/>
          <p:cNvGrpSpPr/>
          <p:nvPr/>
        </p:nvGrpSpPr>
        <p:grpSpPr>
          <a:xfrm>
            <a:off x="1640910" y="2444536"/>
            <a:ext cx="2296498" cy="2741239"/>
            <a:chOff x="1640910" y="2444536"/>
            <a:chExt cx="2296498" cy="2741239"/>
          </a:xfrm>
        </p:grpSpPr>
        <p:grpSp>
          <p:nvGrpSpPr>
            <p:cNvPr id="44" name="组合 43"/>
            <p:cNvGrpSpPr/>
            <p:nvPr/>
          </p:nvGrpSpPr>
          <p:grpSpPr>
            <a:xfrm>
              <a:off x="1640910" y="2450369"/>
              <a:ext cx="2296498" cy="2735406"/>
              <a:chOff x="1640910" y="2450369"/>
              <a:chExt cx="2296498" cy="2735406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3569765" y="3963820"/>
                <a:ext cx="367643" cy="1077544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  <a:effectLst>
                <a:outerShdw blurRad="127000" dist="88900" algn="l" rotWithShape="0">
                  <a:srgbClr val="0070C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793631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0070C0"/>
                    </a:solidFill>
                  </a:rPr>
                  <a:t>不便于修改</a:t>
                </a:r>
                <a:endParaRPr lang="zh-CN" altLang="en-US" sz="1600" dirty="0">
                  <a:solidFill>
                    <a:srgbClr val="0070C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798000" y="4003203"/>
                <a:ext cx="1946031" cy="646331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当我们要修改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Nginx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的</a:t>
                </a:r>
                <a:r>
                  <a:rPr lang="en-US" altLang="zh-CN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html</a:t>
                </a: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内容时，需要进入容器内部修改，很不方便。</a:t>
                </a:r>
              </a:p>
            </p:txBody>
          </p:sp>
        </p:grpSp>
        <p:sp>
          <p:nvSpPr>
            <p:cNvPr id="64" name="任意多边形: 形状 63"/>
            <p:cNvSpPr/>
            <p:nvPr/>
          </p:nvSpPr>
          <p:spPr>
            <a:xfrm>
              <a:off x="1640910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01</a:t>
              </a:r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032414" y="2444536"/>
            <a:ext cx="2306658" cy="2741239"/>
            <a:chOff x="5022285" y="2444536"/>
            <a:chExt cx="2306658" cy="2741239"/>
          </a:xfrm>
        </p:grpSpPr>
        <p:grpSp>
          <p:nvGrpSpPr>
            <p:cNvPr id="45" name="组合 44"/>
            <p:cNvGrpSpPr/>
            <p:nvPr/>
          </p:nvGrpSpPr>
          <p:grpSpPr>
            <a:xfrm>
              <a:off x="5022285" y="2450369"/>
              <a:ext cx="2306658" cy="2735406"/>
              <a:chOff x="1640910" y="2450369"/>
              <a:chExt cx="2306658" cy="2735406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rgbClr val="AD2B26"/>
              </a:solidFill>
              <a:ln>
                <a:noFill/>
              </a:ln>
              <a:effectLst>
                <a:outerShdw blurRad="127000" dist="88900" algn="l" rotWithShape="0">
                  <a:srgbClr val="AD2B26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768608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rgbClr val="AD2B26"/>
                    </a:solidFill>
                    <a:latin typeface="+mn-lt"/>
                    <a:ea typeface="+mn-ea"/>
                  </a:rPr>
                  <a:t>数据不</a:t>
                </a:r>
                <a:r>
                  <a:rPr lang="zh-CN" altLang="en-US" sz="1600">
                    <a:solidFill>
                      <a:srgbClr val="AD2B26"/>
                    </a:solidFill>
                  </a:rPr>
                  <a:t>可复用</a:t>
                </a:r>
                <a:endParaRPr lang="zh-CN" altLang="en-US" sz="1600" dirty="0">
                  <a:solidFill>
                    <a:srgbClr val="AD2B26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791192" y="3938954"/>
                <a:ext cx="1946031" cy="897425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在容器内的修改对外是不可见的。所有修改对新创建的容器是不可复用的。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5" name="任意多边形: 形状 64"/>
            <p:cNvSpPr/>
            <p:nvPr/>
          </p:nvSpPr>
          <p:spPr>
            <a:xfrm>
              <a:off x="5022285" y="2444536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02</a:t>
              </a:r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434078" y="2445970"/>
            <a:ext cx="2306658" cy="2738370"/>
            <a:chOff x="8434078" y="2447405"/>
            <a:chExt cx="2306658" cy="2738370"/>
          </a:xfrm>
        </p:grpSpPr>
        <p:grpSp>
          <p:nvGrpSpPr>
            <p:cNvPr id="51" name="组合 50"/>
            <p:cNvGrpSpPr/>
            <p:nvPr/>
          </p:nvGrpSpPr>
          <p:grpSpPr>
            <a:xfrm>
              <a:off x="8434078" y="2450369"/>
              <a:ext cx="2306658" cy="2735406"/>
              <a:chOff x="1640910" y="2450369"/>
              <a:chExt cx="2306658" cy="2735406"/>
            </a:xfrm>
          </p:grpSpPr>
          <p:sp>
            <p:nvSpPr>
              <p:cNvPr id="52" name="矩形: 圆角 51"/>
              <p:cNvSpPr/>
              <p:nvPr/>
            </p:nvSpPr>
            <p:spPr>
              <a:xfrm>
                <a:off x="3579925" y="3963820"/>
                <a:ext cx="367643" cy="1077544"/>
              </a:xfrm>
              <a:prstGeom prst="round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>
                <a:outerShdw blurRad="127000" dist="88900" algn="l" rotWithShape="0">
                  <a:schemeClr val="accent3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640910" y="2450369"/>
                <a:ext cx="2204580" cy="2735406"/>
              </a:xfrm>
              <a:prstGeom prst="roundRect">
                <a:avLst>
                  <a:gd name="adj" fmla="val 7576"/>
                </a:avLst>
              </a:prstGeom>
              <a:solidFill>
                <a:schemeClr val="bg1"/>
              </a:solidFill>
              <a:ln w="3175">
                <a:noFill/>
              </a:ln>
              <a:effectLst>
                <a:outerShdw blurRad="165100" dist="127000" dir="20400000" algn="bl" rotWithShape="0">
                  <a:schemeClr val="tx1">
                    <a:alpha val="2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793631" y="3625266"/>
                <a:ext cx="1676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solidFill>
                      <a:schemeClr val="accent3">
                        <a:lumMod val="50000"/>
                      </a:schemeClr>
                    </a:solidFill>
                    <a:latin typeface="+mn-lt"/>
                    <a:ea typeface="+mn-ea"/>
                  </a:rPr>
                  <a:t>升级维护困难</a:t>
                </a:r>
                <a:endParaRPr lang="zh-CN" altLang="en-US" sz="16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793631" y="4003203"/>
                <a:ext cx="1946031" cy="897425"/>
              </a:xfrm>
              <a:prstGeom prst="rect">
                <a:avLst/>
              </a:prstGeom>
              <a:noFill/>
            </p:spPr>
            <p:txBody>
              <a:bodyPr wrap="square" lIns="73440" tIns="45720" rIns="73440" bIns="45720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200">
                    <a:solidFill>
                      <a:srgbClr val="404040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Arial" panose="020B0604020202020204" pitchFamily="34" charset="0"/>
                  </a:rPr>
                  <a:t>数据在容器内，如果要升级容器必然删除旧容器，所有数据都跟着删除了</a:t>
                </a:r>
                <a:endParaRPr lang="zh-CN" altLang="en-US" sz="1200" dirty="0">
                  <a:solidFill>
                    <a:srgbClr val="40404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6" name="任意多边形: 形状 65"/>
            <p:cNvSpPr/>
            <p:nvPr/>
          </p:nvSpPr>
          <p:spPr>
            <a:xfrm>
              <a:off x="8434078" y="2447405"/>
              <a:ext cx="540092" cy="565569"/>
            </a:xfrm>
            <a:custGeom>
              <a:avLst/>
              <a:gdLst>
                <a:gd name="connsiteX0" fmla="*/ 164241 w 540092"/>
                <a:gd name="connsiteY0" fmla="*/ 0 h 565569"/>
                <a:gd name="connsiteX1" fmla="*/ 540092 w 540092"/>
                <a:gd name="connsiteY1" fmla="*/ 0 h 565569"/>
                <a:gd name="connsiteX2" fmla="*/ 540092 w 540092"/>
                <a:gd name="connsiteY2" fmla="*/ 401328 h 565569"/>
                <a:gd name="connsiteX3" fmla="*/ 375851 w 540092"/>
                <a:gd name="connsiteY3" fmla="*/ 565569 h 565569"/>
                <a:gd name="connsiteX4" fmla="*/ 0 w 540092"/>
                <a:gd name="connsiteY4" fmla="*/ 565569 h 565569"/>
                <a:gd name="connsiteX5" fmla="*/ 0 w 540092"/>
                <a:gd name="connsiteY5" fmla="*/ 164241 h 565569"/>
                <a:gd name="connsiteX6" fmla="*/ 164241 w 540092"/>
                <a:gd name="connsiteY6" fmla="*/ 0 h 565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092" h="565569">
                  <a:moveTo>
                    <a:pt x="164241" y="0"/>
                  </a:moveTo>
                  <a:lnTo>
                    <a:pt x="540092" y="0"/>
                  </a:lnTo>
                  <a:lnTo>
                    <a:pt x="540092" y="401328"/>
                  </a:lnTo>
                  <a:cubicBezTo>
                    <a:pt x="540092" y="492036"/>
                    <a:pt x="466559" y="565569"/>
                    <a:pt x="375851" y="565569"/>
                  </a:cubicBezTo>
                  <a:lnTo>
                    <a:pt x="0" y="565569"/>
                  </a:lnTo>
                  <a:lnTo>
                    <a:pt x="0" y="164241"/>
                  </a:lnTo>
                  <a:cubicBezTo>
                    <a:pt x="0" y="73533"/>
                    <a:pt x="73533" y="0"/>
                    <a:pt x="164241" y="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/>
                <a:t>03</a:t>
              </a:r>
              <a:endParaRPr lang="zh-CN" altLang="en-US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数据卷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856724" cy="917692"/>
          </a:xfrm>
        </p:spPr>
        <p:txBody>
          <a:bodyPr/>
          <a:lstStyle/>
          <a:p>
            <a:r>
              <a:rPr lang="zh-CN" altLang="en-US" b="1"/>
              <a:t>数据卷（</a:t>
            </a:r>
            <a:r>
              <a:rPr lang="en-US" altLang="zh-CN" b="1"/>
              <a:t>volume</a:t>
            </a:r>
            <a:r>
              <a:rPr lang="zh-CN" altLang="en-US" b="1"/>
              <a:t>）</a:t>
            </a:r>
            <a:r>
              <a:rPr lang="zh-CN" altLang="en-US"/>
              <a:t>是一个虚拟目录，指向宿主机文件系统中的某个目录。</a:t>
            </a:r>
            <a:endParaRPr lang="en-US" altLang="zh-CN"/>
          </a:p>
        </p:txBody>
      </p:sp>
      <p:grpSp>
        <p:nvGrpSpPr>
          <p:cNvPr id="56" name="组合 55"/>
          <p:cNvGrpSpPr/>
          <p:nvPr/>
        </p:nvGrpSpPr>
        <p:grpSpPr>
          <a:xfrm>
            <a:off x="2037260" y="2964160"/>
            <a:ext cx="4898123" cy="3331295"/>
            <a:chOff x="893618" y="3131850"/>
            <a:chExt cx="4898123" cy="3331295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62" name="矩形 61"/>
            <p:cNvSpPr/>
            <p:nvPr/>
          </p:nvSpPr>
          <p:spPr>
            <a:xfrm>
              <a:off x="893618" y="3262745"/>
              <a:ext cx="4898123" cy="32004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/>
            <p:cNvSpPr/>
            <p:nvPr/>
          </p:nvSpPr>
          <p:spPr>
            <a:xfrm>
              <a:off x="893618" y="3131850"/>
              <a:ext cx="1465117" cy="29715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DockerHost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232691" y="4470669"/>
            <a:ext cx="4552913" cy="1714959"/>
            <a:chOff x="893617" y="3106879"/>
            <a:chExt cx="4552913" cy="1601030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70" name="矩形 69"/>
            <p:cNvSpPr/>
            <p:nvPr/>
          </p:nvSpPr>
          <p:spPr>
            <a:xfrm>
              <a:off x="893618" y="3249386"/>
              <a:ext cx="4552912" cy="145852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/>
            <p:cNvSpPr/>
            <p:nvPr/>
          </p:nvSpPr>
          <p:spPr>
            <a:xfrm>
              <a:off x="893617" y="3106879"/>
              <a:ext cx="1526493" cy="32664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宿主机文件系统</a:t>
              </a: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219709" y="3431347"/>
            <a:ext cx="4552912" cy="833162"/>
            <a:chOff x="893618" y="3106880"/>
            <a:chExt cx="4552912" cy="877637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73" name="矩形 72"/>
            <p:cNvSpPr/>
            <p:nvPr/>
          </p:nvSpPr>
          <p:spPr>
            <a:xfrm>
              <a:off x="893618" y="3262744"/>
              <a:ext cx="4552912" cy="721773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893618" y="3106880"/>
              <a:ext cx="1081486" cy="322120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Volumes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804553" y="3712747"/>
            <a:ext cx="701458" cy="481752"/>
            <a:chOff x="7058486" y="3634771"/>
            <a:chExt cx="702079" cy="508664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13" name="文本框 12"/>
            <p:cNvSpPr txBox="1"/>
            <p:nvPr/>
          </p:nvSpPr>
          <p:spPr>
            <a:xfrm>
              <a:off x="7058486" y="3773279"/>
              <a:ext cx="607160" cy="324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2">
                      <a:lumMod val="60000"/>
                      <a:lumOff val="40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html</a:t>
              </a:r>
              <a:endPara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sp>
        <p:nvSpPr>
          <p:cNvPr id="21" name="矩形: 圆角 20"/>
          <p:cNvSpPr/>
          <p:nvPr/>
        </p:nvSpPr>
        <p:spPr>
          <a:xfrm>
            <a:off x="2727779" y="4880802"/>
            <a:ext cx="573416" cy="19411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/var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2723722" y="5710740"/>
            <a:ext cx="705278" cy="17691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/root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3363982" y="5051203"/>
            <a:ext cx="595795" cy="1808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/lib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3989775" y="5232004"/>
            <a:ext cx="846265" cy="175005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/docker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883626" y="5407009"/>
            <a:ext cx="937989" cy="17626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/volumes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2505623" y="4810211"/>
            <a:ext cx="0" cy="125294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21" idx="1"/>
          </p:cNvCxnSpPr>
          <p:nvPr/>
        </p:nvCxnSpPr>
        <p:spPr>
          <a:xfrm flipV="1">
            <a:off x="2505623" y="4977861"/>
            <a:ext cx="222156" cy="973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76" idx="1"/>
          </p:cNvCxnSpPr>
          <p:nvPr/>
        </p:nvCxnSpPr>
        <p:spPr>
          <a:xfrm flipH="1">
            <a:off x="2503596" y="5799199"/>
            <a:ext cx="220126" cy="9598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连接符: 肘形 51"/>
          <p:cNvCxnSpPr>
            <a:stCxn id="77" idx="1"/>
            <a:endCxn id="21" idx="2"/>
          </p:cNvCxnSpPr>
          <p:nvPr/>
        </p:nvCxnSpPr>
        <p:spPr>
          <a:xfrm rot="10800000">
            <a:off x="3014488" y="5074920"/>
            <a:ext cx="349495" cy="66684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连接符: 肘形 53"/>
          <p:cNvCxnSpPr>
            <a:stCxn id="78" idx="1"/>
            <a:endCxn id="77" idx="2"/>
          </p:cNvCxnSpPr>
          <p:nvPr/>
        </p:nvCxnSpPr>
        <p:spPr>
          <a:xfrm rot="10800000">
            <a:off x="3661881" y="5232005"/>
            <a:ext cx="327895" cy="87503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0" name="连接符: 肘形 79"/>
          <p:cNvCxnSpPr>
            <a:stCxn id="79" idx="1"/>
            <a:endCxn id="78" idx="2"/>
          </p:cNvCxnSpPr>
          <p:nvPr/>
        </p:nvCxnSpPr>
        <p:spPr>
          <a:xfrm rot="10800000">
            <a:off x="4412908" y="5407010"/>
            <a:ext cx="470718" cy="88135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6" name="矩形: 圆角 85"/>
          <p:cNvSpPr/>
          <p:nvPr/>
        </p:nvSpPr>
        <p:spPr>
          <a:xfrm>
            <a:off x="5920458" y="5596917"/>
            <a:ext cx="684490" cy="219455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/html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8" name="连接符: 肘形 87"/>
          <p:cNvCxnSpPr>
            <a:stCxn id="86" idx="1"/>
            <a:endCxn id="79" idx="2"/>
          </p:cNvCxnSpPr>
          <p:nvPr/>
        </p:nvCxnSpPr>
        <p:spPr>
          <a:xfrm rot="10800000">
            <a:off x="5352622" y="5583279"/>
            <a:ext cx="567837" cy="123367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0" name="矩形: 圆角 89"/>
          <p:cNvSpPr/>
          <p:nvPr/>
        </p:nvSpPr>
        <p:spPr>
          <a:xfrm>
            <a:off x="5920458" y="5887657"/>
            <a:ext cx="684490" cy="191012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/conf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92" name="连接符: 肘形 91"/>
          <p:cNvCxnSpPr>
            <a:stCxn id="90" idx="1"/>
            <a:endCxn id="79" idx="2"/>
          </p:cNvCxnSpPr>
          <p:nvPr/>
        </p:nvCxnSpPr>
        <p:spPr>
          <a:xfrm rot="10800000">
            <a:off x="5352622" y="5583279"/>
            <a:ext cx="567837" cy="399885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>
            <a:off x="4694133" y="3712747"/>
            <a:ext cx="701458" cy="481752"/>
            <a:chOff x="7058486" y="3634771"/>
            <a:chExt cx="702079" cy="508664"/>
          </a:xfrm>
        </p:grpSpPr>
        <p:pic>
          <p:nvPicPr>
            <p:cNvPr id="94" name="图片 93"/>
            <p:cNvPicPr>
              <a:picLocks noChangeAspect="1"/>
            </p:cNvPicPr>
            <p:nvPr/>
          </p:nvPicPr>
          <p:blipFill>
            <a:blip r:embed="rId2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95" name="文本框 94"/>
            <p:cNvSpPr txBox="1"/>
            <p:nvPr/>
          </p:nvSpPr>
          <p:spPr>
            <a:xfrm>
              <a:off x="7058486" y="3773279"/>
              <a:ext cx="607160" cy="324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2">
                      <a:lumMod val="60000"/>
                      <a:lumOff val="40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conf</a:t>
              </a:r>
              <a:endPara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8173643" y="2337286"/>
            <a:ext cx="2372437" cy="1710288"/>
            <a:chOff x="893618" y="3106879"/>
            <a:chExt cx="1981096" cy="1958431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97" name="矩形 96"/>
            <p:cNvSpPr/>
            <p:nvPr/>
          </p:nvSpPr>
          <p:spPr>
            <a:xfrm>
              <a:off x="893618" y="3262744"/>
              <a:ext cx="1981096" cy="18025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98" name="矩形: 圆角 97"/>
            <p:cNvSpPr/>
            <p:nvPr/>
          </p:nvSpPr>
          <p:spPr>
            <a:xfrm>
              <a:off x="893618" y="3106879"/>
              <a:ext cx="1081486" cy="32212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8269253" y="3426592"/>
            <a:ext cx="2170145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/usr/share/nginx/html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279300" y="2810634"/>
            <a:ext cx="1687660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/etc/nginx/conf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4" name="直接箭头连接符 113"/>
          <p:cNvCxnSpPr>
            <a:stCxn id="100" idx="1"/>
            <a:endCxn id="13" idx="3"/>
          </p:cNvCxnSpPr>
          <p:nvPr/>
        </p:nvCxnSpPr>
        <p:spPr>
          <a:xfrm flipH="1">
            <a:off x="6411176" y="3565092"/>
            <a:ext cx="1858077" cy="432724"/>
          </a:xfrm>
          <a:prstGeom prst="straightConnector1">
            <a:avLst/>
          </a:prstGeom>
          <a:ln w="19050">
            <a:prstDash val="lgDashDot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105" idx="1"/>
            <a:endCxn id="94" idx="13"/>
          </p:cNvCxnSpPr>
          <p:nvPr/>
        </p:nvCxnSpPr>
        <p:spPr>
          <a:xfrm flipH="1">
            <a:off x="5393332" y="2949134"/>
            <a:ext cx="2885968" cy="849258"/>
          </a:xfrm>
          <a:prstGeom prst="straightConnector1">
            <a:avLst/>
          </a:prstGeom>
          <a:ln w="19050">
            <a:prstDash val="lgDashDot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stCxn id="13" idx="2"/>
            <a:endCxn id="86" idx="0"/>
          </p:cNvCxnSpPr>
          <p:nvPr/>
        </p:nvCxnSpPr>
        <p:spPr>
          <a:xfrm>
            <a:off x="6107865" y="4151704"/>
            <a:ext cx="154838" cy="1445213"/>
          </a:xfrm>
          <a:prstGeom prst="straightConnector1">
            <a:avLst/>
          </a:prstGeom>
          <a:ln>
            <a:solidFill>
              <a:srgbClr val="49504F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95" idx="2"/>
            <a:endCxn id="90" idx="0"/>
          </p:cNvCxnSpPr>
          <p:nvPr/>
        </p:nvCxnSpPr>
        <p:spPr>
          <a:xfrm>
            <a:off x="4997445" y="4151704"/>
            <a:ext cx="1265258" cy="1735953"/>
          </a:xfrm>
          <a:prstGeom prst="straightConnector1">
            <a:avLst/>
          </a:prstGeom>
          <a:ln w="6350">
            <a:solidFill>
              <a:srgbClr val="49504F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110" idx="1"/>
            <a:endCxn id="94" idx="19"/>
          </p:cNvCxnSpPr>
          <p:nvPr/>
        </p:nvCxnSpPr>
        <p:spPr>
          <a:xfrm flipH="1" flipV="1">
            <a:off x="5298466" y="4194499"/>
            <a:ext cx="2975604" cy="867416"/>
          </a:xfrm>
          <a:prstGeom prst="straightConnector1">
            <a:avLst/>
          </a:prstGeom>
          <a:ln w="19050">
            <a:prstDash val="lgDashDot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06" name="组合 105"/>
          <p:cNvGrpSpPr/>
          <p:nvPr/>
        </p:nvGrpSpPr>
        <p:grpSpPr>
          <a:xfrm>
            <a:off x="8168414" y="4450067"/>
            <a:ext cx="2377666" cy="1710288"/>
            <a:chOff x="893618" y="3106879"/>
            <a:chExt cx="1981096" cy="1958431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07" name="矩形 106"/>
            <p:cNvSpPr/>
            <p:nvPr/>
          </p:nvSpPr>
          <p:spPr>
            <a:xfrm>
              <a:off x="893618" y="3262744"/>
              <a:ext cx="1981096" cy="18025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108" name="矩形: 圆角 107"/>
            <p:cNvSpPr/>
            <p:nvPr/>
          </p:nvSpPr>
          <p:spPr>
            <a:xfrm>
              <a:off x="893618" y="3106879"/>
              <a:ext cx="1081486" cy="32212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8264024" y="5539374"/>
            <a:ext cx="2175375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/usr/share/nginx/html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274070" y="4923415"/>
            <a:ext cx="1621497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/etc/nginx/conf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6" grpId="0" animBg="1"/>
      <p:bldP spid="77" grpId="0" animBg="1"/>
      <p:bldP spid="78" grpId="0" animBg="1"/>
      <p:bldP spid="79" grpId="0" animBg="1"/>
      <p:bldP spid="86" grpId="0" animBg="1"/>
      <p:bldP spid="90" grpId="0" animBg="1"/>
      <p:bldP spid="100" grpId="0" animBg="1"/>
      <p:bldP spid="105" grpId="0" animBg="1"/>
      <p:bldP spid="109" grpId="0" animBg="1"/>
      <p:bldP spid="1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操作数据卷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1"/>
            <a:ext cx="10698800" cy="3165382"/>
          </a:xfrm>
        </p:spPr>
        <p:txBody>
          <a:bodyPr/>
          <a:lstStyle/>
          <a:p>
            <a:r>
              <a:rPr lang="zh-CN" altLang="en-US" dirty="0"/>
              <a:t>数据卷操作的基本语法如下：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docker volume</a:t>
            </a:r>
            <a:r>
              <a:rPr lang="zh-CN" altLang="en-US" dirty="0"/>
              <a:t>命令是数据卷操作，根据命令后跟随的</a:t>
            </a:r>
            <a:r>
              <a:rPr lang="en-US" altLang="zh-CN" dirty="0"/>
              <a:t>command</a:t>
            </a:r>
            <a:r>
              <a:rPr lang="zh-CN" altLang="en-US" dirty="0"/>
              <a:t>来确定下一步的操作：</a:t>
            </a:r>
            <a:endParaRPr lang="en-US" altLang="zh-CN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AD2B26"/>
                </a:solidFill>
              </a:rPr>
              <a:t> create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创建一个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AD2B26"/>
                </a:solidFill>
              </a:rPr>
              <a:t> inspect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显示一个或多个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的信息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AD2B26"/>
                </a:solidFill>
              </a:rPr>
              <a:t> ls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列出所有的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AD2B26"/>
                </a:solidFill>
              </a:rPr>
              <a:t> prune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删除未使用的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AD2B26"/>
                </a:solidFill>
              </a:rPr>
              <a:t> rm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删除一个或多个指定的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10808" y="2109355"/>
            <a:ext cx="9270464" cy="411356"/>
          </a:xfrm>
          <a:prstGeom prst="rect">
            <a:avLst/>
          </a:prstGeom>
          <a:solidFill>
            <a:srgbClr val="F0F7EB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10808" y="2161144"/>
            <a:ext cx="7045962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volume </a:t>
            </a:r>
            <a:r>
              <a:rPr lang="en-US" altLang="zh-CN" sz="140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COMMAND]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创建一个数据卷，并查看数据卷在宿主机的目录位置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9214230" cy="3871963"/>
          </a:xfrm>
        </p:spPr>
        <p:txBody>
          <a:bodyPr/>
          <a:lstStyle/>
          <a:p>
            <a:pPr marL="342900" indent="-342900">
              <a:buFont typeface="+mj-ea"/>
              <a:buAutoNum type="circleNumDbPlain"/>
            </a:pPr>
            <a:r>
              <a:rPr lang="zh-CN" altLang="en-US"/>
              <a:t>创建数据卷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查看所有数据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查看数据卷详细信息卷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75607" y="2101616"/>
            <a:ext cx="8032173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volume create html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75607" y="2938746"/>
            <a:ext cx="8032173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Alibaba PuHuiTi R"/>
                <a:cs typeface="阿里巴巴普惠体" panose="00020600040101010101" pitchFamily="18" charset="-122"/>
              </a:rPr>
              <a:t>docker volume ls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R"/>
              <a:cs typeface="阿里巴巴普惠体" panose="00020600040101010101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607" y="3369173"/>
            <a:ext cx="6934801" cy="78492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75607" y="4654089"/>
            <a:ext cx="8032173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volume inspect html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608" y="5092458"/>
            <a:ext cx="4229102" cy="153272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数据卷的作用：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将容器与数据分离，解耦合，方便操作容器内数据，保证数据安全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数据卷操作：</a:t>
            </a:r>
            <a:endParaRPr lang="en-US" altLang="zh-C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docker volume create 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创建一个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endParaRPr lang="en-US" altLang="zh-CN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docker volume ls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列出所有的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endParaRPr lang="en-US" altLang="zh-CN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docker volume inspect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显示一个或多个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的信息</a:t>
            </a:r>
            <a:endParaRPr lang="en-US" altLang="zh-CN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docker volume rm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删除一个或多个指定的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endParaRPr lang="en-US" altLang="zh-CN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docker volume prune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删除未使用的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挂载数据卷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我们在创建容器时，可以通过 </a:t>
            </a:r>
            <a:r>
              <a:rPr lang="en-US" altLang="zh-CN">
                <a:solidFill>
                  <a:srgbClr val="B70006"/>
                </a:solidFill>
              </a:rPr>
              <a:t>-v</a:t>
            </a:r>
            <a:r>
              <a:rPr lang="en-US" altLang="zh-CN"/>
              <a:t> </a:t>
            </a:r>
            <a:r>
              <a:rPr lang="zh-CN" altLang="en-US"/>
              <a:t>参数来挂载一个数据卷到某个容器目录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3468545" y="2840020"/>
            <a:ext cx="6995099" cy="1904432"/>
          </a:xfrm>
          <a:prstGeom prst="rect">
            <a:avLst/>
          </a:prstGeom>
          <a:solidFill>
            <a:srgbClr val="F0F7EB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 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：就是创建并运行容器</a:t>
            </a:r>
            <a:endParaRPr kumimoji="1" lang="en-US" altLang="zh-CN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 name </a:t>
            </a:r>
            <a:r>
              <a:rPr kumimoji="1"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mn</a:t>
            </a:r>
            <a:r>
              <a:rPr kumimoji="1"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：给容器起个名字叫</a:t>
            </a:r>
            <a:r>
              <a:rPr kumimoji="1" lang="en-US" altLang="zh-CN" sz="1400" dirty="0" err="1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mn</a:t>
            </a:r>
            <a:endParaRPr kumimoji="1" lang="en-US" altLang="zh-CN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-v html:/root/html 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：把</a:t>
            </a:r>
            <a:r>
              <a:rPr kumimoji="1" lang="en-US" altLang="zh-CN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html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数据卷挂载到容器内的</a:t>
            </a:r>
            <a:r>
              <a:rPr kumimoji="1" lang="en-US" altLang="zh-CN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/root/html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这个目录中</a:t>
            </a:r>
            <a:endParaRPr kumimoji="1" lang="en-US" altLang="zh-CN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-p 8080:80 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：把宿主机的</a:t>
            </a:r>
            <a:r>
              <a:rPr kumimoji="1" lang="en-US" altLang="zh-CN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8080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端口映射到容器内的</a:t>
            </a:r>
            <a:r>
              <a:rPr kumimoji="1" lang="en-US" altLang="zh-CN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80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端口</a:t>
            </a:r>
            <a:endParaRPr kumimoji="1" lang="en-US" altLang="zh-CN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</a:t>
            </a:r>
            <a:r>
              <a:rPr kumimoji="1" lang="en-US" altLang="zh-CN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1"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：镜像名称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10880" y="2327564"/>
            <a:ext cx="10402168" cy="2874436"/>
            <a:chOff x="710880" y="2327564"/>
            <a:chExt cx="10402168" cy="2874436"/>
          </a:xfrm>
        </p:grpSpPr>
        <p:sp>
          <p:nvSpPr>
            <p:cNvPr id="6" name="三角形 5"/>
            <p:cNvSpPr/>
            <p:nvPr/>
          </p:nvSpPr>
          <p:spPr>
            <a:xfrm rot="2651319">
              <a:off x="717495" y="2683436"/>
              <a:ext cx="145648" cy="7810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810808" y="2327564"/>
              <a:ext cx="10302240" cy="2874436"/>
            </a:xfrm>
            <a:prstGeom prst="rect">
              <a:avLst/>
            </a:prstGeom>
            <a:noFill/>
            <a:ln w="9525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0880" y="2400035"/>
              <a:ext cx="1053296" cy="300942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举例说明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078953" y="2840020"/>
            <a:ext cx="2121448" cy="167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 \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--name mn \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-v html:/root/html \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-p 8080:80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nginx 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195450" y="1016159"/>
            <a:ext cx="9214230" cy="517191"/>
          </a:xfrm>
        </p:spPr>
        <p:txBody>
          <a:bodyPr/>
          <a:lstStyle/>
          <a:p>
            <a:r>
              <a:rPr lang="zh-CN" altLang="en-US"/>
              <a:t>创建一个</a:t>
            </a:r>
            <a:r>
              <a:rPr lang="en-US" altLang="zh-CN"/>
              <a:t>nginx</a:t>
            </a:r>
            <a:r>
              <a:rPr lang="zh-CN" altLang="en-US"/>
              <a:t>容器，修改容器内的</a:t>
            </a:r>
            <a:r>
              <a:rPr lang="en-US" altLang="zh-CN"/>
              <a:t>html</a:t>
            </a:r>
            <a:r>
              <a:rPr lang="zh-CN" altLang="en-US"/>
              <a:t>目录内的</a:t>
            </a:r>
            <a:r>
              <a:rPr lang="en-US" altLang="zh-CN"/>
              <a:t>index.html</a:t>
            </a:r>
            <a:r>
              <a:rPr lang="zh-CN" altLang="en-US"/>
              <a:t>内容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943100"/>
            <a:ext cx="9214230" cy="3932475"/>
          </a:xfrm>
        </p:spPr>
        <p:txBody>
          <a:bodyPr/>
          <a:lstStyle/>
          <a:p>
            <a:r>
              <a:rPr lang="zh-CN" altLang="en-US"/>
              <a:t>需求说明：上个案例中，我们进入</a:t>
            </a:r>
            <a:r>
              <a:rPr lang="en-US" altLang="zh-CN"/>
              <a:t>nginx</a:t>
            </a:r>
            <a:r>
              <a:rPr lang="zh-CN" altLang="en-US"/>
              <a:t>容器内部，已经知道</a:t>
            </a:r>
            <a:r>
              <a:rPr lang="en-US" altLang="zh-CN"/>
              <a:t>nginx</a:t>
            </a:r>
            <a:r>
              <a:rPr lang="zh-CN" altLang="en-US"/>
              <a:t>的</a:t>
            </a:r>
            <a:r>
              <a:rPr lang="en-US" altLang="zh-CN"/>
              <a:t>html</a:t>
            </a:r>
            <a:r>
              <a:rPr lang="zh-CN" altLang="en-US"/>
              <a:t>目录所在位置</a:t>
            </a:r>
            <a:r>
              <a:rPr lang="en-US" altLang="zh-CN"/>
              <a:t>/usr/share/nginx/html </a:t>
            </a:r>
            <a:r>
              <a:rPr lang="zh-CN" altLang="en-US"/>
              <a:t>，我们需要把这个目录挂载到</a:t>
            </a:r>
            <a:r>
              <a:rPr lang="en-US" altLang="zh-CN"/>
              <a:t>html</a:t>
            </a:r>
            <a:r>
              <a:rPr lang="zh-CN" altLang="en-US"/>
              <a:t>这个数据卷上，方便操作其中的内容。</a:t>
            </a:r>
            <a:endParaRPr lang="en-US" altLang="zh-CN"/>
          </a:p>
          <a:p>
            <a:r>
              <a:rPr lang="zh-CN" altLang="en-US" b="1"/>
              <a:t>提示</a:t>
            </a:r>
            <a:r>
              <a:rPr lang="zh-CN" altLang="en-US"/>
              <a:t>：运行容器时使用 </a:t>
            </a:r>
            <a:r>
              <a:rPr lang="en-US" altLang="zh-CN"/>
              <a:t>-v </a:t>
            </a:r>
            <a:r>
              <a:rPr lang="zh-CN" altLang="en-US"/>
              <a:t>参数挂载数据卷</a:t>
            </a:r>
            <a:endParaRPr lang="en-US" altLang="zh-CN"/>
          </a:p>
          <a:p>
            <a:r>
              <a:rPr lang="zh-CN" altLang="en-US"/>
              <a:t>步骤：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创建容器并挂载数据卷到容器内的</a:t>
            </a:r>
            <a:r>
              <a:rPr lang="en-US" altLang="zh-CN"/>
              <a:t>HTML</a:t>
            </a:r>
            <a:r>
              <a:rPr lang="zh-CN" altLang="en-US"/>
              <a:t>目录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进入</a:t>
            </a:r>
            <a:r>
              <a:rPr lang="en-US" altLang="zh-CN"/>
              <a:t>html</a:t>
            </a:r>
            <a:r>
              <a:rPr lang="zh-CN" altLang="en-US"/>
              <a:t>数据卷所在位置，并修改</a:t>
            </a:r>
            <a:r>
              <a:rPr lang="en-US" altLang="zh-CN"/>
              <a:t>HTML</a:t>
            </a:r>
            <a:r>
              <a:rPr lang="zh-CN" altLang="en-US"/>
              <a:t>内容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40956" y="4092201"/>
            <a:ext cx="8868722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run --name mn -v html:/usr/share/nginx/html -p 80:80 -d nginx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40956" y="4919594"/>
            <a:ext cx="8868722" cy="1629485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查看</a:t>
            </a: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html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数据卷的位置</a:t>
            </a:r>
            <a:endParaRPr lang="en-US" altLang="zh-CN" sz="1400" dirty="0">
              <a:solidFill>
                <a:srgbClr val="ACE18B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 volume inspect html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进入该目录</a:t>
            </a:r>
            <a:endParaRPr lang="en-US" altLang="zh-CN" sz="14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cd /var/lib/docker/volumes/html/_data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修改文件</a:t>
            </a:r>
            <a:endParaRPr lang="en-US" altLang="zh-CN" sz="14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vim index.html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195450" y="1016159"/>
            <a:ext cx="9214230" cy="517191"/>
          </a:xfrm>
        </p:spPr>
        <p:txBody>
          <a:bodyPr/>
          <a:lstStyle/>
          <a:p>
            <a:r>
              <a:rPr lang="zh-CN" altLang="en-US"/>
              <a:t>创建一个</a:t>
            </a:r>
            <a:r>
              <a:rPr lang="en-US" altLang="zh-CN"/>
              <a:t>nginx</a:t>
            </a:r>
            <a:r>
              <a:rPr lang="zh-CN" altLang="en-US"/>
              <a:t>容器，修改容器内的</a:t>
            </a:r>
            <a:r>
              <a:rPr lang="en-US" altLang="zh-CN"/>
              <a:t>html</a:t>
            </a:r>
            <a:r>
              <a:rPr lang="zh-CN" altLang="en-US"/>
              <a:t>目录内的</a:t>
            </a:r>
            <a:r>
              <a:rPr lang="en-US" altLang="zh-CN"/>
              <a:t>index.html</a:t>
            </a:r>
            <a:r>
              <a:rPr lang="zh-CN" altLang="en-US"/>
              <a:t>内容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943100"/>
            <a:ext cx="9214230" cy="3932475"/>
          </a:xfrm>
        </p:spPr>
        <p:txBody>
          <a:bodyPr/>
          <a:lstStyle/>
          <a:p>
            <a:r>
              <a:rPr lang="zh-CN" altLang="en-US" dirty="0"/>
              <a:t>③ 浏览器访问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3A16BB-618C-C8A4-13E5-29EF1D16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3" y="2469905"/>
            <a:ext cx="1023388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68675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数据卷挂载方式：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-v volumeName: /targetContainerPath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如果容器运行时</a:t>
            </a:r>
            <a:r>
              <a:rPr lang="en-US" altLang="zh-CN" sz="1600"/>
              <a:t>volume</a:t>
            </a:r>
            <a:r>
              <a:rPr lang="zh-CN" altLang="en-US" sz="1600"/>
              <a:t>不存在，会自动被创建出来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10880" y="844247"/>
            <a:ext cx="10698800" cy="517190"/>
          </a:xfrm>
        </p:spPr>
        <p:txBody>
          <a:bodyPr/>
          <a:lstStyle/>
          <a:p>
            <a:r>
              <a:rPr lang="zh-CN" altLang="en-US"/>
              <a:t>数据卷挂载的方式对比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173643" y="2015164"/>
            <a:ext cx="2590994" cy="1089306"/>
            <a:chOff x="893618" y="3106879"/>
            <a:chExt cx="1981096" cy="1247352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7" name="矩形 6"/>
            <p:cNvSpPr/>
            <p:nvPr/>
          </p:nvSpPr>
          <p:spPr>
            <a:xfrm>
              <a:off x="893618" y="3262744"/>
              <a:ext cx="1981096" cy="10914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893618" y="3106879"/>
              <a:ext cx="1081486" cy="32212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276455" y="2577375"/>
            <a:ext cx="2193424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/usr/share/nginx/html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168414" y="4295900"/>
            <a:ext cx="2596223" cy="1710288"/>
            <a:chOff x="893618" y="3106879"/>
            <a:chExt cx="1981096" cy="1958431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12" name="矩形 11"/>
            <p:cNvSpPr/>
            <p:nvPr/>
          </p:nvSpPr>
          <p:spPr>
            <a:xfrm>
              <a:off x="893618" y="3262744"/>
              <a:ext cx="1981096" cy="180256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893618" y="3106879"/>
              <a:ext cx="1081486" cy="32212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Container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8264024" y="5385206"/>
            <a:ext cx="2205855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/usr/share/nginx/html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74070" y="4769248"/>
            <a:ext cx="1624309" cy="2769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accent5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/etc/nginx/conf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239265" y="1835870"/>
            <a:ext cx="4898123" cy="4298793"/>
            <a:chOff x="893618" y="3131851"/>
            <a:chExt cx="4898123" cy="3588316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26" name="矩形 25"/>
            <p:cNvSpPr/>
            <p:nvPr/>
          </p:nvSpPr>
          <p:spPr>
            <a:xfrm>
              <a:off x="893618" y="3262745"/>
              <a:ext cx="4898123" cy="345742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893618" y="3131851"/>
              <a:ext cx="1465117" cy="229622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DockerHost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416034" y="3155760"/>
            <a:ext cx="4552913" cy="2698980"/>
            <a:chOff x="893617" y="3106880"/>
            <a:chExt cx="4552913" cy="2519680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29" name="矩形 28"/>
            <p:cNvSpPr/>
            <p:nvPr/>
          </p:nvSpPr>
          <p:spPr>
            <a:xfrm>
              <a:off x="893618" y="3249386"/>
              <a:ext cx="4552912" cy="237717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893617" y="3106880"/>
              <a:ext cx="1527275" cy="32212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宿主机文件系统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416035" y="2202625"/>
            <a:ext cx="4558591" cy="805415"/>
            <a:chOff x="887939" y="3001089"/>
            <a:chExt cx="4558591" cy="848409"/>
          </a:xfrm>
          <a:effectLst>
            <a:outerShdw blurRad="101600" dist="38100" dir="8100000" sx="104000" sy="104000" algn="tr" rotWithShape="0">
              <a:schemeClr val="accent5">
                <a:lumMod val="50000"/>
                <a:alpha val="15000"/>
              </a:schemeClr>
            </a:outerShdw>
          </a:effectLst>
        </p:grpSpPr>
        <p:sp>
          <p:nvSpPr>
            <p:cNvPr id="32" name="矩形 31"/>
            <p:cNvSpPr/>
            <p:nvPr/>
          </p:nvSpPr>
          <p:spPr>
            <a:xfrm>
              <a:off x="893618" y="3099083"/>
              <a:ext cx="4552912" cy="750415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70006"/>
                </a:solidFill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887939" y="3001089"/>
              <a:ext cx="1081486" cy="258796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Volumes</a:t>
              </a:r>
              <a:endPara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208829" y="2414300"/>
            <a:ext cx="673276" cy="464386"/>
            <a:chOff x="7075564" y="3634771"/>
            <a:chExt cx="690671" cy="508664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"/>
            <a:srcRect l="3927" t="11208" r="20357" b="12974"/>
            <a:stretch>
              <a:fillRect/>
            </a:stretch>
          </p:blipFill>
          <p:spPr>
            <a:xfrm>
              <a:off x="7075564" y="3634771"/>
              <a:ext cx="685001" cy="508664"/>
            </a:xfrm>
            <a:custGeom>
              <a:avLst/>
              <a:gdLst>
                <a:gd name="connsiteX0" fmla="*/ 83820 w 2308860"/>
                <a:gd name="connsiteY0" fmla="*/ 0 h 1714500"/>
                <a:gd name="connsiteX1" fmla="*/ 624840 w 2308860"/>
                <a:gd name="connsiteY1" fmla="*/ 22860 h 1714500"/>
                <a:gd name="connsiteX2" fmla="*/ 647700 w 2308860"/>
                <a:gd name="connsiteY2" fmla="*/ 22860 h 1714500"/>
                <a:gd name="connsiteX3" fmla="*/ 701040 w 2308860"/>
                <a:gd name="connsiteY3" fmla="*/ 45720 h 1714500"/>
                <a:gd name="connsiteX4" fmla="*/ 762000 w 2308860"/>
                <a:gd name="connsiteY4" fmla="*/ 83820 h 1714500"/>
                <a:gd name="connsiteX5" fmla="*/ 769620 w 2308860"/>
                <a:gd name="connsiteY5" fmla="*/ 106680 h 1714500"/>
                <a:gd name="connsiteX6" fmla="*/ 769620 w 2308860"/>
                <a:gd name="connsiteY6" fmla="*/ 121920 h 1714500"/>
                <a:gd name="connsiteX7" fmla="*/ 792480 w 2308860"/>
                <a:gd name="connsiteY7" fmla="*/ 129540 h 1714500"/>
                <a:gd name="connsiteX8" fmla="*/ 2072640 w 2308860"/>
                <a:gd name="connsiteY8" fmla="*/ 129540 h 1714500"/>
                <a:gd name="connsiteX9" fmla="*/ 2141220 w 2308860"/>
                <a:gd name="connsiteY9" fmla="*/ 129540 h 1714500"/>
                <a:gd name="connsiteX10" fmla="*/ 2186940 w 2308860"/>
                <a:gd name="connsiteY10" fmla="*/ 152400 h 1714500"/>
                <a:gd name="connsiteX11" fmla="*/ 2232660 w 2308860"/>
                <a:gd name="connsiteY11" fmla="*/ 198120 h 1714500"/>
                <a:gd name="connsiteX12" fmla="*/ 2278380 w 2308860"/>
                <a:gd name="connsiteY12" fmla="*/ 243840 h 1714500"/>
                <a:gd name="connsiteX13" fmla="*/ 2301240 w 2308860"/>
                <a:gd name="connsiteY13" fmla="*/ 304800 h 1714500"/>
                <a:gd name="connsiteX14" fmla="*/ 2308860 w 2308860"/>
                <a:gd name="connsiteY14" fmla="*/ 358140 h 1714500"/>
                <a:gd name="connsiteX15" fmla="*/ 2156460 w 2308860"/>
                <a:gd name="connsiteY15" fmla="*/ 1516380 h 1714500"/>
                <a:gd name="connsiteX16" fmla="*/ 2125980 w 2308860"/>
                <a:gd name="connsiteY16" fmla="*/ 1584960 h 1714500"/>
                <a:gd name="connsiteX17" fmla="*/ 2095500 w 2308860"/>
                <a:gd name="connsiteY17" fmla="*/ 1638300 h 1714500"/>
                <a:gd name="connsiteX18" fmla="*/ 2049780 w 2308860"/>
                <a:gd name="connsiteY18" fmla="*/ 1668780 h 1714500"/>
                <a:gd name="connsiteX19" fmla="*/ 1981200 w 2308860"/>
                <a:gd name="connsiteY19" fmla="*/ 1714500 h 1714500"/>
                <a:gd name="connsiteX20" fmla="*/ 266700 w 2308860"/>
                <a:gd name="connsiteY20" fmla="*/ 1706880 h 1714500"/>
                <a:gd name="connsiteX21" fmla="*/ 152400 w 2308860"/>
                <a:gd name="connsiteY21" fmla="*/ 1691640 h 1714500"/>
                <a:gd name="connsiteX22" fmla="*/ 99060 w 2308860"/>
                <a:gd name="connsiteY22" fmla="*/ 1676400 h 1714500"/>
                <a:gd name="connsiteX23" fmla="*/ 68580 w 2308860"/>
                <a:gd name="connsiteY23" fmla="*/ 1638300 h 1714500"/>
                <a:gd name="connsiteX24" fmla="*/ 38100 w 2308860"/>
                <a:gd name="connsiteY24" fmla="*/ 1577340 h 1714500"/>
                <a:gd name="connsiteX25" fmla="*/ 0 w 2308860"/>
                <a:gd name="connsiteY25" fmla="*/ 1508760 h 1714500"/>
                <a:gd name="connsiteX26" fmla="*/ 0 w 2308860"/>
                <a:gd name="connsiteY26" fmla="*/ 1524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08860" h="1714500">
                  <a:moveTo>
                    <a:pt x="83820" y="0"/>
                  </a:moveTo>
                  <a:lnTo>
                    <a:pt x="624840" y="22860"/>
                  </a:lnTo>
                  <a:lnTo>
                    <a:pt x="647700" y="22860"/>
                  </a:lnTo>
                  <a:lnTo>
                    <a:pt x="701040" y="45720"/>
                  </a:lnTo>
                  <a:lnTo>
                    <a:pt x="762000" y="83820"/>
                  </a:lnTo>
                  <a:lnTo>
                    <a:pt x="769620" y="106680"/>
                  </a:lnTo>
                  <a:lnTo>
                    <a:pt x="769620" y="121920"/>
                  </a:lnTo>
                  <a:lnTo>
                    <a:pt x="792480" y="129540"/>
                  </a:lnTo>
                  <a:lnTo>
                    <a:pt x="2072640" y="129540"/>
                  </a:lnTo>
                  <a:lnTo>
                    <a:pt x="2141220" y="129540"/>
                  </a:lnTo>
                  <a:lnTo>
                    <a:pt x="2186940" y="152400"/>
                  </a:lnTo>
                  <a:lnTo>
                    <a:pt x="2232660" y="198120"/>
                  </a:lnTo>
                  <a:lnTo>
                    <a:pt x="2278380" y="243840"/>
                  </a:lnTo>
                  <a:lnTo>
                    <a:pt x="2301240" y="304800"/>
                  </a:lnTo>
                  <a:lnTo>
                    <a:pt x="2308860" y="358140"/>
                  </a:lnTo>
                  <a:lnTo>
                    <a:pt x="2156460" y="1516380"/>
                  </a:lnTo>
                  <a:lnTo>
                    <a:pt x="2125980" y="1584960"/>
                  </a:lnTo>
                  <a:lnTo>
                    <a:pt x="2095500" y="1638300"/>
                  </a:lnTo>
                  <a:lnTo>
                    <a:pt x="2049780" y="1668780"/>
                  </a:lnTo>
                  <a:lnTo>
                    <a:pt x="1981200" y="1714500"/>
                  </a:lnTo>
                  <a:lnTo>
                    <a:pt x="266700" y="1706880"/>
                  </a:lnTo>
                  <a:lnTo>
                    <a:pt x="152400" y="1691640"/>
                  </a:lnTo>
                  <a:lnTo>
                    <a:pt x="99060" y="1676400"/>
                  </a:lnTo>
                  <a:lnTo>
                    <a:pt x="68580" y="1638300"/>
                  </a:lnTo>
                  <a:lnTo>
                    <a:pt x="38100" y="1577340"/>
                  </a:lnTo>
                  <a:lnTo>
                    <a:pt x="0" y="1508760"/>
                  </a:lnTo>
                  <a:lnTo>
                    <a:pt x="0" y="15240"/>
                  </a:lnTo>
                  <a:close/>
                </a:path>
              </a:pathLst>
            </a:custGeom>
          </p:spPr>
        </p:pic>
        <p:sp>
          <p:nvSpPr>
            <p:cNvPr id="36" name="文本框 35"/>
            <p:cNvSpPr txBox="1"/>
            <p:nvPr/>
          </p:nvSpPr>
          <p:spPr>
            <a:xfrm>
              <a:off x="7075564" y="3762922"/>
              <a:ext cx="690671" cy="337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2">
                      <a:lumMod val="60000"/>
                      <a:lumOff val="40000"/>
                    </a:schemeClr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html</a:t>
              </a:r>
              <a:endPara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</p:txBody>
        </p:sp>
      </p:grpSp>
      <p:sp>
        <p:nvSpPr>
          <p:cNvPr id="37" name="矩形: 圆角 36"/>
          <p:cNvSpPr/>
          <p:nvPr/>
        </p:nvSpPr>
        <p:spPr>
          <a:xfrm>
            <a:off x="1911121" y="3565894"/>
            <a:ext cx="582487" cy="18855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/var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07065" y="4489136"/>
            <a:ext cx="586544" cy="196115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/tmp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2547325" y="3736294"/>
            <a:ext cx="612303" cy="15629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/lib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173118" y="3917095"/>
            <a:ext cx="893851" cy="175005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/docker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4066969" y="4092100"/>
            <a:ext cx="977683" cy="20161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/volumes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1688966" y="3495302"/>
            <a:ext cx="0" cy="224029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7" idx="1"/>
          </p:cNvCxnSpPr>
          <p:nvPr/>
        </p:nvCxnSpPr>
        <p:spPr>
          <a:xfrm flipV="1">
            <a:off x="1688966" y="3660172"/>
            <a:ext cx="222155" cy="1251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38" idx="1"/>
          </p:cNvCxnSpPr>
          <p:nvPr/>
        </p:nvCxnSpPr>
        <p:spPr>
          <a:xfrm flipH="1" flipV="1">
            <a:off x="1686938" y="4587193"/>
            <a:ext cx="220127" cy="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连接符: 肘形 44"/>
          <p:cNvCxnSpPr>
            <a:stCxn id="39" idx="1"/>
            <a:endCxn id="37" idx="2"/>
          </p:cNvCxnSpPr>
          <p:nvPr/>
        </p:nvCxnSpPr>
        <p:spPr>
          <a:xfrm rot="10800000">
            <a:off x="2202365" y="3754451"/>
            <a:ext cx="344960" cy="59991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连接符: 肘形 45"/>
          <p:cNvCxnSpPr>
            <a:stCxn id="40" idx="1"/>
            <a:endCxn id="39" idx="2"/>
          </p:cNvCxnSpPr>
          <p:nvPr/>
        </p:nvCxnSpPr>
        <p:spPr>
          <a:xfrm rot="10800000">
            <a:off x="2853478" y="3892588"/>
            <a:ext cx="319641" cy="112011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7" name="连接符: 肘形 46"/>
          <p:cNvCxnSpPr>
            <a:stCxn id="41" idx="1"/>
            <a:endCxn id="40" idx="2"/>
          </p:cNvCxnSpPr>
          <p:nvPr/>
        </p:nvCxnSpPr>
        <p:spPr>
          <a:xfrm rot="10800000">
            <a:off x="3620045" y="4092101"/>
            <a:ext cx="446925" cy="100807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/>
        </p:nvSpPr>
        <p:spPr>
          <a:xfrm>
            <a:off x="5103801" y="4396309"/>
            <a:ext cx="680242" cy="22736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/html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9" name="连接符: 肘形 48"/>
          <p:cNvCxnSpPr>
            <a:stCxn id="48" idx="1"/>
            <a:endCxn id="41" idx="2"/>
          </p:cNvCxnSpPr>
          <p:nvPr/>
        </p:nvCxnSpPr>
        <p:spPr>
          <a:xfrm rot="10800000">
            <a:off x="4555811" y="4293713"/>
            <a:ext cx="547990" cy="216278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6" idx="2"/>
            <a:endCxn id="48" idx="0"/>
          </p:cNvCxnSpPr>
          <p:nvPr/>
        </p:nvCxnSpPr>
        <p:spPr>
          <a:xfrm flipH="1">
            <a:off x="5443922" y="2839073"/>
            <a:ext cx="101545" cy="15572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3" name="矩形: 圆角 62"/>
          <p:cNvSpPr/>
          <p:nvPr/>
        </p:nvSpPr>
        <p:spPr>
          <a:xfrm>
            <a:off x="1897994" y="5333603"/>
            <a:ext cx="586544" cy="196115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4" name="直接连接符 63"/>
          <p:cNvCxnSpPr>
            <a:stCxn id="63" idx="1"/>
          </p:cNvCxnSpPr>
          <p:nvPr/>
        </p:nvCxnSpPr>
        <p:spPr>
          <a:xfrm flipH="1" flipV="1">
            <a:off x="1677867" y="5431660"/>
            <a:ext cx="220127" cy="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5" name="矩形: 圆角 64"/>
          <p:cNvSpPr/>
          <p:nvPr/>
        </p:nvSpPr>
        <p:spPr>
          <a:xfrm>
            <a:off x="2548644" y="4646197"/>
            <a:ext cx="789334" cy="21358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/nginx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3482809" y="4994339"/>
            <a:ext cx="789334" cy="21358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/conf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7" name="连接符: 肘形 66"/>
          <p:cNvCxnSpPr>
            <a:stCxn id="65" idx="1"/>
            <a:endCxn id="38" idx="2"/>
          </p:cNvCxnSpPr>
          <p:nvPr/>
        </p:nvCxnSpPr>
        <p:spPr>
          <a:xfrm rot="10800000">
            <a:off x="2200338" y="4685252"/>
            <a:ext cx="348307" cy="67737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8" name="连接符: 肘形 67"/>
          <p:cNvCxnSpPr>
            <a:stCxn id="66" idx="1"/>
            <a:endCxn id="65" idx="2"/>
          </p:cNvCxnSpPr>
          <p:nvPr/>
        </p:nvCxnSpPr>
        <p:spPr>
          <a:xfrm rot="10800000">
            <a:off x="2943311" y="4859778"/>
            <a:ext cx="539498" cy="241352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4" name="矩形: 圆角 73"/>
          <p:cNvSpPr/>
          <p:nvPr/>
        </p:nvSpPr>
        <p:spPr>
          <a:xfrm>
            <a:off x="3492140" y="5302742"/>
            <a:ext cx="693922" cy="21358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/html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75" name="连接符: 肘形 74"/>
          <p:cNvCxnSpPr>
            <a:stCxn id="74" idx="1"/>
            <a:endCxn id="65" idx="2"/>
          </p:cNvCxnSpPr>
          <p:nvPr/>
        </p:nvCxnSpPr>
        <p:spPr>
          <a:xfrm rot="10800000">
            <a:off x="2943312" y="4859779"/>
            <a:ext cx="548829" cy="549755"/>
          </a:xfrm>
          <a:prstGeom prst="bentConnector2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9" idx="1"/>
            <a:endCxn id="36" idx="3"/>
          </p:cNvCxnSpPr>
          <p:nvPr/>
        </p:nvCxnSpPr>
        <p:spPr>
          <a:xfrm flipH="1" flipV="1">
            <a:off x="5882105" y="2685185"/>
            <a:ext cx="2394350" cy="306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15" idx="1"/>
            <a:endCxn id="66" idx="3"/>
          </p:cNvCxnSpPr>
          <p:nvPr/>
        </p:nvCxnSpPr>
        <p:spPr>
          <a:xfrm flipH="1">
            <a:off x="4272143" y="4907748"/>
            <a:ext cx="4001927" cy="193382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14" idx="1"/>
            <a:endCxn id="74" idx="3"/>
          </p:cNvCxnSpPr>
          <p:nvPr/>
        </p:nvCxnSpPr>
        <p:spPr>
          <a:xfrm flipH="1" flipV="1">
            <a:off x="4186062" y="5409533"/>
            <a:ext cx="4077962" cy="11417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113686" y="1726179"/>
            <a:ext cx="25090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-v html:/usr/share/nginx/html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936034" y="3861359"/>
            <a:ext cx="339067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-v /tmp/nginx/html:/usr/share/nginx/html</a:t>
            </a:r>
          </a:p>
          <a:p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-v /tmp/nginx/conf:/etc/nginx/conf</a:t>
            </a:r>
            <a:endParaRPr lang="zh-CN" altLang="en-US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ABC9B8-7259-FC8A-3526-69C96C8B3C5B}"/>
              </a:ext>
            </a:extLst>
          </p:cNvPr>
          <p:cNvSpPr txBox="1"/>
          <p:nvPr/>
        </p:nvSpPr>
        <p:spPr>
          <a:xfrm>
            <a:off x="766366" y="1318963"/>
            <a:ext cx="841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容器不仅仅可以挂载数据卷，也可以直接挂载到宿主机目录上。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关联关系如下：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带数据卷模式：宿主机目录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--&gt;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数据卷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---&gt;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容器内目录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直接挂载模式：宿主机目录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---&gt;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容器内目录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8" grpId="0" animBg="1"/>
      <p:bldP spid="63" grpId="0" animBg="1"/>
      <p:bldP spid="65" grpId="0" animBg="1"/>
      <p:bldP spid="66" grpId="0" animBg="1"/>
      <p:bldP spid="74" grpId="0" animBg="1"/>
      <p:bldP spid="5" grpId="0"/>
      <p:bldP spid="5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基本操作</a:t>
            </a:r>
            <a:r>
              <a:rPr lang="en-US" altLang="zh-CN"/>
              <a:t>-</a:t>
            </a:r>
            <a:r>
              <a:rPr lang="zh-CN" altLang="en-US"/>
              <a:t>数据卷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195450" y="1016159"/>
            <a:ext cx="9214230" cy="517190"/>
          </a:xfrm>
        </p:spPr>
        <p:txBody>
          <a:bodyPr anchor="t"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创建并运行一个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容器，将宿主机目录直接挂载到容器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23123"/>
            <a:ext cx="9214230" cy="4455559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提示：目录挂载与数据卷挂载的语法是类似的：</a:t>
            </a:r>
            <a:endParaRPr lang="en-US" altLang="zh-CN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-v [</a:t>
            </a:r>
            <a:r>
              <a:rPr lang="zh-CN" altLang="en-US" dirty="0"/>
              <a:t>宿主机目录</a:t>
            </a:r>
            <a:r>
              <a:rPr lang="en-US" altLang="zh-CN" dirty="0"/>
              <a:t>]:[</a:t>
            </a:r>
            <a:r>
              <a:rPr lang="zh-CN" altLang="en-US" dirty="0"/>
              <a:t>容器内目录</a:t>
            </a:r>
            <a:r>
              <a:rPr lang="en-US" altLang="zh-CN" dirty="0"/>
              <a:t>]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-v [</a:t>
            </a:r>
            <a:r>
              <a:rPr lang="zh-CN" altLang="en-US" dirty="0"/>
              <a:t>宿主机文件</a:t>
            </a:r>
            <a:r>
              <a:rPr lang="en-US" altLang="zh-CN" dirty="0"/>
              <a:t>]:[</a:t>
            </a:r>
            <a:r>
              <a:rPr lang="zh-CN" altLang="en-US" dirty="0"/>
              <a:t>容器内文件</a:t>
            </a:r>
            <a:r>
              <a:rPr lang="en-US" altLang="zh-CN" dirty="0"/>
              <a:t>]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实现思路如下：</a:t>
            </a:r>
            <a:endParaRPr lang="en-US" altLang="zh-CN" dirty="0"/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dirty="0"/>
              <a:t>在将课前资料中的</a:t>
            </a:r>
            <a:r>
              <a:rPr lang="en-US" altLang="zh-CN" dirty="0"/>
              <a:t>mysql.tar</a:t>
            </a:r>
            <a:r>
              <a:rPr lang="zh-CN" altLang="en-US" dirty="0"/>
              <a:t>文件上传到虚拟机，通过</a:t>
            </a:r>
            <a:r>
              <a:rPr lang="en-US" altLang="zh-CN" dirty="0"/>
              <a:t>load</a:t>
            </a:r>
            <a:r>
              <a:rPr lang="zh-CN" altLang="en-US" dirty="0"/>
              <a:t>命令加载为镜像</a:t>
            </a:r>
            <a:endParaRPr lang="en-US" altLang="zh-CN" dirty="0"/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dirty="0"/>
              <a:t>创建目录</a:t>
            </a:r>
            <a:r>
              <a:rPr lang="en-US" altLang="zh-CN" dirty="0"/>
              <a:t>/</a:t>
            </a:r>
            <a:r>
              <a:rPr lang="en-US" altLang="zh-CN" dirty="0" err="1"/>
              <a:t>tmp</a:t>
            </a:r>
            <a:r>
              <a:rPr lang="en-US" altLang="zh-CN" dirty="0"/>
              <a:t>/</a:t>
            </a:r>
            <a:r>
              <a:rPr lang="en-US" altLang="zh-CN" dirty="0" err="1"/>
              <a:t>mysql</a:t>
            </a:r>
            <a:r>
              <a:rPr lang="en-US" altLang="zh-CN" dirty="0"/>
              <a:t>/data</a:t>
            </a:r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dirty="0"/>
              <a:t>去</a:t>
            </a:r>
            <a:r>
              <a:rPr lang="en-US" altLang="zh-CN" dirty="0" err="1"/>
              <a:t>DockerHub</a:t>
            </a:r>
            <a:r>
              <a:rPr lang="zh-CN" altLang="en-US" dirty="0"/>
              <a:t>查阅资料，创建并运行</a:t>
            </a:r>
            <a:r>
              <a:rPr lang="en-US" altLang="zh-CN" dirty="0"/>
              <a:t>MySQL</a:t>
            </a:r>
            <a:r>
              <a:rPr lang="zh-CN" altLang="en-US" dirty="0"/>
              <a:t>容器，要求：</a:t>
            </a:r>
            <a:endParaRPr lang="en-US" altLang="zh-CN" dirty="0"/>
          </a:p>
          <a:p>
            <a:pPr marL="1333500" lvl="1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挂载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600" b="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tmp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en-US" altLang="zh-CN" sz="1600" b="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/data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600" b="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容器内数据存储目录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333500" lvl="1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设置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密码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485910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altLang="zh-CN" dirty="0"/>
              <a:t>docker run</a:t>
            </a:r>
            <a:r>
              <a:rPr lang="zh-CN" altLang="en-US" dirty="0"/>
              <a:t>的命令中通过 </a:t>
            </a:r>
            <a:r>
              <a:rPr lang="en-US" altLang="zh-CN" dirty="0"/>
              <a:t>-v </a:t>
            </a:r>
            <a:r>
              <a:rPr lang="zh-CN" altLang="en-US" dirty="0"/>
              <a:t>参数挂载文件或目录到容器中：</a:t>
            </a:r>
            <a:endParaRPr lang="en-US" altLang="zh-CN" dirty="0"/>
          </a:p>
          <a:p>
            <a:pPr marL="952500" lvl="1" indent="-342900">
              <a:lnSpc>
                <a:spcPct val="150000"/>
              </a:lnSpc>
              <a:spcBef>
                <a:spcPts val="200"/>
              </a:spcBef>
              <a:buFont typeface="+mj-ea"/>
              <a:buAutoNum type="circleNumDbPlain"/>
            </a:pP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-v volume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名称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容器内目录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52500" lvl="1" indent="-342900">
              <a:lnSpc>
                <a:spcPct val="150000"/>
              </a:lnSpc>
              <a:spcBef>
                <a:spcPts val="200"/>
              </a:spcBef>
              <a:buFont typeface="+mj-ea"/>
              <a:buAutoNum type="circleNumDbPlain"/>
            </a:pP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-v 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宿主机文件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容器内文件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52500" lvl="1" indent="-342900">
              <a:lnSpc>
                <a:spcPct val="150000"/>
              </a:lnSpc>
              <a:spcBef>
                <a:spcPts val="200"/>
              </a:spcBef>
              <a:buFont typeface="+mj-ea"/>
              <a:buAutoNum type="circleNumDbPlain"/>
            </a:pP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-v 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宿主机目录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容器内目录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1600" dirty="0"/>
              <a:t>数据卷挂载与目录直接挂载的区别</a:t>
            </a:r>
            <a:endParaRPr lang="en-US" altLang="zh-CN" sz="1600" dirty="0"/>
          </a:p>
          <a:p>
            <a:pPr marL="952500" lvl="1" indent="-342900">
              <a:lnSpc>
                <a:spcPct val="150000"/>
              </a:lnSpc>
              <a:spcBef>
                <a:spcPts val="200"/>
              </a:spcBef>
              <a:buFont typeface="+mj-ea"/>
              <a:buAutoNum type="circleNumDbPlain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数据卷挂载耦合度低，由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来管理目录，但是目录较深，不好找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52500" lvl="1" indent="-342900">
              <a:lnSpc>
                <a:spcPct val="150000"/>
              </a:lnSpc>
              <a:spcBef>
                <a:spcPts val="200"/>
              </a:spcBef>
              <a:buFont typeface="+mj-ea"/>
              <a:buAutoNum type="circleNumDbPlain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目录直接挂载耦合度高，需要我们自己管理目录，不过目录容易寻找查看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数据卷管理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Dockerfile</a:t>
            </a:r>
            <a:r>
              <a:rPr lang="zh-CN" altLang="en-US"/>
              <a:t>自定义镜像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/>
              <a:t>镜像结构</a:t>
            </a:r>
            <a:endParaRPr lang="en-US" altLang="zh-CN"/>
          </a:p>
          <a:p>
            <a:r>
              <a:rPr lang="en-US" altLang="zh-CN"/>
              <a:t>Dockerfile</a:t>
            </a:r>
            <a:r>
              <a:rPr lang="zh-CN" altLang="en-US"/>
              <a:t>语法</a:t>
            </a:r>
            <a:endParaRPr lang="en-US" altLang="zh-CN"/>
          </a:p>
          <a:p>
            <a:r>
              <a:rPr lang="zh-CN" altLang="en-US"/>
              <a:t>构建</a:t>
            </a:r>
            <a:r>
              <a:rPr lang="en-US" altLang="zh-CN"/>
              <a:t>Java</a:t>
            </a:r>
            <a:r>
              <a:rPr lang="zh-CN" altLang="en-US"/>
              <a:t>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镜像结构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55331" y="2706222"/>
            <a:ext cx="5165400" cy="3368082"/>
          </a:xfrm>
          <a:prstGeom prst="roundRect">
            <a:avLst>
              <a:gd name="adj" fmla="val 4111"/>
            </a:avLst>
          </a:prstGeom>
          <a:solidFill>
            <a:schemeClr val="tx2">
              <a:lumMod val="75000"/>
            </a:schemeClr>
          </a:solidFill>
          <a:ln>
            <a:noFill/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/>
              <a:t> /etc </a:t>
            </a:r>
          </a:p>
          <a:p>
            <a:r>
              <a:rPr lang="en-US" altLang="zh-CN" sz="3200"/>
              <a:t> /lib</a:t>
            </a:r>
          </a:p>
          <a:p>
            <a:r>
              <a:rPr lang="en-US" altLang="zh-CN" sz="3200"/>
              <a:t> /proc</a:t>
            </a:r>
          </a:p>
          <a:p>
            <a:r>
              <a:rPr lang="en-US" altLang="zh-CN" sz="3200"/>
              <a:t> /bin</a:t>
            </a:r>
          </a:p>
          <a:p>
            <a:r>
              <a:rPr lang="en-US" altLang="zh-CN" sz="3200"/>
              <a:t> ...</a:t>
            </a:r>
          </a:p>
          <a:p>
            <a:pPr algn="ctr"/>
            <a:r>
              <a:rPr lang="en-US" altLang="zh-CN" sz="3200"/>
              <a:t>Ubuntu 16.4</a:t>
            </a:r>
          </a:p>
          <a:p>
            <a:pPr algn="ctr"/>
            <a:r>
              <a:rPr lang="en-US" altLang="zh-CN" sz="3200"/>
              <a:t>BaseImage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4155331" y="2706222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D4779"/>
          </a:solidFill>
          <a:ln>
            <a:noFill/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pPr algn="ctr"/>
            <a:r>
              <a:rPr lang="en-US" altLang="zh-CN" sz="3200"/>
              <a:t>COPY </a:t>
            </a:r>
          </a:p>
          <a:p>
            <a:pPr algn="ctr"/>
            <a:r>
              <a:rPr lang="en-US" altLang="zh-CN" sz="3200"/>
              <a:t>./mysql-5.7.rpm</a:t>
            </a:r>
          </a:p>
          <a:p>
            <a:pPr algn="ctr"/>
            <a:r>
              <a:rPr lang="en-US" altLang="zh-CN" sz="3200"/>
              <a:t>/tmp/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155331" y="2706222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2963A9"/>
          </a:solidFill>
          <a:ln>
            <a:noFill/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RUN rpm -ivh install mysql-server.rpm </a:t>
            </a:r>
          </a:p>
          <a:p>
            <a:pPr algn="ctr"/>
            <a:r>
              <a:rPr lang="en-US" altLang="zh-CN" sz="3200"/>
              <a:t>&amp;&amp; touch /etc/my.cnf &amp;&amp; ...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4155331" y="2706222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3C7FD0"/>
          </a:solidFill>
          <a:ln>
            <a:noFill/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EntryPoint</a:t>
            </a:r>
          </a:p>
          <a:p>
            <a:pPr algn="ctr"/>
            <a:r>
              <a:rPr lang="en-US" altLang="zh-CN" sz="3200"/>
              <a:t>systemctl start mysql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4155331" y="2706222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6B9EDB"/>
          </a:solidFill>
          <a:ln>
            <a:noFill/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600"/>
          </a:p>
          <a:p>
            <a:pPr algn="ctr"/>
            <a:r>
              <a:rPr lang="en-US" altLang="zh-CN" sz="3600"/>
              <a:t>Mysql 5.7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498" y="2985608"/>
            <a:ext cx="1103067" cy="1113032"/>
          </a:xfrm>
          <a:prstGeom prst="rect">
            <a:avLst/>
          </a:prstGeom>
          <a:noFill/>
          <a:ln>
            <a:noFill/>
          </a:ln>
          <a:scene3d>
            <a:camera prst="perspectiveFront"/>
            <a:lightRig rig="threePt" dir="t"/>
          </a:scene3d>
        </p:spPr>
      </p:pic>
      <p:sp>
        <p:nvSpPr>
          <p:cNvPr id="40" name="文本占位符 3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镜像是将应用程序及其需要的系统函数库、环境、配置、依赖打包而成。</a:t>
            </a:r>
            <a:endParaRPr lang="en-US" altLang="zh-C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7" grpId="0" animBg="1"/>
      <p:bldP spid="18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镜像结构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853239" y="1990469"/>
            <a:ext cx="2642435" cy="138376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/>
              <a:t>入口（</a:t>
            </a:r>
            <a:r>
              <a:rPr lang="en-US" altLang="zh-CN" b="1"/>
              <a:t>Entrypoint</a:t>
            </a:r>
            <a:r>
              <a:rPr lang="zh-CN" altLang="en-US" b="1"/>
              <a:t>）</a:t>
            </a:r>
            <a:endParaRPr lang="en-US" altLang="zh-CN" b="1"/>
          </a:p>
          <a:p>
            <a:pPr>
              <a:lnSpc>
                <a:spcPct val="120000"/>
              </a:lnSpc>
            </a:pPr>
            <a:r>
              <a:rPr lang="zh-CN" altLang="en-US"/>
              <a:t>镜像运行入口，一般是程序启动的脚本和参数</a:t>
            </a:r>
          </a:p>
        </p:txBody>
      </p:sp>
      <p:sp>
        <p:nvSpPr>
          <p:cNvPr id="13" name="文本占位符 9"/>
          <p:cNvSpPr txBox="1"/>
          <p:nvPr/>
        </p:nvSpPr>
        <p:spPr>
          <a:xfrm>
            <a:off x="853239" y="3631158"/>
            <a:ext cx="2642435" cy="1537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/>
              <a:t>层（</a:t>
            </a:r>
            <a:r>
              <a:rPr lang="en-US" altLang="zh-CN" b="1"/>
              <a:t> Layer </a:t>
            </a:r>
            <a:r>
              <a:rPr lang="zh-CN" altLang="en-US" b="1"/>
              <a:t>）</a:t>
            </a:r>
            <a:endParaRPr lang="en-US" altLang="zh-CN" b="1"/>
          </a:p>
          <a:p>
            <a:pPr>
              <a:lnSpc>
                <a:spcPct val="120000"/>
              </a:lnSpc>
            </a:pPr>
            <a:r>
              <a:rPr lang="zh-CN" altLang="en-US" sz="1400"/>
              <a:t>在</a:t>
            </a:r>
            <a:r>
              <a:rPr lang="en-US" altLang="zh-CN" sz="1400"/>
              <a:t>BaseImage</a:t>
            </a:r>
            <a:r>
              <a:rPr lang="zh-CN" altLang="en-US" sz="1400"/>
              <a:t>基础上添加安装包、依赖、配置等，每次操作都形成新的一层。</a:t>
            </a:r>
          </a:p>
        </p:txBody>
      </p:sp>
      <p:sp>
        <p:nvSpPr>
          <p:cNvPr id="14" name="文本占位符 9"/>
          <p:cNvSpPr txBox="1"/>
          <p:nvPr/>
        </p:nvSpPr>
        <p:spPr>
          <a:xfrm>
            <a:off x="853240" y="5425660"/>
            <a:ext cx="2642435" cy="10663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/>
              <a:t>基础镜像（</a:t>
            </a:r>
            <a:r>
              <a:rPr lang="en-US" altLang="zh-CN" b="1"/>
              <a:t>BaseImage</a:t>
            </a:r>
            <a:r>
              <a:rPr lang="zh-CN" altLang="en-US" b="1"/>
              <a:t>）</a:t>
            </a:r>
            <a:endParaRPr lang="en-US" altLang="zh-CN" b="1"/>
          </a:p>
          <a:p>
            <a:pPr>
              <a:lnSpc>
                <a:spcPct val="120000"/>
              </a:lnSpc>
            </a:pPr>
            <a:r>
              <a:rPr lang="zh-CN" altLang="en-US" sz="1400"/>
              <a:t>应用依赖的系统函数库、环境、配置、文件等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5846549" y="4213758"/>
            <a:ext cx="5165400" cy="3368082"/>
          </a:xfrm>
          <a:prstGeom prst="roundRect">
            <a:avLst>
              <a:gd name="adj" fmla="val 4111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14300" dist="1524000" dir="7080000" algn="tr" rotWithShape="0">
              <a:schemeClr val="tx1">
                <a:alpha val="22000"/>
              </a:scheme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/>
              <a:t> /etc </a:t>
            </a:r>
          </a:p>
          <a:p>
            <a:r>
              <a:rPr lang="en-US" altLang="zh-CN" sz="3200"/>
              <a:t> /lib</a:t>
            </a:r>
          </a:p>
          <a:p>
            <a:r>
              <a:rPr lang="en-US" altLang="zh-CN" sz="3200"/>
              <a:t> /proc</a:t>
            </a:r>
          </a:p>
          <a:p>
            <a:r>
              <a:rPr lang="en-US" altLang="zh-CN" sz="3200"/>
              <a:t> /bin</a:t>
            </a:r>
          </a:p>
          <a:p>
            <a:r>
              <a:rPr lang="en-US" altLang="zh-CN" sz="3200"/>
              <a:t> ...</a:t>
            </a:r>
          </a:p>
          <a:p>
            <a:pPr algn="ctr"/>
            <a:r>
              <a:rPr lang="en-US" altLang="zh-CN" sz="3200"/>
              <a:t>Ubuntu 16.4</a:t>
            </a:r>
          </a:p>
          <a:p>
            <a:pPr algn="ctr"/>
            <a:r>
              <a:rPr lang="en-US" altLang="zh-CN" sz="3200"/>
              <a:t>BaseImage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846549" y="3123974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1D4779"/>
          </a:solidFill>
          <a:ln>
            <a:noFill/>
          </a:ln>
          <a:effectLst>
            <a:outerShdw blurRad="114300" dist="1524000" dir="7080000" algn="tr" rotWithShape="0">
              <a:schemeClr val="tx1">
                <a:alpha val="22000"/>
              </a:scheme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72000" bIns="45720" rtlCol="0" anchor="ctr"/>
          <a:lstStyle/>
          <a:p>
            <a:pPr algn="ctr"/>
            <a:r>
              <a:rPr lang="en-US" altLang="zh-CN" sz="3200"/>
              <a:t>COPY </a:t>
            </a:r>
          </a:p>
          <a:p>
            <a:pPr algn="ctr"/>
            <a:r>
              <a:rPr lang="en-US" altLang="zh-CN" sz="3200"/>
              <a:t>./mysql-5.7.rpm</a:t>
            </a:r>
          </a:p>
          <a:p>
            <a:pPr algn="ctr"/>
            <a:r>
              <a:rPr lang="en-US" altLang="zh-CN" sz="3200"/>
              <a:t>/tmp/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5846549" y="2040325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2963A9"/>
          </a:solidFill>
          <a:ln>
            <a:noFill/>
          </a:ln>
          <a:effectLst>
            <a:outerShdw blurRad="114300" dist="1524000" dir="7080000" algn="tr" rotWithShape="0">
              <a:schemeClr val="tx1">
                <a:alpha val="22000"/>
              </a:scheme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RUN rpm -ivh install mysql-server.rpm </a:t>
            </a:r>
          </a:p>
          <a:p>
            <a:pPr algn="ctr"/>
            <a:r>
              <a:rPr lang="en-US" altLang="zh-CN" sz="3200"/>
              <a:t>&amp;&amp; touch /etc/my.cnf &amp;&amp; ...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846549" y="956676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3C7FD0"/>
          </a:solidFill>
          <a:ln>
            <a:noFill/>
          </a:ln>
          <a:effectLst>
            <a:outerShdw blurRad="114300" dist="1524000" dir="7080000" algn="tr" rotWithShape="0">
              <a:schemeClr val="tx1">
                <a:alpha val="22000"/>
              </a:scheme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EntryPoint</a:t>
            </a:r>
          </a:p>
          <a:p>
            <a:pPr algn="ctr"/>
            <a:r>
              <a:rPr lang="en-US" altLang="zh-CN" sz="3200"/>
              <a:t>systemctl start mysql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5846548" y="-133108"/>
            <a:ext cx="5165400" cy="3368082"/>
          </a:xfrm>
          <a:prstGeom prst="roundRect">
            <a:avLst>
              <a:gd name="adj" fmla="val 4111"/>
            </a:avLst>
          </a:prstGeom>
          <a:solidFill>
            <a:srgbClr val="6B9EDB"/>
          </a:solidFill>
          <a:ln>
            <a:noFill/>
          </a:ln>
          <a:effectLst>
            <a:outerShdw blurRad="114300" dist="1524000" dir="7080000" algn="tr" rotWithShape="0">
              <a:schemeClr val="tx1">
                <a:alpha val="22000"/>
              </a:schemeClr>
            </a:outerShdw>
          </a:effectLst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600"/>
          </a:p>
          <a:p>
            <a:pPr algn="ctr"/>
            <a:r>
              <a:rPr lang="en-US" altLang="zh-CN" sz="3600"/>
              <a:t>Mysql 5.7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535" y="724903"/>
            <a:ext cx="1103067" cy="1113032"/>
          </a:xfrm>
          <a:prstGeom prst="rect">
            <a:avLst/>
          </a:prstGeom>
          <a:noFill/>
          <a:ln>
            <a:noFill/>
          </a:ln>
          <a:scene3d>
            <a:camera prst="isometricOffAxis1Top"/>
            <a:lightRig rig="threePt" dir="t"/>
          </a:scene3d>
        </p:spPr>
      </p:pic>
      <p:cxnSp>
        <p:nvCxnSpPr>
          <p:cNvPr id="7" name="直接连接符 6"/>
          <p:cNvCxnSpPr>
            <a:stCxn id="14" idx="3"/>
          </p:cNvCxnSpPr>
          <p:nvPr/>
        </p:nvCxnSpPr>
        <p:spPr>
          <a:xfrm>
            <a:off x="3495675" y="5958858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13" idx="3"/>
          </p:cNvCxnSpPr>
          <p:nvPr/>
        </p:nvCxnSpPr>
        <p:spPr>
          <a:xfrm flipV="1">
            <a:off x="3495674" y="3824117"/>
            <a:ext cx="1828801" cy="575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3" idx="3"/>
          </p:cNvCxnSpPr>
          <p:nvPr/>
        </p:nvCxnSpPr>
        <p:spPr>
          <a:xfrm>
            <a:off x="3495674" y="4399946"/>
            <a:ext cx="1693650" cy="388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0" idx="3"/>
          </p:cNvCxnSpPr>
          <p:nvPr/>
        </p:nvCxnSpPr>
        <p:spPr>
          <a:xfrm>
            <a:off x="3495674" y="2682350"/>
            <a:ext cx="1693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3" idx="3"/>
          </p:cNvCxnSpPr>
          <p:nvPr/>
        </p:nvCxnSpPr>
        <p:spPr>
          <a:xfrm>
            <a:off x="3495674" y="4399946"/>
            <a:ext cx="1693650" cy="1233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3" idx="3"/>
          </p:cNvCxnSpPr>
          <p:nvPr/>
        </p:nvCxnSpPr>
        <p:spPr>
          <a:xfrm flipV="1">
            <a:off x="3495674" y="2885894"/>
            <a:ext cx="1693650" cy="1514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25000" decel="2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镜像是分层结构，每一层称为一个</a:t>
            </a:r>
            <a:r>
              <a:rPr lang="en-US" altLang="zh-CN"/>
              <a:t>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BaseImage</a:t>
            </a:r>
            <a:r>
              <a:rPr lang="zh-CN" altLang="en-US" sz="1400"/>
              <a:t>层：包含基本的系统函数库、环境变量、文件系统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Entrypoint</a:t>
            </a:r>
            <a:r>
              <a:rPr lang="zh-CN" altLang="en-US" sz="1400"/>
              <a:t>：入口，是镜像中应用启动的命令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其它：在</a:t>
            </a:r>
            <a:r>
              <a:rPr lang="en-US" altLang="zh-CN" sz="1400"/>
              <a:t>BaseImage</a:t>
            </a:r>
            <a:r>
              <a:rPr lang="zh-CN" altLang="en-US" sz="1400"/>
              <a:t>基础上添加依赖、安装程序、完成整个应用的安装和配置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r>
              <a:rPr lang="en-US" altLang="zh-CN"/>
              <a:t>-</a:t>
            </a:r>
            <a:r>
              <a:rPr lang="zh-CN" altLang="en-US"/>
              <a:t>镜像结构</a:t>
            </a:r>
          </a:p>
        </p:txBody>
      </p:sp>
    </p:spTree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Dockerfile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455580"/>
            <a:ext cx="10698800" cy="767326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b="1" i="0">
                <a:solidFill>
                  <a:srgbClr val="2C3E50"/>
                </a:solidFill>
                <a:effectLst/>
              </a:rPr>
              <a:t>Dockerfile</a:t>
            </a:r>
            <a:r>
              <a:rPr lang="zh-CN" altLang="en-US" b="0" i="0">
                <a:solidFill>
                  <a:srgbClr val="2C3E50"/>
                </a:solidFill>
                <a:effectLst/>
              </a:rPr>
              <a:t>就是一个文本文件，其中包含一个个的</a:t>
            </a:r>
            <a:r>
              <a:rPr lang="zh-CN" altLang="en-US" b="1" i="0">
                <a:solidFill>
                  <a:srgbClr val="2C3E50"/>
                </a:solidFill>
                <a:effectLst/>
                <a:latin typeface="Georgia Pro" panose="02040502050405020303" pitchFamily="18" charset="0"/>
              </a:rPr>
              <a:t>指令</a:t>
            </a:r>
            <a:r>
              <a:rPr lang="en-US" altLang="zh-CN" b="1" i="0">
                <a:solidFill>
                  <a:srgbClr val="2C3E50"/>
                </a:solidFill>
                <a:effectLst/>
                <a:latin typeface="Georgia Pro" panose="02040502050405020303" pitchFamily="18" charset="0"/>
              </a:rPr>
              <a:t>(Instruction)</a:t>
            </a:r>
            <a:r>
              <a:rPr lang="zh-CN" altLang="en-US" b="0" i="0">
                <a:solidFill>
                  <a:srgbClr val="2C3E50"/>
                </a:solidFill>
                <a:effectLst/>
              </a:rPr>
              <a:t>，</a:t>
            </a:r>
            <a:r>
              <a:rPr lang="zh-CN" altLang="en-US">
                <a:solidFill>
                  <a:srgbClr val="2C3E50"/>
                </a:solidFill>
              </a:rPr>
              <a:t>用指令来说明要执行什么操作来构建镜像。每一个指令都会形成一层</a:t>
            </a:r>
            <a:r>
              <a:rPr lang="en-US" altLang="zh-CN">
                <a:solidFill>
                  <a:srgbClr val="2C3E50"/>
                </a:solidFill>
              </a:rPr>
              <a:t>Layer</a:t>
            </a:r>
            <a:r>
              <a:rPr lang="zh-CN" altLang="en-US">
                <a:solidFill>
                  <a:srgbClr val="2C3E50"/>
                </a:solidFill>
              </a:rPr>
              <a:t>。</a:t>
            </a: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/>
              <a:t>更新详细语法说明，请参考官网文档：</a:t>
            </a:r>
            <a:r>
              <a:rPr lang="en-US" altLang="zh-CN"/>
              <a:t> </a:t>
            </a:r>
            <a:r>
              <a:rPr lang="en-US" altLang="zh-CN">
                <a:hlinkClick r:id="rId2"/>
              </a:rPr>
              <a:t>https://docs.docker.com/engine/reference/builder</a:t>
            </a:r>
            <a:endParaRPr lang="en-US" altLang="zh-CN"/>
          </a:p>
          <a:p>
            <a:pPr>
              <a:lnSpc>
                <a:spcPct val="130000"/>
              </a:lnSpc>
            </a:pPr>
            <a:endParaRPr lang="en-US" altLang="zh-CN">
              <a:solidFill>
                <a:srgbClr val="2C3E50"/>
              </a:solidFill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162977" y="2276174"/>
          <a:ext cx="9699291" cy="36417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指令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说明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示例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FROM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指定基础镜像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FROM centos:6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ENV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设置环境变量，可在后面指令使用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ENV key value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COPY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拷贝本地文件到镜像的指定目录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COPY ./mysql-5.7.rpm /tmp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RUN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执行</a:t>
                      </a:r>
                      <a:r>
                        <a:rPr lang="en-US" altLang="zh-CN" sz="1400">
                          <a:latin typeface="+mn-lt"/>
                        </a:rPr>
                        <a:t>Linux</a:t>
                      </a:r>
                      <a:r>
                        <a:rPr lang="zh-CN" altLang="en-US" sz="1400">
                          <a:latin typeface="+mn-lt"/>
                        </a:rPr>
                        <a:t>的</a:t>
                      </a:r>
                      <a:r>
                        <a:rPr lang="en-US" altLang="zh-CN" sz="1400">
                          <a:latin typeface="+mn-lt"/>
                        </a:rPr>
                        <a:t>shell</a:t>
                      </a:r>
                      <a:r>
                        <a:rPr lang="zh-CN" altLang="en-US" sz="1400">
                          <a:latin typeface="+mn-lt"/>
                        </a:rPr>
                        <a:t>命令，一般是安装过程的命令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RUN yum install gcc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EXPOSE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指定容器运行时监听的端口，是给镜像使用者看的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EXPOSE 8080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2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+mn-lt"/>
                        </a:rPr>
                        <a:t>ENTRYPOINT</a:t>
                      </a:r>
                      <a:endParaRPr lang="zh-CN" altLang="en-US" sz="16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latin typeface="+mn-lt"/>
                        </a:rPr>
                        <a:t>镜像中应用的启动命令，容器运行时调用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+mn-lt"/>
                        </a:rPr>
                        <a:t>ENTRYPOINT java -jar xx.jar</a:t>
                      </a:r>
                      <a:endParaRPr lang="zh-CN" altLang="en-US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r>
              <a:rPr lang="en-US" altLang="zh-CN"/>
              <a:t>-Dockerfile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Ubuntu</a:t>
            </a:r>
            <a:r>
              <a:rPr lang="zh-CN" altLang="en-US"/>
              <a:t>镜像构建一个新镜像，运行一个</a:t>
            </a:r>
            <a:r>
              <a:rPr lang="en-US" altLang="zh-CN"/>
              <a:t>java</a:t>
            </a:r>
            <a:r>
              <a:rPr lang="zh-CN" altLang="en-US"/>
              <a:t>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9214230" cy="385703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新建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一个空文件夹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docker-demo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：拷贝课前资料中的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docker-demo.jar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docker-demo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这个目录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：拷贝课前资料中的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jdk8.tar.gz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docker-demo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这个目录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AD2B26"/>
                </a:solidFill>
              </a:rPr>
              <a:t>步骤</a:t>
            </a:r>
            <a:r>
              <a:rPr lang="en-US" altLang="zh-CN" dirty="0">
                <a:solidFill>
                  <a:srgbClr val="AD2B26"/>
                </a:solidFill>
              </a:rPr>
              <a:t>4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拷贝课前资料提供的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Dockerfile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docker-demo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这个目录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步骤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切换到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docker-demo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目录下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步骤</a:t>
            </a:r>
            <a:r>
              <a:rPr lang="en-US" altLang="zh-CN" dirty="0">
                <a:solidFill>
                  <a:srgbClr val="C00000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运行命令：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步骤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zh-CN" altLang="en-US" dirty="0">
                <a:solidFill>
                  <a:schemeClr val="accent2"/>
                </a:solidFill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查看镜像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步骤</a:t>
            </a:r>
            <a:r>
              <a:rPr lang="en-US" altLang="zh-CN" dirty="0">
                <a:solidFill>
                  <a:schemeClr val="accent2"/>
                </a:solidFill>
              </a:rPr>
              <a:t>8</a:t>
            </a:r>
            <a:r>
              <a:rPr lang="zh-CN" altLang="en-US" dirty="0">
                <a:solidFill>
                  <a:schemeClr val="accent2"/>
                </a:solidFill>
              </a:rPr>
              <a:t>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构建容器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最后访问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hlinkClick r:id="rId3"/>
              </a:rPr>
              <a:t>http://192.168.150.101:8090/hello/count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，其中的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改成你的虚拟机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ip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299316" y="3808520"/>
            <a:ext cx="8362765" cy="307777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docker build -t javaweb:1.0 .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13A1DE-9B67-A3EB-4339-18EF7C062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316" y="4692528"/>
            <a:ext cx="5800725" cy="4095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r>
              <a:rPr lang="en-US" altLang="zh-CN"/>
              <a:t>-Dockerfile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java:8-alpine</a:t>
            </a:r>
            <a:r>
              <a:rPr lang="zh-CN" altLang="en-US"/>
              <a:t>镜像，将一个</a:t>
            </a:r>
            <a:r>
              <a:rPr lang="en-US" altLang="zh-CN"/>
              <a:t>Java</a:t>
            </a:r>
            <a:r>
              <a:rPr lang="zh-CN" altLang="en-US"/>
              <a:t>项目构建为镜像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1200" dirty="0"/>
              <a:t>虽然我们可以基于</a:t>
            </a:r>
            <a:r>
              <a:rPr lang="en-US" altLang="zh-CN" sz="1200" dirty="0"/>
              <a:t>Ubuntu</a:t>
            </a:r>
            <a:r>
              <a:rPr lang="zh-CN" altLang="en-US" sz="1200" dirty="0"/>
              <a:t>基础镜像，添加任意自己需要的安装包，构建镜像，但是却比较麻烦。所以大多数情况下，我们都可以在一些安装了部分软件的基础镜像上做改造。例如，构建</a:t>
            </a:r>
            <a:r>
              <a:rPr lang="en-US" altLang="zh-CN" sz="1200" dirty="0"/>
              <a:t>java</a:t>
            </a:r>
            <a:r>
              <a:rPr lang="zh-CN" altLang="en-US" sz="1200" dirty="0"/>
              <a:t>项目的镜像，可以在已经准备了</a:t>
            </a:r>
            <a:r>
              <a:rPr lang="en-US" altLang="zh-CN" sz="1200" dirty="0"/>
              <a:t>JDK</a:t>
            </a:r>
            <a:r>
              <a:rPr lang="zh-CN" altLang="en-US" sz="1200" dirty="0"/>
              <a:t>的基础镜像基础上构建。</a:t>
            </a:r>
            <a:endParaRPr lang="en-US" altLang="zh-CN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F93C90-6E90-DCC7-E53B-6ABF12DB7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665" y="2312377"/>
            <a:ext cx="6736850" cy="44225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r>
              <a:rPr lang="en-US" altLang="zh-CN"/>
              <a:t>-Dockerfile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java:8-alpine</a:t>
            </a:r>
            <a:r>
              <a:rPr lang="zh-CN" altLang="en-US"/>
              <a:t>镜像，将一个</a:t>
            </a:r>
            <a:r>
              <a:rPr lang="en-US" altLang="zh-CN"/>
              <a:t>Java</a:t>
            </a:r>
            <a:r>
              <a:rPr lang="zh-CN" altLang="en-US"/>
              <a:t>项目构建为镜像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实现思路如下：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</a:t>
            </a:r>
            <a:r>
              <a:rPr lang="en-US" altLang="zh-CN" dirty="0" err="1"/>
              <a:t>tmp</a:t>
            </a:r>
            <a:r>
              <a:rPr lang="zh-CN" altLang="en-US" dirty="0"/>
              <a:t>目录下在新建一个空的目录</a:t>
            </a:r>
            <a:r>
              <a:rPr lang="en-US" altLang="zh-CN" dirty="0"/>
              <a:t>docker-demo02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拷贝课前资料提供的</a:t>
            </a:r>
            <a:r>
              <a:rPr lang="en-US" altLang="zh-CN" dirty="0"/>
              <a:t>docker-demo.jar</a:t>
            </a:r>
            <a:r>
              <a:rPr lang="zh-CN" altLang="en-US" dirty="0"/>
              <a:t>到这个目录中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然后在目录中新建一个文件，命名为</a:t>
            </a:r>
            <a:r>
              <a:rPr lang="en-US" altLang="zh-CN" dirty="0" err="1"/>
              <a:t>Dockerfile</a:t>
            </a:r>
            <a:r>
              <a:rPr lang="zh-CN" altLang="en-US" dirty="0"/>
              <a:t>，编写</a:t>
            </a:r>
            <a:r>
              <a:rPr lang="en-US" altLang="zh-CN" dirty="0" err="1"/>
              <a:t>Dockerfile</a:t>
            </a:r>
            <a:r>
              <a:rPr lang="zh-CN" altLang="en-US" dirty="0"/>
              <a:t>文件：</a:t>
            </a:r>
            <a:endParaRPr lang="en-US" altLang="zh-CN" dirty="0"/>
          </a:p>
          <a:p>
            <a:pPr marL="1333500" lvl="1" indent="-342900">
              <a:buFont typeface="+mj-lt"/>
              <a:buAutoNum type="alphaLcParenR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java:8-alpine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作为基础镜像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333500" lvl="1" indent="-342900">
              <a:buFont typeface="+mj-lt"/>
              <a:buAutoNum type="alphaLcParenR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docker-demo.jar</a:t>
            </a: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拷贝到镜像中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333500" lvl="1" indent="-342900">
              <a:buFont typeface="+mj-lt"/>
              <a:buAutoNum type="alphaLcParenR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暴露端口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333500" lvl="1" indent="-342900">
              <a:buFont typeface="+mj-lt"/>
              <a:buAutoNum type="alphaLcParenR"/>
            </a:pPr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编写入口</a:t>
            </a:r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ENTRYPOINT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使用</a:t>
            </a:r>
            <a:r>
              <a:rPr lang="en-US" altLang="zh-CN" dirty="0"/>
              <a:t>docker build</a:t>
            </a:r>
            <a:r>
              <a:rPr lang="zh-CN" altLang="en-US" dirty="0"/>
              <a:t>命令构建镜像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停止之前启动的容器</a:t>
            </a:r>
            <a:r>
              <a:rPr lang="en-US" altLang="zh-CN" dirty="0"/>
              <a:t>myWeb1.0</a:t>
            </a:r>
            <a:r>
              <a:rPr lang="zh-CN" altLang="en-US" dirty="0"/>
              <a:t>，否则端口号冲突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使用</a:t>
            </a:r>
            <a:r>
              <a:rPr lang="en-US" altLang="zh-CN" dirty="0"/>
              <a:t>docker run</a:t>
            </a:r>
            <a:r>
              <a:rPr lang="zh-CN" altLang="en-US" dirty="0"/>
              <a:t>创建容器并运行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浏览器访问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8841773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Dockerfile</a:t>
            </a:r>
            <a:r>
              <a:rPr lang="zh-CN" altLang="en-US"/>
              <a:t>的本质是一个文件，通过指令描述镜像的构建过程</a:t>
            </a:r>
            <a:endParaRPr lang="en-US" altLang="zh-CN"/>
          </a:p>
          <a:p>
            <a:r>
              <a:rPr lang="en-US" altLang="zh-CN"/>
              <a:t>Dockerfile</a:t>
            </a:r>
            <a:r>
              <a:rPr lang="zh-CN" altLang="en-US"/>
              <a:t>的第一行必须是</a:t>
            </a:r>
            <a:r>
              <a:rPr lang="en-US" altLang="zh-CN"/>
              <a:t>FROM</a:t>
            </a:r>
            <a:r>
              <a:rPr lang="zh-CN" altLang="en-US"/>
              <a:t>，从一个基础镜像来构建</a:t>
            </a:r>
            <a:endParaRPr lang="en-US" altLang="zh-CN"/>
          </a:p>
          <a:p>
            <a:r>
              <a:rPr lang="zh-CN" altLang="en-US"/>
              <a:t>基础镜像可以是基本操作系统，如</a:t>
            </a:r>
            <a:r>
              <a:rPr lang="en-US" altLang="zh-CN"/>
              <a:t>Ubuntu</a:t>
            </a:r>
            <a:r>
              <a:rPr lang="zh-CN" altLang="en-US"/>
              <a:t>。也可以是其他人制作好的镜像，例如：</a:t>
            </a:r>
            <a:r>
              <a:rPr lang="en-US" altLang="zh-CN"/>
              <a:t>java:8-alpine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自定义镜像</a:t>
            </a:r>
            <a:r>
              <a:rPr lang="en-US" altLang="zh-CN"/>
              <a:t>-Dockerfile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/>
              <a:t>初识</a:t>
            </a:r>
            <a:r>
              <a:rPr lang="en-US" altLang="zh-CN"/>
              <a:t>DockerCompose</a:t>
            </a:r>
          </a:p>
          <a:p>
            <a:r>
              <a:rPr lang="zh-CN" altLang="en-US"/>
              <a:t>部署软件应用集群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6141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我们上述学习，对于每个应用都是手动创建和运行容器，那么实际开发中小一点的公司几十个应用，大一点公司几百个应用，而如果一个一个手动部署，效率会比较低也比较麻烦。因此我们可以学习下面的技术</a:t>
            </a:r>
            <a:r>
              <a:rPr lang="en-US" altLang="zh-CN" dirty="0"/>
              <a:t>Docker-Compose</a:t>
            </a:r>
            <a:r>
              <a:rPr lang="zh-CN" altLang="en-US" dirty="0"/>
              <a:t>来解决。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812278-3D15-F65E-CE68-3406DAE9D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819" y="3429000"/>
            <a:ext cx="1871133" cy="140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6141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Docker Compose</a:t>
            </a:r>
            <a:r>
              <a:rPr lang="zh-CN" altLang="en-US" dirty="0"/>
              <a:t>可以基于</a:t>
            </a:r>
            <a:r>
              <a:rPr lang="en-US" altLang="zh-CN" dirty="0"/>
              <a:t>Compose</a:t>
            </a:r>
            <a:r>
              <a:rPr lang="zh-CN" altLang="en-US" dirty="0"/>
              <a:t>文件帮我们快速的部署分布式应用，而无需手动一个个创建和运行容器！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Compose</a:t>
            </a:r>
            <a:r>
              <a:rPr lang="zh-CN" altLang="en-US" dirty="0"/>
              <a:t>文件是一个文本文件，通过指令定义集群中的每个容器如何运行。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DockerCompose</a:t>
            </a:r>
            <a:r>
              <a:rPr lang="zh-CN" altLang="en-US" dirty="0"/>
              <a:t>的详细语法参考官网：</a:t>
            </a:r>
            <a:r>
              <a:rPr lang="en-US" altLang="zh-CN" dirty="0">
                <a:hlinkClick r:id="rId2"/>
              </a:rPr>
              <a:t>https://docs.docker.com/compose/compose-file/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 descr="Docker Compo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319" y="2754354"/>
            <a:ext cx="2850430" cy="31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068251" y="2643627"/>
            <a:ext cx="6641804" cy="3108543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800000"/>
                </a:solidFill>
                <a:effectLst/>
              </a:rPr>
              <a:t>version</a:t>
            </a:r>
            <a:r>
              <a:rPr lang="en-US" altLang="zh-CN" sz="1400" b="0" dirty="0">
                <a:solidFill>
                  <a:srgbClr val="000000"/>
                </a:solidFill>
                <a:effectLst/>
              </a:rPr>
              <a:t>: 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"3.8"</a:t>
            </a:r>
          </a:p>
          <a:p>
            <a:br>
              <a:rPr lang="en-US" altLang="zh-CN" sz="1400" b="0" dirty="0">
                <a:solidFill>
                  <a:srgbClr val="000000"/>
                </a:solidFill>
                <a:effectLst/>
              </a:rPr>
            </a:br>
            <a:r>
              <a:rPr lang="en-US" altLang="zh-CN" sz="1400" b="0" dirty="0">
                <a:solidFill>
                  <a:srgbClr val="800000"/>
                </a:solidFill>
                <a:effectLst/>
              </a:rPr>
              <a:t>services</a:t>
            </a:r>
            <a:r>
              <a:rPr lang="en-US" altLang="zh-CN" sz="1400" b="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  </a:t>
            </a:r>
            <a:r>
              <a:rPr lang="en-US" altLang="zh-CN" sz="1400" dirty="0" err="1">
                <a:solidFill>
                  <a:srgbClr val="800000"/>
                </a:solidFill>
              </a:rPr>
              <a:t>mysql</a:t>
            </a:r>
            <a:r>
              <a:rPr lang="en-US" altLang="zh-CN" sz="1400" b="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    </a:t>
            </a:r>
            <a:r>
              <a:rPr lang="en-US" altLang="zh-CN" sz="1400" b="0" dirty="0">
                <a:solidFill>
                  <a:srgbClr val="800000"/>
                </a:solidFill>
                <a:effectLst/>
              </a:rPr>
              <a:t>image</a:t>
            </a:r>
            <a:r>
              <a:rPr lang="en-US" altLang="zh-CN" sz="1400" b="0" dirty="0">
                <a:solidFill>
                  <a:srgbClr val="000000"/>
                </a:solidFill>
                <a:effectLst/>
              </a:rPr>
              <a:t>: </a:t>
            </a:r>
            <a:r>
              <a:rPr lang="en-US" altLang="zh-CN" sz="1400" b="0" dirty="0">
                <a:solidFill>
                  <a:srgbClr val="0000FF"/>
                </a:solidFill>
                <a:effectLst/>
              </a:rPr>
              <a:t>mysql:5.7.25</a:t>
            </a:r>
          </a:p>
          <a:p>
            <a:r>
              <a:rPr lang="en-US" altLang="zh-CN" sz="1400" dirty="0">
                <a:solidFill>
                  <a:srgbClr val="800000"/>
                </a:solidFill>
              </a:rPr>
              <a:t>    environment</a:t>
            </a:r>
            <a:r>
              <a:rPr lang="en-US" altLang="zh-CN" sz="1400" dirty="0">
                <a:solidFill>
                  <a:srgbClr val="000000"/>
                </a:solidFill>
              </a:rPr>
              <a:t>: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     </a:t>
            </a:r>
            <a:r>
              <a:rPr lang="zh-CN" altLang="zh-CN" sz="1400" dirty="0">
                <a:solidFill>
                  <a:srgbClr val="0000FF"/>
                </a:solidFill>
              </a:rPr>
              <a:t>MYSQL_ROOT_PASSWORD: </a:t>
            </a:r>
            <a:r>
              <a:rPr lang="en-US" altLang="zh-CN" sz="1400" dirty="0">
                <a:solidFill>
                  <a:srgbClr val="0000FF"/>
                </a:solidFill>
              </a:rPr>
              <a:t>1234</a:t>
            </a:r>
            <a:r>
              <a:rPr lang="zh-CN" altLang="zh-CN" sz="1400" dirty="0">
                <a:solidFill>
                  <a:srgbClr val="0000FF"/>
                </a:solidFill>
              </a:rPr>
              <a:t> </a:t>
            </a:r>
            <a:endParaRPr lang="en-US" altLang="zh-CN" sz="1400" dirty="0">
              <a:solidFill>
                <a:srgbClr val="0000FF"/>
              </a:solidFill>
            </a:endParaRP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    </a:t>
            </a:r>
            <a:r>
              <a:rPr lang="en-US" altLang="zh-CN" sz="1400" b="0" dirty="0">
                <a:solidFill>
                  <a:srgbClr val="800000"/>
                </a:solidFill>
                <a:effectLst/>
              </a:rPr>
              <a:t>volumes</a:t>
            </a:r>
            <a:r>
              <a:rPr lang="en-US" altLang="zh-CN" sz="1400" b="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     - </a:t>
            </a:r>
            <a:r>
              <a:rPr lang="en-US" altLang="zh-CN" sz="1400" dirty="0">
                <a:solidFill>
                  <a:srgbClr val="00B050"/>
                </a:solidFill>
              </a:rPr>
              <a:t>"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tmp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mysql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/data:/var/lib/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mysql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"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</a:rPr>
              <a:t>     - </a:t>
            </a:r>
            <a:r>
              <a:rPr lang="en-US" altLang="zh-CN" sz="1400" dirty="0">
                <a:solidFill>
                  <a:srgbClr val="00B050"/>
                </a:solidFill>
              </a:rPr>
              <a:t>"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tmp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mysql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/conf/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hmy.cnf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:/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etc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mysql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conf.d</a:t>
            </a:r>
            <a:r>
              <a:rPr lang="en-US" altLang="zh-CN" sz="1400" b="0" dirty="0">
                <a:solidFill>
                  <a:srgbClr val="00B050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00B050"/>
                </a:solidFill>
                <a:effectLst/>
              </a:rPr>
              <a:t>hmy.cnf</a:t>
            </a:r>
            <a:r>
              <a:rPr lang="en-US" altLang="zh-CN" sz="1400" dirty="0">
                <a:solidFill>
                  <a:srgbClr val="00B050"/>
                </a:solidFill>
              </a:rPr>
              <a:t>"</a:t>
            </a:r>
            <a:endParaRPr lang="en-US" altLang="zh-CN" sz="1400" b="0" dirty="0">
              <a:solidFill>
                <a:srgbClr val="00B050"/>
              </a:solidFill>
              <a:effectLst/>
            </a:endParaRPr>
          </a:p>
          <a:p>
            <a:r>
              <a:rPr lang="en-US" altLang="zh-CN" sz="1400" dirty="0">
                <a:solidFill>
                  <a:srgbClr val="000000"/>
                </a:solidFill>
              </a:rPr>
              <a:t>  </a:t>
            </a:r>
            <a:r>
              <a:rPr lang="en-US" altLang="zh-CN" sz="1400" dirty="0">
                <a:solidFill>
                  <a:srgbClr val="800000"/>
                </a:solidFill>
              </a:rPr>
              <a:t>web</a:t>
            </a:r>
            <a:r>
              <a:rPr lang="en-US" altLang="zh-CN" sz="1400" dirty="0">
                <a:solidFill>
                  <a:srgbClr val="000000"/>
                </a:solidFill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</a:rPr>
              <a:t>    </a:t>
            </a:r>
            <a:r>
              <a:rPr lang="en-US" altLang="zh-CN" sz="1400" dirty="0">
                <a:solidFill>
                  <a:srgbClr val="800000"/>
                </a:solidFill>
              </a:rPr>
              <a:t>build</a:t>
            </a:r>
            <a:r>
              <a:rPr lang="en-US" altLang="zh-CN" sz="1400" dirty="0">
                <a:solidFill>
                  <a:srgbClr val="000000"/>
                </a:solidFill>
              </a:rPr>
              <a:t>: </a:t>
            </a:r>
            <a:r>
              <a:rPr lang="en-US" altLang="zh-CN" sz="1400" dirty="0">
                <a:solidFill>
                  <a:srgbClr val="098658"/>
                </a:solidFill>
              </a:rPr>
              <a:t>.</a:t>
            </a:r>
            <a:endParaRPr lang="en-US" altLang="zh-CN" sz="1400" dirty="0">
              <a:solidFill>
                <a:srgbClr val="000000"/>
              </a:solidFill>
            </a:endParaRPr>
          </a:p>
          <a:p>
            <a:r>
              <a:rPr lang="en-US" altLang="zh-CN" sz="1400" dirty="0">
                <a:solidFill>
                  <a:srgbClr val="000000"/>
                </a:solidFill>
              </a:rPr>
              <a:t>    </a:t>
            </a:r>
            <a:r>
              <a:rPr lang="en-US" altLang="zh-CN" sz="1400" dirty="0">
                <a:solidFill>
                  <a:srgbClr val="800000"/>
                </a:solidFill>
              </a:rPr>
              <a:t>ports</a:t>
            </a:r>
            <a:r>
              <a:rPr lang="en-US" altLang="zh-CN" sz="1400" dirty="0">
                <a:solidFill>
                  <a:srgbClr val="000000"/>
                </a:solidFill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</a:rPr>
              <a:t>     - </a:t>
            </a:r>
            <a:r>
              <a:rPr lang="en-US" altLang="zh-CN" sz="1400" dirty="0">
                <a:solidFill>
                  <a:srgbClr val="098658"/>
                </a:solidFill>
              </a:rPr>
              <a:t>"8090</a:t>
            </a:r>
            <a:r>
              <a:rPr lang="en-US" altLang="zh-CN" sz="1400" dirty="0">
                <a:solidFill>
                  <a:srgbClr val="000000"/>
                </a:solidFill>
              </a:rPr>
              <a:t>:</a:t>
            </a:r>
            <a:r>
              <a:rPr lang="en-US" altLang="zh-CN" sz="1400" dirty="0">
                <a:solidFill>
                  <a:srgbClr val="098658"/>
                </a:solidFill>
              </a:rPr>
              <a:t>8090"</a:t>
            </a:r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5" name="流程图: 资料带 4">
            <a:extLst>
              <a:ext uri="{FF2B5EF4-FFF2-40B4-BE49-F238E27FC236}">
                <a16:creationId xmlns:a16="http://schemas.microsoft.com/office/drawing/2014/main" id="{40B8F07C-D41E-F9EC-135E-FFEAED509B48}"/>
              </a:ext>
            </a:extLst>
          </p:cNvPr>
          <p:cNvSpPr/>
          <p:nvPr/>
        </p:nvSpPr>
        <p:spPr>
          <a:xfrm>
            <a:off x="2778369" y="2643627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Docker Compose</a:t>
            </a:r>
            <a:r>
              <a:rPr lang="zh-CN" altLang="en-US" sz="1400" dirty="0"/>
              <a:t>版本</a:t>
            </a:r>
          </a:p>
        </p:txBody>
      </p:sp>
      <p:sp>
        <p:nvSpPr>
          <p:cNvPr id="7" name="流程图: 资料带 6">
            <a:extLst>
              <a:ext uri="{FF2B5EF4-FFF2-40B4-BE49-F238E27FC236}">
                <a16:creationId xmlns:a16="http://schemas.microsoft.com/office/drawing/2014/main" id="{E77F9DA9-0297-8625-77EA-A94B3D7BA58C}"/>
              </a:ext>
            </a:extLst>
          </p:cNvPr>
          <p:cNvSpPr/>
          <p:nvPr/>
        </p:nvSpPr>
        <p:spPr>
          <a:xfrm>
            <a:off x="2391722" y="3194048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mysql</a:t>
            </a:r>
            <a:r>
              <a:rPr lang="zh-CN" altLang="en-US" sz="1400" dirty="0"/>
              <a:t>表示容器名</a:t>
            </a:r>
          </a:p>
        </p:txBody>
      </p:sp>
      <p:sp>
        <p:nvSpPr>
          <p:cNvPr id="8" name="流程图: 资料带 7">
            <a:extLst>
              <a:ext uri="{FF2B5EF4-FFF2-40B4-BE49-F238E27FC236}">
                <a16:creationId xmlns:a16="http://schemas.microsoft.com/office/drawing/2014/main" id="{35996472-E5F5-E995-632D-53385D99DD90}"/>
              </a:ext>
            </a:extLst>
          </p:cNvPr>
          <p:cNvSpPr/>
          <p:nvPr/>
        </p:nvSpPr>
        <p:spPr>
          <a:xfrm>
            <a:off x="3682527" y="3497142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image</a:t>
            </a:r>
            <a:r>
              <a:rPr lang="zh-CN" altLang="en-US" sz="1400" dirty="0"/>
              <a:t>表示镜像名</a:t>
            </a:r>
          </a:p>
        </p:txBody>
      </p:sp>
      <p:sp>
        <p:nvSpPr>
          <p:cNvPr id="9" name="流程图: 资料带 8">
            <a:extLst>
              <a:ext uri="{FF2B5EF4-FFF2-40B4-BE49-F238E27FC236}">
                <a16:creationId xmlns:a16="http://schemas.microsoft.com/office/drawing/2014/main" id="{7770B5A5-5303-4CDE-11AC-EB1BF37C56BF}"/>
              </a:ext>
            </a:extLst>
          </p:cNvPr>
          <p:cNvSpPr/>
          <p:nvPr/>
        </p:nvSpPr>
        <p:spPr>
          <a:xfrm>
            <a:off x="4053253" y="3808443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环境</a:t>
            </a:r>
          </a:p>
        </p:txBody>
      </p:sp>
      <p:sp>
        <p:nvSpPr>
          <p:cNvPr id="10" name="流程图: 资料带 9">
            <a:extLst>
              <a:ext uri="{FF2B5EF4-FFF2-40B4-BE49-F238E27FC236}">
                <a16:creationId xmlns:a16="http://schemas.microsoft.com/office/drawing/2014/main" id="{27BAC57C-8C0B-1C4E-4203-3809682FBC4B}"/>
              </a:ext>
            </a:extLst>
          </p:cNvPr>
          <p:cNvSpPr/>
          <p:nvPr/>
        </p:nvSpPr>
        <p:spPr>
          <a:xfrm>
            <a:off x="4246683" y="4197898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数据卷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167A99E-C2D3-2436-CB61-2F00E1027E10}"/>
              </a:ext>
            </a:extLst>
          </p:cNvPr>
          <p:cNvSpPr/>
          <p:nvPr/>
        </p:nvSpPr>
        <p:spPr>
          <a:xfrm>
            <a:off x="2189285" y="2754354"/>
            <a:ext cx="474783" cy="18069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375B199-0802-BD78-A957-C6C882FD40B3}"/>
              </a:ext>
            </a:extLst>
          </p:cNvPr>
          <p:cNvSpPr/>
          <p:nvPr/>
        </p:nvSpPr>
        <p:spPr>
          <a:xfrm>
            <a:off x="1817911" y="3338653"/>
            <a:ext cx="474783" cy="18069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9F0179F2-1D8B-9501-C41F-6D338A1F73BF}"/>
              </a:ext>
            </a:extLst>
          </p:cNvPr>
          <p:cNvSpPr/>
          <p:nvPr/>
        </p:nvSpPr>
        <p:spPr>
          <a:xfrm>
            <a:off x="2881871" y="3586744"/>
            <a:ext cx="474783" cy="18069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6548C2E1-3784-0187-8471-06DF18620FD0}"/>
              </a:ext>
            </a:extLst>
          </p:cNvPr>
          <p:cNvSpPr/>
          <p:nvPr/>
        </p:nvSpPr>
        <p:spPr>
          <a:xfrm>
            <a:off x="2391722" y="3839620"/>
            <a:ext cx="1661531" cy="19052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A76F892-56BD-5759-52D6-5386402D4F8B}"/>
              </a:ext>
            </a:extLst>
          </p:cNvPr>
          <p:cNvSpPr/>
          <p:nvPr/>
        </p:nvSpPr>
        <p:spPr>
          <a:xfrm>
            <a:off x="2221555" y="4228760"/>
            <a:ext cx="1661531" cy="19052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15E2D20-14B5-2AD1-A2BB-21D268419A9F}"/>
              </a:ext>
            </a:extLst>
          </p:cNvPr>
          <p:cNvSpPr/>
          <p:nvPr/>
        </p:nvSpPr>
        <p:spPr>
          <a:xfrm>
            <a:off x="1922893" y="5101212"/>
            <a:ext cx="474783" cy="18069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资料带 19">
            <a:extLst>
              <a:ext uri="{FF2B5EF4-FFF2-40B4-BE49-F238E27FC236}">
                <a16:creationId xmlns:a16="http://schemas.microsoft.com/office/drawing/2014/main" id="{F840C91B-984D-7449-5B9A-5274B25AEA31}"/>
              </a:ext>
            </a:extLst>
          </p:cNvPr>
          <p:cNvSpPr/>
          <p:nvPr/>
        </p:nvSpPr>
        <p:spPr>
          <a:xfrm>
            <a:off x="2546621" y="5013650"/>
            <a:ext cx="2549769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从当前目录构建镜像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78054E89-FB89-7309-B85F-1634DA6DB7BB}"/>
              </a:ext>
            </a:extLst>
          </p:cNvPr>
          <p:cNvSpPr/>
          <p:nvPr/>
        </p:nvSpPr>
        <p:spPr>
          <a:xfrm>
            <a:off x="2189284" y="5355976"/>
            <a:ext cx="474783" cy="180694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资料带 21">
            <a:extLst>
              <a:ext uri="{FF2B5EF4-FFF2-40B4-BE49-F238E27FC236}">
                <a16:creationId xmlns:a16="http://schemas.microsoft.com/office/drawing/2014/main" id="{BF5530A5-E35F-9CFD-9D34-2DFE5996ACE3}"/>
              </a:ext>
            </a:extLst>
          </p:cNvPr>
          <p:cNvSpPr/>
          <p:nvPr/>
        </p:nvSpPr>
        <p:spPr>
          <a:xfrm>
            <a:off x="2696015" y="5355976"/>
            <a:ext cx="3399985" cy="351692"/>
          </a:xfrm>
          <a:prstGeom prst="flowChartPunchedTap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相当于之前的</a:t>
            </a:r>
            <a:r>
              <a:rPr lang="en-US" altLang="zh-CN" sz="1400" dirty="0"/>
              <a:t>docker run</a:t>
            </a:r>
            <a:r>
              <a:rPr lang="zh-CN" altLang="en-US" sz="1400" dirty="0"/>
              <a:t>，运行容器</a:t>
            </a:r>
          </a:p>
        </p:txBody>
      </p:sp>
    </p:spTree>
    <p:extLst>
      <p:ext uri="{BB962C8B-B14F-4D97-AF65-F5344CB8AC3E}">
        <p14:creationId xmlns:p14="http://schemas.microsoft.com/office/powerpoint/2010/main" val="11185773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DockerCompose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参考课前资料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25588" y="2564678"/>
          <a:ext cx="2708831" cy="864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2019300" imgH="638175" progId="Package">
                  <p:embed/>
                </p:oleObj>
              </mc:Choice>
              <mc:Fallback>
                <p:oleObj name="包装程序外壳对象" showAsIcon="1" r:id="rId2" imgW="2019300" imgH="638175" progId="Package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5588" y="2564678"/>
                        <a:ext cx="2708831" cy="864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DockerCompose</a:t>
            </a:r>
            <a:r>
              <a:rPr lang="zh-CN" altLang="en-US"/>
              <a:t>有什么作用？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帮助我们快速部署分布式应用，无需一个个微服务去构建镜像和部署。</a:t>
            </a: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DockerCompose-</a:t>
            </a:r>
            <a:r>
              <a:rPr lang="zh-CN" altLang="en-US"/>
              <a:t>部署服务应用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 err="1"/>
              <a:t>userdemo</a:t>
            </a:r>
            <a:r>
              <a:rPr lang="zh-CN" altLang="en-US" dirty="0"/>
              <a:t>工程利用</a:t>
            </a:r>
            <a:r>
              <a:rPr lang="en-US" altLang="zh-CN" dirty="0" err="1"/>
              <a:t>DockerCompose</a:t>
            </a:r>
            <a:r>
              <a:rPr lang="zh-CN" altLang="en-US" dirty="0"/>
              <a:t>部署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95450" y="1656000"/>
            <a:ext cx="9214230" cy="4667308"/>
          </a:xfrm>
        </p:spPr>
        <p:txBody>
          <a:bodyPr/>
          <a:lstStyle/>
          <a:p>
            <a:r>
              <a:rPr lang="zh-CN" altLang="en-US" dirty="0"/>
              <a:t>实现思路如下：</a:t>
            </a:r>
            <a:endParaRPr lang="en-US" altLang="zh-CN" dirty="0"/>
          </a:p>
          <a:p>
            <a:r>
              <a:rPr lang="en-US" altLang="zh-CN" dirty="0"/>
              <a:t>【1】 </a:t>
            </a:r>
            <a:r>
              <a:rPr lang="zh-CN" altLang="en-US" dirty="0"/>
              <a:t>查看  资料</a:t>
            </a:r>
            <a:r>
              <a:rPr lang="en-US" altLang="zh-CN" dirty="0"/>
              <a:t>\</a:t>
            </a:r>
            <a:r>
              <a:rPr lang="zh-CN" altLang="en-US" dirty="0"/>
              <a:t>原始代码</a:t>
            </a:r>
            <a:r>
              <a:rPr lang="en-US" altLang="zh-CN" dirty="0"/>
              <a:t>\docker-compose</a:t>
            </a:r>
            <a:r>
              <a:rPr lang="zh-CN" altLang="en-US" dirty="0"/>
              <a:t>文件夹，里面是已经编写好了</a:t>
            </a:r>
            <a:r>
              <a:rPr lang="en-US" altLang="zh-CN" dirty="0"/>
              <a:t>docker-compose</a:t>
            </a:r>
            <a:r>
              <a:rPr lang="zh-CN" altLang="en-US" dirty="0"/>
              <a:t>文件和项目</a:t>
            </a:r>
            <a:endParaRPr lang="en-US" altLang="zh-CN" dirty="0"/>
          </a:p>
          <a:p>
            <a:r>
              <a:rPr lang="en-US" altLang="zh-CN" dirty="0"/>
              <a:t>【2】</a:t>
            </a:r>
            <a:r>
              <a:rPr lang="zh-CN" altLang="en-US" dirty="0"/>
              <a:t>修改</a:t>
            </a:r>
            <a:r>
              <a:rPr lang="en-US" altLang="zh-CN" dirty="0"/>
              <a:t>docker-compose</a:t>
            </a:r>
            <a:r>
              <a:rPr lang="zh-CN" altLang="en-US" dirty="0"/>
              <a:t>的配置文件</a:t>
            </a:r>
            <a:r>
              <a:rPr lang="en-US" altLang="zh-CN" dirty="0"/>
              <a:t>docker-</a:t>
            </a:r>
            <a:r>
              <a:rPr lang="en-US" altLang="zh-CN" dirty="0" err="1"/>
              <a:t>compose.yml</a:t>
            </a:r>
            <a:r>
              <a:rPr lang="zh-CN" altLang="en-US" dirty="0"/>
              <a:t>变为自己当前的环境配置参数</a:t>
            </a:r>
            <a:endParaRPr lang="en-US" altLang="zh-CN" dirty="0"/>
          </a:p>
          <a:p>
            <a:r>
              <a:rPr lang="en-US" altLang="zh-CN" dirty="0"/>
              <a:t>【3】</a:t>
            </a:r>
            <a:r>
              <a:rPr lang="zh-CN" altLang="en-US" dirty="0"/>
              <a:t>将</a:t>
            </a:r>
            <a:r>
              <a:rPr lang="en-US" altLang="zh-CN" dirty="0"/>
              <a:t>docker-compose</a:t>
            </a:r>
            <a:r>
              <a:rPr lang="zh-CN" altLang="en-US" dirty="0"/>
              <a:t>目录上传到虚拟机中的</a:t>
            </a:r>
            <a:r>
              <a:rPr lang="en-US" altLang="zh-CN" dirty="0"/>
              <a:t>/</a:t>
            </a:r>
            <a:r>
              <a:rPr lang="en-US" altLang="zh-CN" dirty="0" err="1"/>
              <a:t>tmp</a:t>
            </a:r>
            <a:r>
              <a:rPr lang="zh-CN" altLang="en-US" dirty="0"/>
              <a:t>目录下面</a:t>
            </a:r>
            <a:endParaRPr lang="en-US" altLang="zh-CN" dirty="0"/>
          </a:p>
          <a:p>
            <a:r>
              <a:rPr lang="en-US" altLang="zh-CN" dirty="0"/>
              <a:t>【4】</a:t>
            </a:r>
            <a:r>
              <a:rPr lang="zh-CN" altLang="en-US" dirty="0"/>
              <a:t>切换到</a:t>
            </a:r>
            <a:r>
              <a:rPr lang="en-US" altLang="zh-CN" dirty="0"/>
              <a:t>docker-compose</a:t>
            </a:r>
            <a:r>
              <a:rPr lang="zh-CN" altLang="en-US" dirty="0"/>
              <a:t>目录下即</a:t>
            </a:r>
            <a:r>
              <a:rPr lang="en-US" altLang="zh-CN" dirty="0"/>
              <a:t>docker-</a:t>
            </a:r>
            <a:r>
              <a:rPr lang="en-US" altLang="zh-CN" dirty="0" err="1"/>
              <a:t>compose.yml</a:t>
            </a:r>
            <a:r>
              <a:rPr lang="zh-CN" altLang="en-US" dirty="0"/>
              <a:t>文件所在位置</a:t>
            </a:r>
            <a:endParaRPr lang="en-US" altLang="zh-CN" dirty="0"/>
          </a:p>
          <a:p>
            <a:r>
              <a:rPr lang="en-US" altLang="zh-CN" dirty="0"/>
              <a:t>【5】</a:t>
            </a:r>
            <a:r>
              <a:rPr lang="zh-CN" altLang="en-US" dirty="0"/>
              <a:t>查看之前启动的容器并全部删除</a:t>
            </a:r>
            <a:endParaRPr lang="en-US" altLang="zh-CN" dirty="0"/>
          </a:p>
          <a:p>
            <a:r>
              <a:rPr lang="en-US" altLang="zh-CN" dirty="0"/>
              <a:t>【6】</a:t>
            </a:r>
            <a:r>
              <a:rPr lang="zh-CN" altLang="en-US" dirty="0"/>
              <a:t>停止</a:t>
            </a:r>
            <a:r>
              <a:rPr lang="en-US" altLang="zh-CN" dirty="0" err="1"/>
              <a:t>mysql</a:t>
            </a:r>
            <a:r>
              <a:rPr lang="zh-CN" altLang="en-US" dirty="0"/>
              <a:t>服务</a:t>
            </a:r>
            <a:endParaRPr lang="en-US" altLang="zh-CN" dirty="0"/>
          </a:p>
          <a:p>
            <a:r>
              <a:rPr lang="en-US" altLang="zh-CN" dirty="0"/>
              <a:t>【7】</a:t>
            </a:r>
            <a:r>
              <a:rPr lang="zh-CN" altLang="en-US" dirty="0"/>
              <a:t>执行命令 </a:t>
            </a:r>
            <a:r>
              <a:rPr lang="en-US" altLang="zh-CN" dirty="0"/>
              <a:t>docker-compose up -d </a:t>
            </a:r>
            <a:r>
              <a:rPr lang="zh-CN" altLang="en-US" dirty="0"/>
              <a:t>批量构建容器，并启动</a:t>
            </a:r>
            <a:endParaRPr lang="en-US" altLang="zh-CN" dirty="0"/>
          </a:p>
          <a:p>
            <a:r>
              <a:rPr lang="en-US" altLang="zh-CN" dirty="0"/>
              <a:t>【8】</a:t>
            </a:r>
            <a:r>
              <a:rPr lang="zh-CN" altLang="en-US" dirty="0"/>
              <a:t>使用浏览器访问项目</a:t>
            </a:r>
            <a:endParaRPr lang="en-US" altLang="zh-CN" dirty="0"/>
          </a:p>
          <a:p>
            <a:r>
              <a:rPr lang="en-US" altLang="zh-CN" dirty="0"/>
              <a:t>【9】</a:t>
            </a:r>
            <a:r>
              <a:rPr lang="zh-CN" altLang="en-US" dirty="0"/>
              <a:t>使用</a:t>
            </a:r>
            <a:r>
              <a:rPr lang="en-US" altLang="zh-CN" dirty="0" err="1"/>
              <a:t>mysql</a:t>
            </a:r>
            <a:r>
              <a:rPr lang="zh-CN" altLang="en-US" dirty="0"/>
              <a:t>客户端</a:t>
            </a:r>
            <a:r>
              <a:rPr lang="en-US" altLang="zh-CN" dirty="0" err="1"/>
              <a:t>datagrip</a:t>
            </a:r>
            <a:r>
              <a:rPr lang="zh-CN" altLang="en-US" dirty="0"/>
              <a:t>访问</a:t>
            </a:r>
            <a:r>
              <a:rPr lang="en-US" altLang="zh-CN" dirty="0" err="1"/>
              <a:t>mysql</a:t>
            </a:r>
            <a:r>
              <a:rPr lang="zh-CN" altLang="en-US" dirty="0"/>
              <a:t>服务</a:t>
            </a:r>
            <a:endParaRPr lang="en-US" altLang="zh-CN" dirty="0"/>
          </a:p>
        </p:txBody>
      </p:sp>
    </p:spTree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Docker</a:t>
            </a:r>
            <a:r>
              <a:rPr lang="zh-CN" altLang="en-US"/>
              <a:t>镜像仓库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/>
              <a:t>搭建私有镜像仓库</a:t>
            </a:r>
            <a:endParaRPr lang="en-US" altLang="zh-CN"/>
          </a:p>
          <a:p>
            <a:r>
              <a:rPr lang="zh-CN" altLang="en-US"/>
              <a:t>向镜像仓库推送镜像</a:t>
            </a:r>
            <a:endParaRPr lang="en-US" altLang="zh-CN"/>
          </a:p>
          <a:p>
            <a:r>
              <a:rPr lang="zh-CN" altLang="en-US"/>
              <a:t>从镜像仓库拉取镜像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镜像仓库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常见镜像仓库服务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rgbClr val="111111"/>
                </a:solidFill>
              </a:rPr>
              <a:t>我们之前学习了一些镜像，例如第三方的镜像</a:t>
            </a:r>
            <a:r>
              <a:rPr lang="en-US" altLang="zh-CN" b="0" dirty="0" err="1">
                <a:solidFill>
                  <a:srgbClr val="111111"/>
                </a:solidFill>
              </a:rPr>
              <a:t>mysql</a:t>
            </a:r>
            <a:r>
              <a:rPr lang="en-US" altLang="zh-CN" b="0" dirty="0">
                <a:solidFill>
                  <a:srgbClr val="111111"/>
                </a:solidFill>
              </a:rPr>
              <a:t> </a:t>
            </a:r>
            <a:r>
              <a:rPr lang="en-US" altLang="zh-CN" b="0" dirty="0" err="1">
                <a:solidFill>
                  <a:srgbClr val="111111"/>
                </a:solidFill>
              </a:rPr>
              <a:t>reids</a:t>
            </a:r>
            <a:r>
              <a:rPr lang="zh-CN" altLang="en-US" b="0" dirty="0">
                <a:solidFill>
                  <a:srgbClr val="111111"/>
                </a:solidFill>
              </a:rPr>
              <a:t>等，也有我们自己创建的镜像。那么这些镜像都需要管理和保存，管理和保存镜像的地方就叫镜像仓库（ </a:t>
            </a:r>
            <a:r>
              <a:rPr lang="en-US" altLang="zh-CN" b="0" dirty="0">
                <a:solidFill>
                  <a:srgbClr val="111111"/>
                </a:solidFill>
              </a:rPr>
              <a:t>Docker Registry </a:t>
            </a:r>
            <a:r>
              <a:rPr lang="zh-CN" altLang="en-US" b="0" dirty="0">
                <a:solidFill>
                  <a:srgbClr val="111111"/>
                </a:solidFill>
              </a:rPr>
              <a:t>）。有公共的和私有的两种形式：</a:t>
            </a:r>
            <a:endParaRPr lang="en-US" altLang="zh-CN" b="0" dirty="0">
              <a:solidFill>
                <a:srgbClr val="11111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rgbClr val="111111"/>
                </a:solidFill>
              </a:rPr>
              <a:t>公共仓库：</a:t>
            </a:r>
            <a:r>
              <a:rPr lang="zh-CN" altLang="en-US" dirty="0">
                <a:solidFill>
                  <a:srgbClr val="111111"/>
                </a:solidFill>
              </a:rPr>
              <a:t>例如</a:t>
            </a:r>
            <a:r>
              <a:rPr lang="en-US" altLang="zh-CN" dirty="0">
                <a:solidFill>
                  <a:srgbClr val="111111"/>
                </a:solidFill>
              </a:rPr>
              <a:t>Docker</a:t>
            </a:r>
            <a:r>
              <a:rPr lang="zh-CN" altLang="en-US" b="0" dirty="0">
                <a:solidFill>
                  <a:srgbClr val="111111"/>
                </a:solidFill>
              </a:rPr>
              <a:t>官方的 </a:t>
            </a:r>
            <a:r>
              <a:rPr lang="en-US" altLang="zh-CN" b="0" dirty="0">
                <a:solidFill>
                  <a:srgbClr val="111111"/>
                </a:solidFill>
                <a:hlinkClick r:id="rId2"/>
              </a:rPr>
              <a:t>Docker Hub</a:t>
            </a:r>
            <a:r>
              <a:rPr lang="zh-CN" altLang="en-US" b="0" dirty="0">
                <a:solidFill>
                  <a:srgbClr val="111111"/>
                </a:solidFill>
              </a:rPr>
              <a:t>，国内也有一些云服务商提供类似于 </a:t>
            </a:r>
            <a:r>
              <a:rPr lang="en-US" altLang="zh-CN" b="0" dirty="0">
                <a:solidFill>
                  <a:srgbClr val="111111"/>
                </a:solidFill>
              </a:rPr>
              <a:t>Docker Hub </a:t>
            </a:r>
            <a:r>
              <a:rPr lang="zh-CN" altLang="en-US" b="0" dirty="0">
                <a:solidFill>
                  <a:srgbClr val="111111"/>
                </a:solidFill>
              </a:rPr>
              <a:t>的公开服务</a:t>
            </a:r>
            <a:r>
              <a:rPr lang="zh-CN" altLang="en-US" dirty="0">
                <a:solidFill>
                  <a:srgbClr val="111111"/>
                </a:solidFill>
              </a:rPr>
              <a:t>，</a:t>
            </a:r>
            <a:r>
              <a:rPr lang="zh-CN" altLang="en-US" b="0" dirty="0">
                <a:solidFill>
                  <a:srgbClr val="111111"/>
                </a:solidFill>
              </a:rPr>
              <a:t>比如 </a:t>
            </a:r>
            <a:r>
              <a:rPr lang="zh-CN" altLang="en-US" b="0" dirty="0">
                <a:solidFill>
                  <a:srgbClr val="111111"/>
                </a:solidFill>
                <a:hlinkClick r:id="rId3"/>
              </a:rPr>
              <a:t>网易云镜像服务</a:t>
            </a:r>
            <a:r>
              <a:rPr lang="zh-CN" altLang="en-US" b="0" dirty="0">
                <a:solidFill>
                  <a:srgbClr val="111111"/>
                </a:solidFill>
              </a:rPr>
              <a:t>、</a:t>
            </a:r>
            <a:r>
              <a:rPr lang="en-US" altLang="zh-CN" dirty="0" err="1">
                <a:solidFill>
                  <a:srgbClr val="111111"/>
                </a:solidFill>
                <a:hlinkClick r:id="rId4"/>
              </a:rPr>
              <a:t>DaoCloud</a:t>
            </a:r>
            <a:r>
              <a:rPr lang="en-US" altLang="zh-CN" dirty="0">
                <a:solidFill>
                  <a:srgbClr val="111111"/>
                </a:solidFill>
                <a:hlinkClick r:id="rId4"/>
              </a:rPr>
              <a:t> </a:t>
            </a:r>
            <a:r>
              <a:rPr lang="zh-CN" altLang="en-US" dirty="0">
                <a:solidFill>
                  <a:srgbClr val="111111"/>
                </a:solidFill>
                <a:hlinkClick r:id="rId4"/>
              </a:rPr>
              <a:t>镜像服务</a:t>
            </a:r>
            <a:r>
              <a:rPr lang="zh-CN" altLang="en-US" b="0" dirty="0">
                <a:solidFill>
                  <a:srgbClr val="111111"/>
                </a:solidFill>
              </a:rPr>
              <a:t>、</a:t>
            </a:r>
            <a:r>
              <a:rPr lang="zh-CN" altLang="en-US" dirty="0">
                <a:solidFill>
                  <a:srgbClr val="111111"/>
                </a:solidFill>
                <a:hlinkClick r:id="rId5"/>
              </a:rPr>
              <a:t>阿里云镜像服务</a:t>
            </a:r>
            <a:r>
              <a:rPr lang="zh-CN" altLang="en-US" b="0" dirty="0">
                <a:solidFill>
                  <a:srgbClr val="111111"/>
                </a:solidFill>
              </a:rPr>
              <a:t>等。</a:t>
            </a:r>
            <a:endParaRPr lang="en-US" altLang="zh-CN" b="0" dirty="0">
              <a:solidFill>
                <a:srgbClr val="11111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111111"/>
                </a:solidFill>
              </a:rPr>
              <a:t>私有仓库：除了使用公开仓库外，用户还可以在本地搭建私有 </a:t>
            </a:r>
            <a:r>
              <a:rPr lang="en-US" altLang="zh-CN" dirty="0">
                <a:solidFill>
                  <a:srgbClr val="111111"/>
                </a:solidFill>
              </a:rPr>
              <a:t>Docker Registry</a:t>
            </a:r>
            <a:r>
              <a:rPr lang="zh-CN" altLang="en-US" dirty="0">
                <a:solidFill>
                  <a:srgbClr val="111111"/>
                </a:solidFill>
              </a:rPr>
              <a:t>。企业自己的镜像最好是采用私有</a:t>
            </a:r>
            <a:r>
              <a:rPr lang="en-US" altLang="zh-CN" dirty="0">
                <a:solidFill>
                  <a:srgbClr val="111111"/>
                </a:solidFill>
              </a:rPr>
              <a:t>Docker Registry</a:t>
            </a:r>
            <a:r>
              <a:rPr lang="zh-CN" altLang="en-US">
                <a:solidFill>
                  <a:srgbClr val="111111"/>
                </a:solidFill>
              </a:rPr>
              <a:t>来实现。实际开发中我们一般都是自己搭建镜像仓库，因为将企业的项目的镜像上传到公共仓库不安全。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镜像仓库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私有镜像仓库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搭建方式参考课前资料中的文档：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31425" y="2357521"/>
          <a:ext cx="2255375" cy="719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2019300" imgH="638175" progId="Package">
                  <p:embed/>
                </p:oleObj>
              </mc:Choice>
              <mc:Fallback>
                <p:oleObj name="包装程序外壳对象" showAsIcon="1" r:id="rId2" imgW="2019300" imgH="638175" progId="Package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31425" y="2357521"/>
                        <a:ext cx="2255375" cy="719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Docker</a:t>
            </a:r>
            <a:r>
              <a:rPr lang="zh-CN" altLang="en-US"/>
              <a:t>镜像仓库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在私有镜像仓库推送或拉取镜像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0698800" cy="479276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推送镜像到私有镜像服务必须先</a:t>
            </a:r>
            <a:r>
              <a:rPr lang="en-US" altLang="zh-CN"/>
              <a:t>tag</a:t>
            </a:r>
            <a:r>
              <a:rPr lang="zh-CN" altLang="en-US"/>
              <a:t>，步骤如下：</a:t>
            </a: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重新</a:t>
            </a:r>
            <a:r>
              <a:rPr lang="en-US" altLang="zh-CN"/>
              <a:t>tag</a:t>
            </a:r>
            <a:r>
              <a:rPr lang="zh-CN" altLang="en-US"/>
              <a:t>本地镜像，名称前缀为私有仓库的地址：</a:t>
            </a:r>
            <a:r>
              <a:rPr lang="en-US" altLang="zh-CN"/>
              <a:t>192.168.200.128:5000/</a:t>
            </a:r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推送镜像</a:t>
            </a: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endParaRPr lang="en-US" altLang="zh-CN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拉取镜像</a:t>
            </a:r>
            <a:endParaRPr lang="en-US" altLang="zh-CN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147766" y="2398466"/>
            <a:ext cx="10261914" cy="370840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tag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nginx:latest 192.168.200.128:5000/nginx:1.0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147766" y="3618568"/>
            <a:ext cx="10261914" cy="370840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push 192.168.200.128:5000/nginx:1.0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147766" y="4671287"/>
            <a:ext cx="10261914" cy="370840"/>
          </a:xfrm>
          <a:prstGeom prst="rect">
            <a:avLst/>
          </a:prstGeom>
          <a:solidFill>
            <a:srgbClr val="F0F7E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docker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pull 192.168.200.128:5000/nginx:1.0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zh-CN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推送本地镜像到仓库前都必须重命名</a:t>
            </a:r>
            <a:r>
              <a:rPr lang="en-US" altLang="zh-CN"/>
              <a:t>(docker tag)</a:t>
            </a:r>
            <a:r>
              <a:rPr lang="zh-CN" altLang="en-US"/>
              <a:t>镜像，以镜像仓库地址为前缀</a:t>
            </a:r>
            <a:endParaRPr lang="en-US" altLang="zh-CN"/>
          </a:p>
          <a:p>
            <a:r>
              <a:rPr lang="zh-CN" altLang="en-US"/>
              <a:t>镜像仓库推送前需要把仓库地址配置到</a:t>
            </a:r>
            <a:r>
              <a:rPr lang="en-US" altLang="zh-CN"/>
              <a:t>docker</a:t>
            </a:r>
            <a:r>
              <a:rPr lang="zh-CN" altLang="en-US"/>
              <a:t>服务的</a:t>
            </a:r>
            <a:r>
              <a:rPr lang="en-US" altLang="zh-CN"/>
              <a:t>daemon.json</a:t>
            </a:r>
            <a:r>
              <a:rPr lang="zh-CN" altLang="en-US"/>
              <a:t>文件中，被</a:t>
            </a:r>
            <a:r>
              <a:rPr lang="en-US" altLang="zh-CN"/>
              <a:t>docker</a:t>
            </a:r>
            <a:r>
              <a:rPr lang="zh-CN" altLang="en-US"/>
              <a:t>信任</a:t>
            </a:r>
            <a:endParaRPr lang="en-US" altLang="zh-CN"/>
          </a:p>
          <a:p>
            <a:r>
              <a:rPr lang="zh-CN" altLang="en-US"/>
              <a:t>推送使用</a:t>
            </a:r>
            <a:r>
              <a:rPr lang="en-US" altLang="zh-CN"/>
              <a:t>docker push</a:t>
            </a:r>
            <a:r>
              <a:rPr lang="zh-CN" altLang="en-US"/>
              <a:t>命令</a:t>
            </a:r>
            <a:endParaRPr lang="en-US" altLang="zh-CN"/>
          </a:p>
          <a:p>
            <a:r>
              <a:rPr lang="zh-CN" altLang="en-US"/>
              <a:t>拉取使用</a:t>
            </a:r>
            <a:r>
              <a:rPr lang="en-US" altLang="zh-CN"/>
              <a:t>docker pull</a:t>
            </a:r>
            <a:r>
              <a:rPr lang="zh-CN" altLang="en-US"/>
              <a:t>命令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镜像服务器</a:t>
            </a:r>
          </a:p>
        </p:txBody>
      </p:sp>
    </p:spTree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e13ab3e6-ea3f-41bf-8231-cb1db946fce4&quot;,&quot;Name&quot;:null,&quot;Kind&quot;:&quot;Custom&quot;,&quot;OldGuidesSetting&quot;:{&quot;HeaderHeight&quot;:15.0,&quot;FooterHeight&quot;:9.0,&quot;SideMargin&quot;:5.5,&quot;TopMargin&quot;:0.0,&quot;BottomMargin&quot;:0.0,&quot;IntervalMargin&quot;:1.5}}"/>
  <p:tag name="COMMONDATA" val="eyJoZGlkIjoiZTY1N2IxMzM5Yzk3OWQwODEyNWQzOThmMWU1MzM2Z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337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JetBrains Mono Medium"/>
        <a:ea typeface="阿里巴巴普惠体 Heavy"/>
        <a:cs typeface=""/>
      </a:majorFont>
      <a:minorFont>
        <a:latin typeface="JetBrains Mon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编程学科双元产品模板</Template>
  <TotalTime>3151</TotalTime>
  <Words>4867</Words>
  <Application>Microsoft Office PowerPoint</Application>
  <PresentationFormat>宽屏</PresentationFormat>
  <Paragraphs>775</Paragraphs>
  <Slides>68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2" baseType="lpstr">
      <vt:lpstr>Alibaba PuHuiTi B</vt:lpstr>
      <vt:lpstr>Alibaba PuHuiTi M</vt:lpstr>
      <vt:lpstr>Alibaba PuHuiTi R</vt:lpstr>
      <vt:lpstr>JetBrains Mono</vt:lpstr>
      <vt:lpstr>阿里巴巴普惠体</vt:lpstr>
      <vt:lpstr>阿里巴巴普惠体 Medium</vt:lpstr>
      <vt:lpstr>等线</vt:lpstr>
      <vt:lpstr>黑体</vt:lpstr>
      <vt:lpstr>Arial</vt:lpstr>
      <vt:lpstr>Calibri</vt:lpstr>
      <vt:lpstr>Consolas</vt:lpstr>
      <vt:lpstr>Courier New</vt:lpstr>
      <vt:lpstr>Georgia Pro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包装程序外壳对象</vt:lpstr>
      <vt:lpstr>Docker</vt:lpstr>
      <vt:lpstr>PowerPoint 演示文稿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初识Docker</vt:lpstr>
      <vt:lpstr>认识Docker</vt:lpstr>
      <vt:lpstr>Docker基本操作</vt:lpstr>
      <vt:lpstr>Docker基本操作</vt:lpstr>
      <vt:lpstr>Docker基本操作</vt:lpstr>
      <vt:lpstr>Docker基本操作-镜像</vt:lpstr>
      <vt:lpstr>Docker基本操作-镜像</vt:lpstr>
      <vt:lpstr>Docker基本操作-镜像</vt:lpstr>
      <vt:lpstr>Docker基本操作-镜像操作</vt:lpstr>
      <vt:lpstr>Docker基本操作</vt:lpstr>
      <vt:lpstr>Docker基本操作-容器</vt:lpstr>
      <vt:lpstr>Docker基本操作-容器</vt:lpstr>
      <vt:lpstr>Docker基本操作-容器</vt:lpstr>
      <vt:lpstr>Docker基本操作-容器</vt:lpstr>
      <vt:lpstr>Docker基本操作-容器</vt:lpstr>
      <vt:lpstr>Docker基本操作-容器</vt:lpstr>
      <vt:lpstr>Docker基本操作-容器</vt:lpstr>
      <vt:lpstr>Docker基本操作</vt:lpstr>
      <vt:lpstr>Docker基本操作</vt:lpstr>
      <vt:lpstr>Docker基本操作</vt:lpstr>
      <vt:lpstr>Docker基本操作-数据卷</vt:lpstr>
      <vt:lpstr>Docker基本操作-数据卷</vt:lpstr>
      <vt:lpstr>Docker基本操作</vt:lpstr>
      <vt:lpstr>Docker基本操作-数据卷</vt:lpstr>
      <vt:lpstr>Docker基本操作-数据卷</vt:lpstr>
      <vt:lpstr>Docker基本操作-数据卷</vt:lpstr>
      <vt:lpstr>Docker基本操作-数据卷</vt:lpstr>
      <vt:lpstr>Docker基本操作-数据卷</vt:lpstr>
      <vt:lpstr>数据卷管理</vt:lpstr>
      <vt:lpstr>Dockerfile自定义镜像</vt:lpstr>
      <vt:lpstr>自定义镜像</vt:lpstr>
      <vt:lpstr>自定义镜像</vt:lpstr>
      <vt:lpstr>自定义镜像-镜像结构</vt:lpstr>
      <vt:lpstr>自定义镜像</vt:lpstr>
      <vt:lpstr>自定义镜像-Dockerfile</vt:lpstr>
      <vt:lpstr>自定义镜像-Dockerfile</vt:lpstr>
      <vt:lpstr>自定义镜像-Dockerfile</vt:lpstr>
      <vt:lpstr>自定义镜像-Dockerfile</vt:lpstr>
      <vt:lpstr>DockerCompose</vt:lpstr>
      <vt:lpstr>DockerCompose</vt:lpstr>
      <vt:lpstr>DockerCompose</vt:lpstr>
      <vt:lpstr>DockerCompose</vt:lpstr>
      <vt:lpstr>DockerCompose</vt:lpstr>
      <vt:lpstr>DockerCompose-部署服务应用</vt:lpstr>
      <vt:lpstr>Docker镜像仓库</vt:lpstr>
      <vt:lpstr>Docker镜像仓库</vt:lpstr>
      <vt:lpstr>Docker镜像仓库</vt:lpstr>
      <vt:lpstr>Docker镜像仓库</vt:lpstr>
      <vt:lpstr>镜像服务器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输入标题</dc:title>
  <dc:creator>huyi zhang</dc:creator>
  <cp:lastModifiedBy>田 锁</cp:lastModifiedBy>
  <cp:revision>1613</cp:revision>
  <dcterms:created xsi:type="dcterms:W3CDTF">2021-01-12T09:51:00Z</dcterms:created>
  <dcterms:modified xsi:type="dcterms:W3CDTF">2023-01-04T15:58:03Z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38D16EB07DF240B3B4CEA94E8E06547B</vt:lpwstr>
  </property>
  <property fmtid="{D5CDD505-2E9C-101B-9397-08002B2CF9AE}" pid="3" name="KSOProductBuildVer">
    <vt:lpwstr>2052-11.1.0.11830</vt:lpwstr>
  </property>
</Properties>
</file>